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5.png"/><Relationship Id="rId5" Type="http://schemas.openxmlformats.org/officeDocument/2006/relationships/image" Target="../media/image11.png"/><Relationship Id="rId6"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7F6"/>
        </a:solidFill>
        <a:effectLst/>
      </p:bgPr>
    </p:bg>
    <p:spTree>
      <p:nvGrpSpPr>
        <p:cNvPr id="1" name=""/>
        <p:cNvGrpSpPr/>
        <p:nvPr/>
      </p:nvGrpSpPr>
      <p:grpSpPr/>
      <p:sp>
        <p:nvSpPr>
          <p:cNvPr id="2" name="Oval 1"/>
          <p:cNvSpPr/>
          <p:nvPr/>
        </p:nvSpPr>
        <p:spPr>
          <a:xfrm>
            <a:off x="6453251" y="-316992"/>
            <a:ext cx="4156329" cy="5793994"/>
          </a:xfrm>
          <a:prstGeom prst="ellipse">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19556" y="4017517"/>
            <a:ext cx="3718814" cy="1639824"/>
          </a:xfrm>
          <a:prstGeom prst="ellipse">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3390773" y="-852678"/>
            <a:ext cx="2351659" cy="1967738"/>
          </a:xfrm>
          <a:prstGeom prst="ellipse">
            <a:avLst/>
          </a:prstGeom>
          <a:solidFill>
            <a:srgbClr val="FFC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5670" y="1246251"/>
            <a:ext cx="3937635" cy="273304"/>
          </a:xfrm>
          <a:prstGeom prst="rect">
            <a:avLst/>
          </a:prstGeom>
          <a:noFill/>
        </p:spPr>
        <p:txBody>
          <a:bodyPr wrap="none" lIns="12700" rIns="12700" tIns="12700" bIns="12700" anchor="t">
            <a:spAutoFit/>
          </a:bodyPr>
          <a:lstStyle/>
          <a:p>
            <a:pPr algn="l"/>
            <a:r>
              <a:rPr sz="1300" b="1">
                <a:solidFill>
                  <a:srgbClr val="101214"/>
                </a:solidFill>
                <a:latin typeface="Yu Gothic"/>
              </a:rPr>
              <a:t>株式会社三幸 御中</a:t>
            </a:r>
          </a:p>
        </p:txBody>
      </p:sp>
      <p:sp>
        <p:nvSpPr>
          <p:cNvPr id="6" name="TextBox 5"/>
          <p:cNvSpPr txBox="1"/>
          <p:nvPr/>
        </p:nvSpPr>
        <p:spPr>
          <a:xfrm>
            <a:off x="415670" y="1913127"/>
            <a:ext cx="5687695" cy="983869"/>
          </a:xfrm>
          <a:prstGeom prst="rect">
            <a:avLst/>
          </a:prstGeom>
          <a:noFill/>
        </p:spPr>
        <p:txBody>
          <a:bodyPr wrap="none" lIns="12700" rIns="12700" tIns="12700" bIns="12700" anchor="t">
            <a:spAutoFit/>
          </a:bodyPr>
          <a:lstStyle/>
          <a:p>
            <a:pPr algn="l"/>
            <a:r>
              <a:rPr sz="2400" b="1">
                <a:solidFill>
                  <a:srgbClr val="101214"/>
                </a:solidFill>
                <a:latin typeface="Yu Gothic"/>
              </a:rPr>
              <a:t>日常業務の効率化と将来的な展望を見据えた基幹管理システムのご提案</a:t>
            </a:r>
          </a:p>
        </p:txBody>
      </p:sp>
      <p:sp>
        <p:nvSpPr>
          <p:cNvPr id="7" name="TextBox 6"/>
          <p:cNvSpPr txBox="1"/>
          <p:nvPr/>
        </p:nvSpPr>
        <p:spPr>
          <a:xfrm>
            <a:off x="415670" y="3454527"/>
            <a:ext cx="1968754" cy="240538"/>
          </a:xfrm>
          <a:prstGeom prst="rect">
            <a:avLst/>
          </a:prstGeom>
          <a:noFill/>
        </p:spPr>
        <p:txBody>
          <a:bodyPr wrap="none" lIns="12700" rIns="12700" tIns="12700" bIns="12700" anchor="t">
            <a:spAutoFit/>
          </a:bodyPr>
          <a:lstStyle/>
          <a:p>
            <a:pPr algn="l"/>
            <a:r>
              <a:rPr sz="1300" b="0">
                <a:solidFill>
                  <a:srgbClr val="101214"/>
                </a:solidFill>
                <a:latin typeface="Yu Gothic"/>
              </a:rPr>
              <a:t>2026年04月27日</a:t>
            </a:r>
          </a:p>
        </p:txBody>
      </p:sp>
      <p:pic>
        <p:nvPicPr>
          <p:cNvPr id="8" name="Picture 7" descr="fieldx_logo_full.png"/>
          <p:cNvPicPr>
            <a:picLocks noChangeAspect="1"/>
          </p:cNvPicPr>
          <p:nvPr/>
        </p:nvPicPr>
        <p:blipFill>
          <a:blip r:embed="rId2"/>
          <a:stretch>
            <a:fillRect/>
          </a:stretch>
        </p:blipFill>
        <p:spPr>
          <a:xfrm>
            <a:off x="3828288" y="4208780"/>
            <a:ext cx="1804797" cy="437261"/>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7F6"/>
        </a:solidFill>
        <a:effectLst/>
      </p:bgPr>
    </p:bg>
    <p:spTree>
      <p:nvGrpSpPr>
        <p:cNvPr id="1" name=""/>
        <p:cNvGrpSpPr/>
        <p:nvPr/>
      </p:nvGrpSpPr>
      <p:grpSpPr/>
      <p:sp>
        <p:nvSpPr>
          <p:cNvPr id="2" name="Rectangle 1"/>
          <p:cNvSpPr/>
          <p:nvPr/>
        </p:nvSpPr>
        <p:spPr>
          <a:xfrm>
            <a:off x="0" y="0"/>
            <a:ext cx="9144000" cy="98425"/>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028305" y="-229615"/>
            <a:ext cx="1914144" cy="2295779"/>
          </a:xfrm>
          <a:prstGeom prst="ellipse">
            <a:avLst/>
          </a:prstGeom>
          <a:solidFill>
            <a:srgbClr val="FFD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54761" y="4154170"/>
            <a:ext cx="2570353" cy="1694433"/>
          </a:xfrm>
          <a:prstGeom prst="ellipse">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5018" y="612140"/>
            <a:ext cx="1750060" cy="229615"/>
          </a:xfrm>
          <a:prstGeom prst="rect">
            <a:avLst/>
          </a:prstGeom>
          <a:noFill/>
        </p:spPr>
        <p:txBody>
          <a:bodyPr wrap="none" lIns="12700" rIns="12700" tIns="12700" bIns="12700" anchor="t">
            <a:spAutoFit/>
          </a:bodyPr>
          <a:lstStyle/>
          <a:p>
            <a:pPr algn="l"/>
            <a:r>
              <a:rPr sz="1300" b="1">
                <a:solidFill>
                  <a:srgbClr val="F80612"/>
                </a:solidFill>
                <a:latin typeface="Yu Gothic"/>
              </a:rPr>
              <a:t>Contents</a:t>
            </a:r>
          </a:p>
        </p:txBody>
      </p:sp>
      <p:sp>
        <p:nvSpPr>
          <p:cNvPr id="6" name="TextBox 5"/>
          <p:cNvSpPr txBox="1"/>
          <p:nvPr/>
        </p:nvSpPr>
        <p:spPr>
          <a:xfrm>
            <a:off x="525018" y="874522"/>
            <a:ext cx="3281299" cy="437261"/>
          </a:xfrm>
          <a:prstGeom prst="rect">
            <a:avLst/>
          </a:prstGeom>
          <a:noFill/>
        </p:spPr>
        <p:txBody>
          <a:bodyPr wrap="none" lIns="12700" rIns="12700" tIns="12700" bIns="12700" anchor="t">
            <a:spAutoFit/>
          </a:bodyPr>
          <a:lstStyle/>
          <a:p>
            <a:pPr algn="l"/>
            <a:r>
              <a:rPr sz="3300" b="1">
                <a:solidFill>
                  <a:srgbClr val="101214"/>
                </a:solidFill>
                <a:latin typeface="Yu Gothic"/>
              </a:rPr>
              <a:t>目次</a:t>
            </a:r>
          </a:p>
        </p:txBody>
      </p:sp>
      <p:sp>
        <p:nvSpPr>
          <p:cNvPr id="7" name="Rounded Rectangle 6"/>
          <p:cNvSpPr/>
          <p:nvPr/>
        </p:nvSpPr>
        <p:spPr>
          <a:xfrm>
            <a:off x="754761" y="2104390"/>
            <a:ext cx="2143760" cy="2487041"/>
          </a:xfrm>
          <a:prstGeom prst="roundRect">
            <a:avLst/>
          </a:prstGeom>
          <a:solidFill>
            <a:srgbClr val="FFFFFF"/>
          </a:solidFill>
          <a:ln w="12700">
            <a:solidFill>
              <a:srgbClr val="D9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76629" y="2355850"/>
            <a:ext cx="700024" cy="699643"/>
          </a:xfrm>
          <a:prstGeom prst="ellipse">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76629" y="2476119"/>
            <a:ext cx="700024" cy="404495"/>
          </a:xfrm>
          <a:prstGeom prst="rect">
            <a:avLst/>
          </a:prstGeom>
          <a:noFill/>
        </p:spPr>
        <p:txBody>
          <a:bodyPr wrap="none" lIns="12700" rIns="12700" tIns="12700" bIns="12700" anchor="t">
            <a:spAutoFit/>
          </a:bodyPr>
          <a:lstStyle/>
          <a:p>
            <a:pPr algn="ctr"/>
            <a:r>
              <a:rPr sz="2600" b="1">
                <a:solidFill>
                  <a:srgbClr val="FFFFFF"/>
                </a:solidFill>
                <a:latin typeface="Yu Gothic"/>
              </a:rPr>
              <a:t>01</a:t>
            </a:r>
          </a:p>
        </p:txBody>
      </p:sp>
      <p:sp>
        <p:nvSpPr>
          <p:cNvPr id="10" name="Rectangle 9"/>
          <p:cNvSpPr/>
          <p:nvPr/>
        </p:nvSpPr>
        <p:spPr>
          <a:xfrm>
            <a:off x="973455" y="3241294"/>
            <a:ext cx="1706245" cy="16383"/>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2533" y="3465449"/>
            <a:ext cx="1728216" cy="426339"/>
          </a:xfrm>
          <a:prstGeom prst="rect">
            <a:avLst/>
          </a:prstGeom>
          <a:noFill/>
        </p:spPr>
        <p:txBody>
          <a:bodyPr wrap="none" lIns="12700" rIns="12700" tIns="12700" bIns="12700" anchor="t">
            <a:spAutoFit/>
          </a:bodyPr>
          <a:lstStyle/>
          <a:p>
            <a:pPr algn="ctr"/>
            <a:r>
              <a:rPr sz="1300" b="1">
                <a:solidFill>
                  <a:srgbClr val="101214"/>
                </a:solidFill>
                <a:latin typeface="Yu Gothic"/>
              </a:rPr>
              <a:t>今回のご提案につきまして</a:t>
            </a:r>
          </a:p>
        </p:txBody>
      </p:sp>
      <p:sp>
        <p:nvSpPr>
          <p:cNvPr id="12" name="TextBox 11"/>
          <p:cNvSpPr txBox="1"/>
          <p:nvPr/>
        </p:nvSpPr>
        <p:spPr>
          <a:xfrm>
            <a:off x="951611" y="4017517"/>
            <a:ext cx="1750060" cy="448183"/>
          </a:xfrm>
          <a:prstGeom prst="rect">
            <a:avLst/>
          </a:prstGeom>
          <a:noFill/>
        </p:spPr>
        <p:txBody>
          <a:bodyPr wrap="none" lIns="12700" rIns="12700" tIns="12700" bIns="12700" anchor="t">
            <a:spAutoFit/>
          </a:bodyPr>
          <a:lstStyle/>
          <a:p>
            <a:pPr algn="ctr"/>
            <a:r>
              <a:rPr sz="900" b="1">
                <a:solidFill>
                  <a:srgbClr val="2D3338"/>
                </a:solidFill>
                <a:latin typeface="Yu Gothic"/>
              </a:rPr>
              <a:t>本提案の全体像についてご説明します。</a:t>
            </a:r>
          </a:p>
        </p:txBody>
      </p:sp>
      <p:sp>
        <p:nvSpPr>
          <p:cNvPr id="13" name="Rounded Rectangle 12"/>
          <p:cNvSpPr/>
          <p:nvPr/>
        </p:nvSpPr>
        <p:spPr>
          <a:xfrm>
            <a:off x="3106293" y="2104390"/>
            <a:ext cx="2143760" cy="2487041"/>
          </a:xfrm>
          <a:prstGeom prst="roundRect">
            <a:avLst/>
          </a:prstGeom>
          <a:solidFill>
            <a:srgbClr val="FFFFFF"/>
          </a:solidFill>
          <a:ln w="12700">
            <a:solidFill>
              <a:srgbClr val="D9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828288" y="2355850"/>
            <a:ext cx="700024" cy="699643"/>
          </a:xfrm>
          <a:prstGeom prst="ellipse">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28288" y="2476119"/>
            <a:ext cx="700024" cy="404495"/>
          </a:xfrm>
          <a:prstGeom prst="rect">
            <a:avLst/>
          </a:prstGeom>
          <a:noFill/>
        </p:spPr>
        <p:txBody>
          <a:bodyPr wrap="none" lIns="12700" rIns="12700" tIns="12700" bIns="12700" anchor="t">
            <a:spAutoFit/>
          </a:bodyPr>
          <a:lstStyle/>
          <a:p>
            <a:pPr algn="ctr"/>
            <a:r>
              <a:rPr sz="2600" b="1">
                <a:solidFill>
                  <a:srgbClr val="FFFFFF"/>
                </a:solidFill>
                <a:latin typeface="Yu Gothic"/>
              </a:rPr>
              <a:t>02</a:t>
            </a:r>
          </a:p>
        </p:txBody>
      </p:sp>
      <p:sp>
        <p:nvSpPr>
          <p:cNvPr id="16" name="Rectangle 15"/>
          <p:cNvSpPr/>
          <p:nvPr/>
        </p:nvSpPr>
        <p:spPr>
          <a:xfrm>
            <a:off x="3325114" y="3241294"/>
            <a:ext cx="1706245" cy="16383"/>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14191" y="3465449"/>
            <a:ext cx="1728216" cy="426339"/>
          </a:xfrm>
          <a:prstGeom prst="rect">
            <a:avLst/>
          </a:prstGeom>
          <a:noFill/>
        </p:spPr>
        <p:txBody>
          <a:bodyPr wrap="none" lIns="12700" rIns="12700" tIns="12700" bIns="12700" anchor="t">
            <a:spAutoFit/>
          </a:bodyPr>
          <a:lstStyle/>
          <a:p>
            <a:pPr algn="ctr"/>
            <a:r>
              <a:rPr sz="1400" b="1">
                <a:solidFill>
                  <a:srgbClr val="101214"/>
                </a:solidFill>
                <a:latin typeface="Yu Gothic"/>
              </a:rPr>
              <a:t>デモ画面イメージ</a:t>
            </a:r>
          </a:p>
        </p:txBody>
      </p:sp>
      <p:sp>
        <p:nvSpPr>
          <p:cNvPr id="18" name="TextBox 17"/>
          <p:cNvSpPr txBox="1"/>
          <p:nvPr/>
        </p:nvSpPr>
        <p:spPr>
          <a:xfrm>
            <a:off x="3303270" y="4017517"/>
            <a:ext cx="1750060" cy="448183"/>
          </a:xfrm>
          <a:prstGeom prst="rect">
            <a:avLst/>
          </a:prstGeom>
          <a:noFill/>
        </p:spPr>
        <p:txBody>
          <a:bodyPr wrap="none" lIns="12700" rIns="12700" tIns="12700" bIns="12700" anchor="t">
            <a:spAutoFit/>
          </a:bodyPr>
          <a:lstStyle/>
          <a:p>
            <a:pPr algn="ctr"/>
            <a:r>
              <a:rPr sz="900" b="1">
                <a:solidFill>
                  <a:srgbClr val="2D3338"/>
                </a:solidFill>
                <a:latin typeface="Yu Gothic"/>
              </a:rPr>
              <a:t>基幹管理システムの主要機能について、画面イメージをもとにご紹介します。</a:t>
            </a:r>
          </a:p>
        </p:txBody>
      </p:sp>
      <p:sp>
        <p:nvSpPr>
          <p:cNvPr id="19" name="Rounded Rectangle 18"/>
          <p:cNvSpPr/>
          <p:nvPr/>
        </p:nvSpPr>
        <p:spPr>
          <a:xfrm>
            <a:off x="5457952" y="2104390"/>
            <a:ext cx="2143760" cy="2487041"/>
          </a:xfrm>
          <a:prstGeom prst="roundRect">
            <a:avLst/>
          </a:prstGeom>
          <a:solidFill>
            <a:srgbClr val="FFFFFF"/>
          </a:solidFill>
          <a:ln w="12700">
            <a:solidFill>
              <a:srgbClr val="D9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179820" y="2355850"/>
            <a:ext cx="700024" cy="699643"/>
          </a:xfrm>
          <a:prstGeom prst="ellipse">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9820" y="2476119"/>
            <a:ext cx="700024" cy="404495"/>
          </a:xfrm>
          <a:prstGeom prst="rect">
            <a:avLst/>
          </a:prstGeom>
          <a:noFill/>
        </p:spPr>
        <p:txBody>
          <a:bodyPr wrap="none" lIns="12700" rIns="12700" tIns="12700" bIns="12700" anchor="t">
            <a:spAutoFit/>
          </a:bodyPr>
          <a:lstStyle/>
          <a:p>
            <a:pPr algn="ctr"/>
            <a:r>
              <a:rPr sz="2600" b="1">
                <a:solidFill>
                  <a:srgbClr val="FFFFFF"/>
                </a:solidFill>
                <a:latin typeface="Yu Gothic"/>
              </a:rPr>
              <a:t>03</a:t>
            </a:r>
          </a:p>
        </p:txBody>
      </p:sp>
      <p:sp>
        <p:nvSpPr>
          <p:cNvPr id="22" name="Rectangle 21"/>
          <p:cNvSpPr/>
          <p:nvPr/>
        </p:nvSpPr>
        <p:spPr>
          <a:xfrm>
            <a:off x="5676773" y="3241294"/>
            <a:ext cx="1706245" cy="16383"/>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5724" y="3465449"/>
            <a:ext cx="1728216" cy="426339"/>
          </a:xfrm>
          <a:prstGeom prst="rect">
            <a:avLst/>
          </a:prstGeom>
          <a:noFill/>
        </p:spPr>
        <p:txBody>
          <a:bodyPr wrap="none" lIns="12700" rIns="12700" tIns="12700" bIns="12700" anchor="t">
            <a:spAutoFit/>
          </a:bodyPr>
          <a:lstStyle/>
          <a:p>
            <a:pPr algn="ctr"/>
            <a:r>
              <a:rPr sz="1400" b="1">
                <a:solidFill>
                  <a:srgbClr val="101214"/>
                </a:solidFill>
                <a:latin typeface="Yu Gothic"/>
              </a:rPr>
              <a:t>将来的な展望と今後の進め方</a:t>
            </a:r>
          </a:p>
        </p:txBody>
      </p:sp>
      <p:sp>
        <p:nvSpPr>
          <p:cNvPr id="24" name="TextBox 23"/>
          <p:cNvSpPr txBox="1"/>
          <p:nvPr/>
        </p:nvSpPr>
        <p:spPr>
          <a:xfrm>
            <a:off x="5654802" y="4017517"/>
            <a:ext cx="1750060" cy="448183"/>
          </a:xfrm>
          <a:prstGeom prst="rect">
            <a:avLst/>
          </a:prstGeom>
          <a:noFill/>
        </p:spPr>
        <p:txBody>
          <a:bodyPr wrap="none" lIns="12700" rIns="12700" tIns="12700" bIns="12700" anchor="t">
            <a:spAutoFit/>
          </a:bodyPr>
          <a:lstStyle/>
          <a:p>
            <a:pPr algn="ctr"/>
            <a:r>
              <a:rPr sz="900" b="1">
                <a:solidFill>
                  <a:srgbClr val="2D3338"/>
                </a:solidFill>
                <a:latin typeface="Yu Gothic"/>
              </a:rPr>
              <a:t>今後の機能拡張の方向性と導入までの進め方・スケジュールをご案内します。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0612"/>
        </a:solidFill>
        <a:effectLst/>
      </p:bgPr>
    </p:bg>
    <p:spTree>
      <p:nvGrpSpPr>
        <p:cNvPr id="1" name=""/>
        <p:cNvGrpSpPr/>
        <p:nvPr/>
      </p:nvGrpSpPr>
      <p:grpSpPr/>
      <p:sp>
        <p:nvSpPr>
          <p:cNvPr id="2" name="TextBox 1"/>
          <p:cNvSpPr txBox="1"/>
          <p:nvPr/>
        </p:nvSpPr>
        <p:spPr>
          <a:xfrm>
            <a:off x="1039113" y="1639824"/>
            <a:ext cx="1421892" cy="1038479"/>
          </a:xfrm>
          <a:prstGeom prst="rect">
            <a:avLst/>
          </a:prstGeom>
          <a:noFill/>
        </p:spPr>
        <p:txBody>
          <a:bodyPr wrap="none" lIns="12700" rIns="12700" tIns="12700" bIns="12700" anchor="t">
            <a:spAutoFit/>
          </a:bodyPr>
          <a:lstStyle/>
          <a:p>
            <a:pPr algn="l"/>
            <a:r>
              <a:rPr sz="10500" b="1">
                <a:solidFill>
                  <a:srgbClr val="FF9CA1"/>
                </a:solidFill>
                <a:latin typeface="Yu Gothic"/>
              </a:rPr>
              <a:t>01</a:t>
            </a:r>
          </a:p>
        </p:txBody>
      </p:sp>
      <p:sp>
        <p:nvSpPr>
          <p:cNvPr id="3" name="TextBox 2"/>
          <p:cNvSpPr txBox="1"/>
          <p:nvPr/>
        </p:nvSpPr>
        <p:spPr>
          <a:xfrm>
            <a:off x="2433701" y="2667381"/>
            <a:ext cx="5359527" cy="426339"/>
          </a:xfrm>
          <a:prstGeom prst="rect">
            <a:avLst/>
          </a:prstGeom>
          <a:noFill/>
        </p:spPr>
        <p:txBody>
          <a:bodyPr wrap="none" lIns="12700" rIns="12700" tIns="12700" bIns="12700" anchor="t">
            <a:spAutoFit/>
          </a:bodyPr>
          <a:lstStyle/>
          <a:p>
            <a:pPr algn="l"/>
            <a:r>
              <a:rPr sz="2700" b="1">
                <a:solidFill>
                  <a:srgbClr val="FFFFFF"/>
                </a:solidFill>
                <a:latin typeface="Yu Gothic"/>
              </a:rPr>
              <a:t>今回のご提案につきまして</a:t>
            </a:r>
          </a:p>
        </p:txBody>
      </p:sp>
      <p:sp>
        <p:nvSpPr>
          <p:cNvPr id="4" name="Rectangle 3"/>
          <p:cNvSpPr/>
          <p:nvPr/>
        </p:nvSpPr>
        <p:spPr>
          <a:xfrm>
            <a:off x="2433701" y="3192145"/>
            <a:ext cx="393700" cy="21844"/>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7F6"/>
        </a:solidFill>
        <a:effectLst/>
      </p:bgPr>
    </p:bg>
    <p:spTree>
      <p:nvGrpSpPr>
        <p:cNvPr id="1" name=""/>
        <p:cNvGrpSpPr/>
        <p:nvPr/>
      </p:nvGrpSpPr>
      <p:grpSpPr/>
      <p:sp>
        <p:nvSpPr>
          <p:cNvPr id="2" name="Rectangle 1"/>
          <p:cNvSpPr/>
          <p:nvPr/>
        </p:nvSpPr>
        <p:spPr>
          <a:xfrm>
            <a:off x="0" y="0"/>
            <a:ext cx="404749" cy="5143500"/>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491998"/>
            <a:ext cx="404749" cy="196723"/>
          </a:xfrm>
          <a:prstGeom prst="rect">
            <a:avLst/>
          </a:prstGeom>
          <a:noFill/>
        </p:spPr>
        <p:txBody>
          <a:bodyPr wrap="none" lIns="12700" rIns="12700" tIns="12700" bIns="12700" anchor="t">
            <a:spAutoFit/>
          </a:bodyPr>
          <a:lstStyle/>
          <a:p>
            <a:pPr algn="ctr"/>
            <a:r>
              <a:rPr sz="800" b="1">
                <a:solidFill>
                  <a:srgbClr val="FFFFFF"/>
                </a:solidFill>
                <a:latin typeface="Yu Gothic"/>
              </a:rPr>
              <a:t>Chapter1</a:t>
            </a:r>
          </a:p>
        </p:txBody>
      </p:sp>
      <p:sp>
        <p:nvSpPr>
          <p:cNvPr id="4" name="TextBox 3"/>
          <p:cNvSpPr txBox="1"/>
          <p:nvPr/>
        </p:nvSpPr>
        <p:spPr>
          <a:xfrm rot="5400000">
            <a:off x="-836803" y="3498215"/>
            <a:ext cx="2078227" cy="229615"/>
          </a:xfrm>
          <a:prstGeom prst="rect">
            <a:avLst/>
          </a:prstGeom>
          <a:noFill/>
        </p:spPr>
        <p:txBody>
          <a:bodyPr wrap="none" lIns="12700" rIns="12700" tIns="12700" bIns="12700" anchor="t">
            <a:spAutoFit/>
          </a:bodyPr>
          <a:lstStyle/>
          <a:p>
            <a:pPr algn="ctr"/>
            <a:r>
              <a:rPr sz="800" b="1">
                <a:solidFill>
                  <a:srgbClr val="FFFFFF"/>
                </a:solidFill>
                <a:latin typeface="Yu Gothic"/>
              </a:rPr>
              <a:t>Copyright @Field X inc.</a:t>
            </a:r>
          </a:p>
          <a:p>
            <a:pPr algn="ctr"/>
            <a:r>
              <a:rPr sz="800" b="1">
                <a:solidFill>
                  <a:srgbClr val="FFFFFF"/>
                </a:solidFill>
                <a:latin typeface="Yu Gothic"/>
              </a:rPr>
              <a:t>All rights reserved.</a:t>
            </a:r>
          </a:p>
        </p:txBody>
      </p:sp>
      <p:sp>
        <p:nvSpPr>
          <p:cNvPr id="5" name="TextBox 4"/>
          <p:cNvSpPr txBox="1"/>
          <p:nvPr/>
        </p:nvSpPr>
        <p:spPr>
          <a:xfrm>
            <a:off x="0" y="4646041"/>
            <a:ext cx="404749" cy="295148"/>
          </a:xfrm>
          <a:prstGeom prst="rect">
            <a:avLst/>
          </a:prstGeom>
          <a:noFill/>
        </p:spPr>
        <p:txBody>
          <a:bodyPr wrap="none" lIns="12700" rIns="12700" tIns="12700" bIns="12700" anchor="t">
            <a:spAutoFit/>
          </a:bodyPr>
          <a:lstStyle/>
          <a:p>
            <a:pPr algn="ctr"/>
            <a:r>
              <a:rPr sz="1700" b="1">
                <a:solidFill>
                  <a:srgbClr val="FFFFFF"/>
                </a:solidFill>
                <a:latin typeface="Yu Gothic"/>
              </a:rPr>
              <a:t>4</a:t>
            </a:r>
          </a:p>
        </p:txBody>
      </p:sp>
      <p:sp>
        <p:nvSpPr>
          <p:cNvPr id="6" name="Oval 5"/>
          <p:cNvSpPr/>
          <p:nvPr/>
        </p:nvSpPr>
        <p:spPr>
          <a:xfrm>
            <a:off x="7984617" y="-502920"/>
            <a:ext cx="1804797" cy="1803781"/>
          </a:xfrm>
          <a:prstGeom prst="ellipse">
            <a:avLst/>
          </a:prstGeom>
          <a:solidFill>
            <a:srgbClr val="FFD7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411210" y="174879"/>
            <a:ext cx="1848485" cy="2842260"/>
          </a:xfrm>
          <a:prstGeom prst="ellipse">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0946" y="163957"/>
            <a:ext cx="1367282" cy="185801"/>
          </a:xfrm>
          <a:prstGeom prst="rect">
            <a:avLst/>
          </a:prstGeom>
          <a:noFill/>
        </p:spPr>
        <p:txBody>
          <a:bodyPr wrap="none" lIns="12700" rIns="12700" tIns="12700" bIns="12700" anchor="t">
            <a:spAutoFit/>
          </a:bodyPr>
          <a:lstStyle/>
          <a:p>
            <a:pPr algn="l"/>
            <a:r>
              <a:rPr sz="1300" b="1">
                <a:solidFill>
                  <a:srgbClr val="F80612"/>
                </a:solidFill>
                <a:latin typeface="Yu Gothic"/>
              </a:rPr>
              <a:t>Chapter1</a:t>
            </a:r>
          </a:p>
        </p:txBody>
      </p:sp>
      <p:sp>
        <p:nvSpPr>
          <p:cNvPr id="9" name="TextBox 8"/>
          <p:cNvSpPr txBox="1"/>
          <p:nvPr/>
        </p:nvSpPr>
        <p:spPr>
          <a:xfrm>
            <a:off x="710946" y="360807"/>
            <a:ext cx="5359527" cy="437261"/>
          </a:xfrm>
          <a:prstGeom prst="rect">
            <a:avLst/>
          </a:prstGeom>
          <a:noFill/>
        </p:spPr>
        <p:txBody>
          <a:bodyPr wrap="none" lIns="12700" rIns="12700" tIns="12700" bIns="12700" anchor="t">
            <a:spAutoFit/>
          </a:bodyPr>
          <a:lstStyle/>
          <a:p>
            <a:pPr algn="l"/>
            <a:r>
              <a:rPr sz="2800" b="1">
                <a:solidFill>
                  <a:srgbClr val="101214"/>
                </a:solidFill>
                <a:latin typeface="Yu Gothic"/>
              </a:rPr>
              <a:t>今回のご提案内容</a:t>
            </a:r>
          </a:p>
        </p:txBody>
      </p:sp>
      <p:sp>
        <p:nvSpPr>
          <p:cNvPr id="10" name="Rounded Rectangle 9"/>
          <p:cNvSpPr/>
          <p:nvPr/>
        </p:nvSpPr>
        <p:spPr>
          <a:xfrm>
            <a:off x="1192276" y="1011174"/>
            <a:ext cx="6770497" cy="349885"/>
          </a:xfrm>
          <a:prstGeom prst="round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12545" y="1076833"/>
            <a:ext cx="6535293" cy="218694"/>
          </a:xfrm>
          <a:prstGeom prst="rect">
            <a:avLst/>
          </a:prstGeom>
          <a:noFill/>
        </p:spPr>
        <p:txBody>
          <a:bodyPr wrap="none" lIns="12700" rIns="12700" tIns="12700" bIns="12700" anchor="t">
            <a:spAutoFit/>
          </a:bodyPr>
          <a:lstStyle/>
          <a:p>
            <a:pPr algn="ctr"/>
            <a:r>
              <a:rPr sz="1300" b="1">
                <a:solidFill>
                  <a:srgbClr val="FFFFFF"/>
                </a:solidFill>
                <a:latin typeface="Yu Gothic"/>
              </a:rPr>
              <a:t>基幹業務を効率化し、現場の負荷を下げ、今後の成長につながるシステム基盤を構築します。</a:t>
            </a:r>
          </a:p>
        </p:txBody>
      </p:sp>
      <p:sp>
        <p:nvSpPr>
          <p:cNvPr id="12" name="Rounded Rectangle 11"/>
          <p:cNvSpPr/>
          <p:nvPr/>
        </p:nvSpPr>
        <p:spPr>
          <a:xfrm>
            <a:off x="710946" y="1503172"/>
            <a:ext cx="1804797" cy="2022475"/>
          </a:xfrm>
          <a:prstGeom prst="roundRect">
            <a:avLst/>
          </a:prstGeom>
          <a:solidFill>
            <a:srgbClr val="FFFFFF"/>
          </a:solidFill>
          <a:ln w="12700">
            <a:solidFill>
              <a:srgbClr val="D9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18006" y="1607058"/>
            <a:ext cx="590677" cy="590296"/>
          </a:xfrm>
          <a:prstGeom prst="ellipse">
            <a:avLst/>
          </a:prstGeom>
          <a:solidFill>
            <a:srgbClr val="FFE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2_proposal_core_system.png"/>
          <p:cNvPicPr>
            <a:picLocks noChangeAspect="1"/>
          </p:cNvPicPr>
          <p:nvPr/>
        </p:nvPicPr>
        <p:blipFill>
          <a:blip r:embed="rId2"/>
          <a:stretch>
            <a:fillRect/>
          </a:stretch>
        </p:blipFill>
        <p:spPr>
          <a:xfrm>
            <a:off x="1350772" y="1639824"/>
            <a:ext cx="525018" cy="524764"/>
          </a:xfrm>
          <a:prstGeom prst="rect">
            <a:avLst/>
          </a:prstGeom>
        </p:spPr>
      </p:pic>
      <p:sp>
        <p:nvSpPr>
          <p:cNvPr id="15" name="TextBox 14"/>
          <p:cNvSpPr txBox="1"/>
          <p:nvPr/>
        </p:nvSpPr>
        <p:spPr>
          <a:xfrm>
            <a:off x="847725" y="2295779"/>
            <a:ext cx="1531239" cy="382651"/>
          </a:xfrm>
          <a:prstGeom prst="rect">
            <a:avLst/>
          </a:prstGeom>
          <a:noFill/>
        </p:spPr>
        <p:txBody>
          <a:bodyPr wrap="none" lIns="12700" rIns="12700" tIns="12700" bIns="12700" anchor="t">
            <a:spAutoFit/>
          </a:bodyPr>
          <a:lstStyle/>
          <a:p>
            <a:pPr algn="ctr"/>
            <a:r>
              <a:rPr sz="1200" b="1">
                <a:solidFill>
                  <a:srgbClr val="101214"/>
                </a:solidFill>
                <a:latin typeface="Yu Gothic"/>
              </a:rPr>
              <a:t>基本機能を一つの基盤に整理</a:t>
            </a:r>
          </a:p>
        </p:txBody>
      </p:sp>
      <p:sp>
        <p:nvSpPr>
          <p:cNvPr id="16" name="Rectangle 15"/>
          <p:cNvSpPr/>
          <p:nvPr/>
        </p:nvSpPr>
        <p:spPr>
          <a:xfrm>
            <a:off x="1503934" y="2754884"/>
            <a:ext cx="218694" cy="21844"/>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3186" y="2886075"/>
            <a:ext cx="1520317" cy="513842"/>
          </a:xfrm>
          <a:prstGeom prst="rect">
            <a:avLst/>
          </a:prstGeom>
          <a:noFill/>
        </p:spPr>
        <p:txBody>
          <a:bodyPr wrap="none" lIns="12700" rIns="12700" tIns="12700" bIns="12700" anchor="t">
            <a:spAutoFit/>
          </a:bodyPr>
          <a:lstStyle/>
          <a:p>
            <a:pPr algn="ctr"/>
            <a:r>
              <a:rPr sz="800" b="1">
                <a:solidFill>
                  <a:srgbClr val="2D3338"/>
                </a:solidFill>
                <a:latin typeface="Yu Gothic"/>
              </a:rPr>
              <a:t>物件管理、入居者管理、契約書作成、反響取り込み、自社物件の出稿等、基幹管理に必要なデータを集約します。</a:t>
            </a:r>
          </a:p>
        </p:txBody>
      </p:sp>
      <p:sp>
        <p:nvSpPr>
          <p:cNvPr id="18" name="Rounded Rectangle 17"/>
          <p:cNvSpPr/>
          <p:nvPr/>
        </p:nvSpPr>
        <p:spPr>
          <a:xfrm>
            <a:off x="2734437" y="1503172"/>
            <a:ext cx="1804797" cy="2022475"/>
          </a:xfrm>
          <a:prstGeom prst="roundRect">
            <a:avLst/>
          </a:prstGeom>
          <a:solidFill>
            <a:srgbClr val="FFFFFF"/>
          </a:solidFill>
          <a:ln w="12700">
            <a:solidFill>
              <a:srgbClr val="D9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341497" y="1607058"/>
            <a:ext cx="590677" cy="590296"/>
          </a:xfrm>
          <a:prstGeom prst="ellipse">
            <a:avLst/>
          </a:prstGeom>
          <a:solidFill>
            <a:srgbClr val="FFE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2_proposal_repair_contract.png"/>
          <p:cNvPicPr>
            <a:picLocks noChangeAspect="1"/>
          </p:cNvPicPr>
          <p:nvPr/>
        </p:nvPicPr>
        <p:blipFill>
          <a:blip r:embed="rId3"/>
          <a:stretch>
            <a:fillRect/>
          </a:stretch>
        </p:blipFill>
        <p:spPr>
          <a:xfrm>
            <a:off x="3374263" y="1639824"/>
            <a:ext cx="525018" cy="524764"/>
          </a:xfrm>
          <a:prstGeom prst="rect">
            <a:avLst/>
          </a:prstGeom>
        </p:spPr>
      </p:pic>
      <p:sp>
        <p:nvSpPr>
          <p:cNvPr id="21" name="TextBox 20"/>
          <p:cNvSpPr txBox="1"/>
          <p:nvPr/>
        </p:nvSpPr>
        <p:spPr>
          <a:xfrm>
            <a:off x="2871216" y="2295779"/>
            <a:ext cx="1531239" cy="382651"/>
          </a:xfrm>
          <a:prstGeom prst="rect">
            <a:avLst/>
          </a:prstGeom>
          <a:noFill/>
        </p:spPr>
        <p:txBody>
          <a:bodyPr wrap="none" lIns="12700" rIns="12700" tIns="12700" bIns="12700" anchor="t">
            <a:spAutoFit/>
          </a:bodyPr>
          <a:lstStyle/>
          <a:p>
            <a:pPr algn="ctr"/>
            <a:r>
              <a:rPr sz="1200" b="1">
                <a:solidFill>
                  <a:srgbClr val="101214"/>
                </a:solidFill>
                <a:latin typeface="Yu Gothic"/>
              </a:rPr>
              <a:t>修繕対応・契約書作成業務の効率化</a:t>
            </a:r>
          </a:p>
        </p:txBody>
      </p:sp>
      <p:sp>
        <p:nvSpPr>
          <p:cNvPr id="22" name="Rectangle 21"/>
          <p:cNvSpPr/>
          <p:nvPr/>
        </p:nvSpPr>
        <p:spPr>
          <a:xfrm>
            <a:off x="3527425" y="2754884"/>
            <a:ext cx="218694" cy="21844"/>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76677" y="2886075"/>
            <a:ext cx="1520317" cy="513842"/>
          </a:xfrm>
          <a:prstGeom prst="rect">
            <a:avLst/>
          </a:prstGeom>
          <a:noFill/>
        </p:spPr>
        <p:txBody>
          <a:bodyPr wrap="none" lIns="12700" rIns="12700" tIns="12700" bIns="12700" anchor="t">
            <a:spAutoFit/>
          </a:bodyPr>
          <a:lstStyle/>
          <a:p>
            <a:pPr algn="ctr"/>
            <a:r>
              <a:rPr sz="800" b="1">
                <a:solidFill>
                  <a:srgbClr val="2D3338"/>
                </a:solidFill>
                <a:latin typeface="Yu Gothic"/>
              </a:rPr>
              <a:t>退去修繕・契約業務等を含めたオペレーションを標準化し、業務内容を効率化します。</a:t>
            </a:r>
          </a:p>
        </p:txBody>
      </p:sp>
      <p:sp>
        <p:nvSpPr>
          <p:cNvPr id="24" name="Rounded Rectangle 23"/>
          <p:cNvSpPr/>
          <p:nvPr/>
        </p:nvSpPr>
        <p:spPr>
          <a:xfrm>
            <a:off x="4757928" y="1503172"/>
            <a:ext cx="1804797" cy="2022475"/>
          </a:xfrm>
          <a:prstGeom prst="roundRect">
            <a:avLst/>
          </a:prstGeom>
          <a:solidFill>
            <a:srgbClr val="FFFFFF"/>
          </a:solidFill>
          <a:ln w="12700">
            <a:solidFill>
              <a:srgbClr val="D9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364988" y="1607058"/>
            <a:ext cx="590677" cy="590296"/>
          </a:xfrm>
          <a:prstGeom prst="ellipse">
            <a:avLst/>
          </a:prstGeom>
          <a:solidFill>
            <a:srgbClr val="FFE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2_proposal_mobile_ui.png"/>
          <p:cNvPicPr>
            <a:picLocks noChangeAspect="1"/>
          </p:cNvPicPr>
          <p:nvPr/>
        </p:nvPicPr>
        <p:blipFill>
          <a:blip r:embed="rId4"/>
          <a:stretch>
            <a:fillRect/>
          </a:stretch>
        </p:blipFill>
        <p:spPr>
          <a:xfrm>
            <a:off x="5397754" y="1639824"/>
            <a:ext cx="525018" cy="524764"/>
          </a:xfrm>
          <a:prstGeom prst="rect">
            <a:avLst/>
          </a:prstGeom>
        </p:spPr>
      </p:pic>
      <p:sp>
        <p:nvSpPr>
          <p:cNvPr id="27" name="TextBox 26"/>
          <p:cNvSpPr txBox="1"/>
          <p:nvPr/>
        </p:nvSpPr>
        <p:spPr>
          <a:xfrm>
            <a:off x="4894707" y="2295779"/>
            <a:ext cx="1531239" cy="382651"/>
          </a:xfrm>
          <a:prstGeom prst="rect">
            <a:avLst/>
          </a:prstGeom>
          <a:noFill/>
        </p:spPr>
        <p:txBody>
          <a:bodyPr wrap="none" lIns="12700" rIns="12700" tIns="12700" bIns="12700" anchor="t">
            <a:spAutoFit/>
          </a:bodyPr>
          <a:lstStyle/>
          <a:p>
            <a:pPr algn="ctr"/>
            <a:r>
              <a:rPr sz="1200" b="1">
                <a:solidFill>
                  <a:srgbClr val="101214"/>
                </a:solidFill>
                <a:latin typeface="Yu Gothic"/>
              </a:rPr>
              <a:t>現場利用しやすいUIとスマホ対応</a:t>
            </a:r>
          </a:p>
        </p:txBody>
      </p:sp>
      <p:sp>
        <p:nvSpPr>
          <p:cNvPr id="28" name="Rectangle 27"/>
          <p:cNvSpPr/>
          <p:nvPr/>
        </p:nvSpPr>
        <p:spPr>
          <a:xfrm>
            <a:off x="5550916" y="2754884"/>
            <a:ext cx="218694" cy="21844"/>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00168" y="2886075"/>
            <a:ext cx="1520317" cy="513842"/>
          </a:xfrm>
          <a:prstGeom prst="rect">
            <a:avLst/>
          </a:prstGeom>
          <a:noFill/>
        </p:spPr>
        <p:txBody>
          <a:bodyPr wrap="none" lIns="12700" rIns="12700" tIns="12700" bIns="12700" anchor="t">
            <a:spAutoFit/>
          </a:bodyPr>
          <a:lstStyle/>
          <a:p>
            <a:pPr algn="ctr"/>
            <a:r>
              <a:rPr sz="800" b="1">
                <a:solidFill>
                  <a:srgbClr val="2D3338"/>
                </a:solidFill>
                <a:latin typeface="Yu Gothic"/>
              </a:rPr>
              <a:t>直感的な画面設計により操作しやすく、現場へのスムーズな導入が可能です。スマホ対応で外出先でも快適な利用が可能です。</a:t>
            </a:r>
          </a:p>
        </p:txBody>
      </p:sp>
      <p:sp>
        <p:nvSpPr>
          <p:cNvPr id="30" name="Rounded Rectangle 29"/>
          <p:cNvSpPr/>
          <p:nvPr/>
        </p:nvSpPr>
        <p:spPr>
          <a:xfrm>
            <a:off x="6781419" y="1503172"/>
            <a:ext cx="1804797" cy="2022475"/>
          </a:xfrm>
          <a:prstGeom prst="roundRect">
            <a:avLst/>
          </a:prstGeom>
          <a:solidFill>
            <a:srgbClr val="FFFFFF"/>
          </a:solidFill>
          <a:ln w="12700">
            <a:solidFill>
              <a:srgbClr val="D9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388479" y="1607058"/>
            <a:ext cx="590677" cy="590296"/>
          </a:xfrm>
          <a:prstGeom prst="ellipse">
            <a:avLst/>
          </a:prstGeom>
          <a:solidFill>
            <a:srgbClr val="FFE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2_proposal_extension_ai.png"/>
          <p:cNvPicPr>
            <a:picLocks noChangeAspect="1"/>
          </p:cNvPicPr>
          <p:nvPr/>
        </p:nvPicPr>
        <p:blipFill>
          <a:blip r:embed="rId5"/>
          <a:stretch>
            <a:fillRect/>
          </a:stretch>
        </p:blipFill>
        <p:spPr>
          <a:xfrm>
            <a:off x="7421245" y="1639824"/>
            <a:ext cx="525018" cy="524764"/>
          </a:xfrm>
          <a:prstGeom prst="rect">
            <a:avLst/>
          </a:prstGeom>
        </p:spPr>
      </p:pic>
      <p:sp>
        <p:nvSpPr>
          <p:cNvPr id="33" name="TextBox 32"/>
          <p:cNvSpPr txBox="1"/>
          <p:nvPr/>
        </p:nvSpPr>
        <p:spPr>
          <a:xfrm>
            <a:off x="6918198" y="2295779"/>
            <a:ext cx="1531239" cy="382651"/>
          </a:xfrm>
          <a:prstGeom prst="rect">
            <a:avLst/>
          </a:prstGeom>
          <a:noFill/>
        </p:spPr>
        <p:txBody>
          <a:bodyPr wrap="none" lIns="12700" rIns="12700" tIns="12700" bIns="12700" anchor="t">
            <a:spAutoFit/>
          </a:bodyPr>
          <a:lstStyle/>
          <a:p>
            <a:pPr algn="ctr"/>
            <a:r>
              <a:rPr sz="1200" b="1">
                <a:solidFill>
                  <a:srgbClr val="101214"/>
                </a:solidFill>
                <a:latin typeface="Yu Gothic"/>
              </a:rPr>
              <a:t>他社物件の出稿機能・今後のAI活用への拡張性</a:t>
            </a:r>
          </a:p>
        </p:txBody>
      </p:sp>
      <p:sp>
        <p:nvSpPr>
          <p:cNvPr id="34" name="Rectangle 33"/>
          <p:cNvSpPr/>
          <p:nvPr/>
        </p:nvSpPr>
        <p:spPr>
          <a:xfrm>
            <a:off x="7574407" y="2754884"/>
            <a:ext cx="218694" cy="21844"/>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23658" y="2886075"/>
            <a:ext cx="1520317" cy="513842"/>
          </a:xfrm>
          <a:prstGeom prst="rect">
            <a:avLst/>
          </a:prstGeom>
          <a:noFill/>
        </p:spPr>
        <p:txBody>
          <a:bodyPr wrap="none" lIns="12700" rIns="12700" tIns="12700" bIns="12700" anchor="t">
            <a:spAutoFit/>
          </a:bodyPr>
          <a:lstStyle/>
          <a:p>
            <a:pPr algn="ctr"/>
            <a:r>
              <a:rPr sz="800" b="1">
                <a:solidFill>
                  <a:srgbClr val="2D3338"/>
                </a:solidFill>
                <a:latin typeface="Yu Gothic"/>
              </a:rPr>
              <a:t>他社物件の出稿機能や、AIによる自動化など、将来的な拡張に柔軟に対応。</a:t>
            </a:r>
          </a:p>
        </p:txBody>
      </p:sp>
      <p:sp>
        <p:nvSpPr>
          <p:cNvPr id="36" name="Rounded Rectangle 35"/>
          <p:cNvSpPr/>
          <p:nvPr/>
        </p:nvSpPr>
        <p:spPr>
          <a:xfrm>
            <a:off x="864108" y="3749675"/>
            <a:ext cx="7437755" cy="557530"/>
          </a:xfrm>
          <a:prstGeom prst="roundRect">
            <a:avLst/>
          </a:prstGeom>
          <a:solidFill>
            <a:srgbClr val="FFF3F3"/>
          </a:solidFill>
          <a:ln w="254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37539" y="3815207"/>
            <a:ext cx="426593" cy="426339"/>
          </a:xfrm>
          <a:prstGeom prst="ellipse">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03198" y="3848100"/>
            <a:ext cx="295275" cy="295148"/>
          </a:xfrm>
          <a:prstGeom prst="rect">
            <a:avLst/>
          </a:prstGeom>
          <a:noFill/>
        </p:spPr>
        <p:txBody>
          <a:bodyPr wrap="none" lIns="12700" rIns="12700" tIns="12700" bIns="12700" anchor="t">
            <a:spAutoFit/>
          </a:bodyPr>
          <a:lstStyle/>
          <a:p>
            <a:pPr algn="ctr"/>
            <a:r>
              <a:rPr sz="2100" b="1">
                <a:solidFill>
                  <a:srgbClr val="FFFFFF"/>
                </a:solidFill>
                <a:latin typeface="Yu Gothic"/>
              </a:rPr>
              <a:t>✓</a:t>
            </a:r>
          </a:p>
        </p:txBody>
      </p:sp>
      <p:sp>
        <p:nvSpPr>
          <p:cNvPr id="39" name="TextBox 38"/>
          <p:cNvSpPr txBox="1"/>
          <p:nvPr/>
        </p:nvSpPr>
        <p:spPr>
          <a:xfrm>
            <a:off x="1859407" y="3848100"/>
            <a:ext cx="5906389" cy="382651"/>
          </a:xfrm>
          <a:prstGeom prst="rect">
            <a:avLst/>
          </a:prstGeom>
          <a:noFill/>
        </p:spPr>
        <p:txBody>
          <a:bodyPr wrap="none" lIns="12700" rIns="12700" tIns="12700" bIns="12700" anchor="t">
            <a:spAutoFit/>
          </a:bodyP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0612"/>
        </a:solidFill>
        <a:effectLst/>
      </p:bgPr>
    </p:bg>
    <p:spTree>
      <p:nvGrpSpPr>
        <p:cNvPr id="1" name=""/>
        <p:cNvGrpSpPr/>
        <p:nvPr/>
      </p:nvGrpSpPr>
      <p:grpSpPr/>
      <p:sp>
        <p:nvSpPr>
          <p:cNvPr id="2" name="TextBox 1"/>
          <p:cNvSpPr txBox="1"/>
          <p:nvPr/>
        </p:nvSpPr>
        <p:spPr>
          <a:xfrm>
            <a:off x="689102" y="1781937"/>
            <a:ext cx="1421892" cy="1038479"/>
          </a:xfrm>
          <a:prstGeom prst="rect">
            <a:avLst/>
          </a:prstGeom>
          <a:noFill/>
        </p:spPr>
        <p:txBody>
          <a:bodyPr wrap="none" lIns="12700" rIns="12700" tIns="12700" bIns="12700" anchor="t">
            <a:spAutoFit/>
          </a:bodyPr>
          <a:lstStyle/>
          <a:p>
            <a:pPr algn="l"/>
            <a:r>
              <a:rPr sz="10500" b="1">
                <a:solidFill>
                  <a:srgbClr val="FF9CA1"/>
                </a:solidFill>
                <a:latin typeface="Yu Gothic"/>
              </a:rPr>
              <a:t>02</a:t>
            </a:r>
          </a:p>
        </p:txBody>
      </p:sp>
      <p:sp>
        <p:nvSpPr>
          <p:cNvPr id="3" name="TextBox 2"/>
          <p:cNvSpPr txBox="1"/>
          <p:nvPr/>
        </p:nvSpPr>
        <p:spPr>
          <a:xfrm>
            <a:off x="2433701" y="2503424"/>
            <a:ext cx="5359527" cy="426339"/>
          </a:xfrm>
          <a:prstGeom prst="rect">
            <a:avLst/>
          </a:prstGeom>
          <a:noFill/>
        </p:spPr>
        <p:txBody>
          <a:bodyPr wrap="none" lIns="12700" rIns="12700" tIns="12700" bIns="12700" anchor="t">
            <a:spAutoFit/>
          </a:bodyPr>
          <a:lstStyle/>
          <a:p>
            <a:pPr algn="l"/>
            <a:r>
              <a:rPr sz="2700" b="1">
                <a:solidFill>
                  <a:srgbClr val="FFFFFF"/>
                </a:solidFill>
                <a:latin typeface="Yu Gothic"/>
              </a:rPr>
              <a:t>デモ画面イメージ</a:t>
            </a:r>
          </a:p>
        </p:txBody>
      </p:sp>
      <p:sp>
        <p:nvSpPr>
          <p:cNvPr id="4" name="Rectangle 3"/>
          <p:cNvSpPr/>
          <p:nvPr/>
        </p:nvSpPr>
        <p:spPr>
          <a:xfrm>
            <a:off x="2433701" y="3028188"/>
            <a:ext cx="393700" cy="21844"/>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7F6"/>
        </a:solidFill>
        <a:effectLst/>
      </p:bgPr>
    </p:bg>
    <p:spTree>
      <p:nvGrpSpPr>
        <p:cNvPr id="1" name=""/>
        <p:cNvGrpSpPr/>
        <p:nvPr/>
      </p:nvGrpSpPr>
      <p:grpSpPr/>
      <p:sp>
        <p:nvSpPr>
          <p:cNvPr id="2" name="Rectangle 1"/>
          <p:cNvSpPr/>
          <p:nvPr/>
        </p:nvSpPr>
        <p:spPr>
          <a:xfrm>
            <a:off x="0" y="0"/>
            <a:ext cx="404749" cy="5143500"/>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491998"/>
            <a:ext cx="404749" cy="196723"/>
          </a:xfrm>
          <a:prstGeom prst="rect">
            <a:avLst/>
          </a:prstGeom>
          <a:noFill/>
        </p:spPr>
        <p:txBody>
          <a:bodyPr wrap="none" lIns="12700" rIns="12700" tIns="12700" bIns="12700" anchor="t">
            <a:spAutoFit/>
          </a:bodyPr>
          <a:lstStyle/>
          <a:p>
            <a:pPr algn="ctr"/>
            <a:r>
              <a:rPr sz="800" b="1">
                <a:solidFill>
                  <a:srgbClr val="FFFFFF"/>
                </a:solidFill>
                <a:latin typeface="Yu Gothic"/>
              </a:rPr>
              <a:t>Chapter2</a:t>
            </a:r>
          </a:p>
        </p:txBody>
      </p:sp>
      <p:sp>
        <p:nvSpPr>
          <p:cNvPr id="4" name="TextBox 3"/>
          <p:cNvSpPr txBox="1"/>
          <p:nvPr/>
        </p:nvSpPr>
        <p:spPr>
          <a:xfrm rot="5400000">
            <a:off x="-836803" y="3498215"/>
            <a:ext cx="2078227" cy="229615"/>
          </a:xfrm>
          <a:prstGeom prst="rect">
            <a:avLst/>
          </a:prstGeom>
          <a:noFill/>
        </p:spPr>
        <p:txBody>
          <a:bodyPr wrap="none" lIns="12700" rIns="12700" tIns="12700" bIns="12700" anchor="t">
            <a:spAutoFit/>
          </a:bodyPr>
          <a:lstStyle/>
          <a:p>
            <a:pPr algn="ctr"/>
            <a:r>
              <a:rPr sz="800" b="1">
                <a:solidFill>
                  <a:srgbClr val="FFFFFF"/>
                </a:solidFill>
                <a:latin typeface="Yu Gothic"/>
              </a:rPr>
              <a:t>Copyright @Field X inc.</a:t>
            </a:r>
          </a:p>
          <a:p>
            <a:pPr algn="ctr"/>
            <a:r>
              <a:rPr sz="800" b="1">
                <a:solidFill>
                  <a:srgbClr val="FFFFFF"/>
                </a:solidFill>
                <a:latin typeface="Yu Gothic"/>
              </a:rPr>
              <a:t>All rights reserved.</a:t>
            </a:r>
          </a:p>
        </p:txBody>
      </p:sp>
      <p:sp>
        <p:nvSpPr>
          <p:cNvPr id="5" name="TextBox 4"/>
          <p:cNvSpPr txBox="1"/>
          <p:nvPr/>
        </p:nvSpPr>
        <p:spPr>
          <a:xfrm>
            <a:off x="0" y="4646041"/>
            <a:ext cx="404749" cy="295148"/>
          </a:xfrm>
          <a:prstGeom prst="rect">
            <a:avLst/>
          </a:prstGeom>
          <a:noFill/>
        </p:spPr>
        <p:txBody>
          <a:bodyPr wrap="none" lIns="12700" rIns="12700" tIns="12700" bIns="12700" anchor="t">
            <a:spAutoFit/>
          </a:bodyPr>
          <a:lstStyle/>
          <a:p>
            <a:pPr algn="ctr"/>
            <a:r>
              <a:rPr sz="1700" b="1">
                <a:solidFill>
                  <a:srgbClr val="FFFFFF"/>
                </a:solidFill>
                <a:latin typeface="Yu Gothic"/>
              </a:rPr>
              <a:t>6</a:t>
            </a:r>
          </a:p>
        </p:txBody>
      </p:sp>
      <p:sp>
        <p:nvSpPr>
          <p:cNvPr id="6" name="TextBox 5"/>
          <p:cNvSpPr txBox="1"/>
          <p:nvPr/>
        </p:nvSpPr>
        <p:spPr>
          <a:xfrm>
            <a:off x="667258" y="109347"/>
            <a:ext cx="1367282" cy="185801"/>
          </a:xfrm>
          <a:prstGeom prst="rect">
            <a:avLst/>
          </a:prstGeom>
          <a:noFill/>
        </p:spPr>
        <p:txBody>
          <a:bodyPr wrap="none" lIns="12700" rIns="12700" tIns="12700" bIns="12700" anchor="t">
            <a:spAutoFit/>
          </a:bodyPr>
          <a:lstStyle/>
          <a:p>
            <a:pPr algn="l"/>
            <a:r>
              <a:rPr sz="1300" b="1">
                <a:solidFill>
                  <a:srgbClr val="F80612"/>
                </a:solidFill>
                <a:latin typeface="Yu Gothic"/>
              </a:rPr>
              <a:t>Chapter2</a:t>
            </a:r>
          </a:p>
        </p:txBody>
      </p:sp>
      <p:sp>
        <p:nvSpPr>
          <p:cNvPr id="7" name="TextBox 6"/>
          <p:cNvSpPr txBox="1"/>
          <p:nvPr/>
        </p:nvSpPr>
        <p:spPr>
          <a:xfrm>
            <a:off x="667258" y="306070"/>
            <a:ext cx="5578221" cy="338836"/>
          </a:xfrm>
          <a:prstGeom prst="rect">
            <a:avLst/>
          </a:prstGeom>
          <a:noFill/>
        </p:spPr>
        <p:txBody>
          <a:bodyPr wrap="none" lIns="12700" rIns="12700" tIns="12700" bIns="12700" anchor="t">
            <a:spAutoFit/>
          </a:bodyPr>
          <a:lstStyle/>
          <a:p>
            <a:pPr algn="l"/>
            <a:r>
              <a:rPr sz="2800" b="1">
                <a:solidFill>
                  <a:srgbClr val="101214"/>
                </a:solidFill>
                <a:latin typeface="Yu Gothic"/>
              </a:rPr>
              <a:t>物件・入居者管理画面</a:t>
            </a:r>
          </a:p>
        </p:txBody>
      </p:sp>
      <p:sp>
        <p:nvSpPr>
          <p:cNvPr id="8" name="TextBox 7"/>
          <p:cNvSpPr txBox="1"/>
          <p:nvPr/>
        </p:nvSpPr>
        <p:spPr>
          <a:xfrm>
            <a:off x="667258" y="721487"/>
            <a:ext cx="5906389" cy="229615"/>
          </a:xfrm>
          <a:prstGeom prst="rect">
            <a:avLst/>
          </a:prstGeom>
          <a:noFill/>
        </p:spPr>
        <p:txBody>
          <a:bodyPr wrap="none" lIns="12700" rIns="12700" tIns="12700" bIns="12700" anchor="t">
            <a:spAutoFit/>
          </a:bodyPr>
          <a:lstStyle/>
          <a:p>
            <a:pPr algn="l"/>
            <a:r>
              <a:rPr sz="800" b="1">
                <a:solidFill>
                  <a:srgbClr val="2D3338"/>
                </a:solidFill>
                <a:latin typeface="Yu Gothic"/>
              </a:rPr>
              <a:t>物件・入居者・修繕状況をひとつの画面で確認できます。</a:t>
            </a:r>
          </a:p>
        </p:txBody>
      </p:sp>
      <p:sp>
        <p:nvSpPr>
          <p:cNvPr id="9" name="Rounded Rectangle 8"/>
          <p:cNvSpPr/>
          <p:nvPr/>
        </p:nvSpPr>
        <p:spPr>
          <a:xfrm>
            <a:off x="667258" y="951103"/>
            <a:ext cx="5742305" cy="3388867"/>
          </a:xfrm>
          <a:prstGeom prst="roundRect">
            <a:avLst/>
          </a:prstGeom>
          <a:solidFill>
            <a:srgbClr val="FFFFFF"/>
          </a:solidFill>
          <a:ln w="12700">
            <a:solidFill>
              <a:srgbClr val="CFD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40754" y="951103"/>
            <a:ext cx="1804797" cy="765302"/>
          </a:xfrm>
          <a:prstGeom prst="roundRect">
            <a:avLst/>
          </a:prstGeom>
          <a:solidFill>
            <a:srgbClr val="FFFFFF"/>
          </a:solidFill>
          <a:ln w="12700">
            <a:solidFill>
              <a:srgbClr val="D9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628257" y="1098677"/>
            <a:ext cx="470281" cy="470027"/>
          </a:xfrm>
          <a:prstGeom prst="ellipse">
            <a:avLst/>
          </a:prstGeom>
          <a:solidFill>
            <a:srgbClr val="FFE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2_demo_property.png"/>
          <p:cNvPicPr>
            <a:picLocks noChangeAspect="1"/>
          </p:cNvPicPr>
          <p:nvPr/>
        </p:nvPicPr>
        <p:blipFill>
          <a:blip r:embed="rId2"/>
          <a:stretch>
            <a:fillRect/>
          </a:stretch>
        </p:blipFill>
        <p:spPr>
          <a:xfrm>
            <a:off x="6650228" y="1120521"/>
            <a:ext cx="426593" cy="426339"/>
          </a:xfrm>
          <a:prstGeom prst="rect">
            <a:avLst/>
          </a:prstGeom>
        </p:spPr>
      </p:pic>
      <p:sp>
        <p:nvSpPr>
          <p:cNvPr id="13" name="TextBox 12"/>
          <p:cNvSpPr txBox="1"/>
          <p:nvPr/>
        </p:nvSpPr>
        <p:spPr>
          <a:xfrm>
            <a:off x="7164197" y="1060450"/>
            <a:ext cx="1039113" cy="185801"/>
          </a:xfrm>
          <a:prstGeom prst="rect">
            <a:avLst/>
          </a:prstGeom>
          <a:noFill/>
        </p:spPr>
        <p:txBody>
          <a:bodyPr wrap="none" lIns="12700" rIns="12700" tIns="12700" bIns="12700" anchor="t">
            <a:spAutoFit/>
          </a:bodyPr>
          <a:lstStyle/>
          <a:p>
            <a:pPr algn="l"/>
            <a:r>
              <a:rPr sz="1000" b="1">
                <a:solidFill>
                  <a:srgbClr val="F80612"/>
                </a:solidFill>
                <a:latin typeface="Yu Gothic"/>
              </a:rPr>
              <a:t>物件情報の確認</a:t>
            </a:r>
          </a:p>
        </p:txBody>
      </p:sp>
      <p:sp>
        <p:nvSpPr>
          <p:cNvPr id="14" name="TextBox 13"/>
          <p:cNvSpPr txBox="1"/>
          <p:nvPr/>
        </p:nvSpPr>
        <p:spPr>
          <a:xfrm>
            <a:off x="7164197" y="1289939"/>
            <a:ext cx="1039113" cy="300609"/>
          </a:xfrm>
          <a:prstGeom prst="rect">
            <a:avLst/>
          </a:prstGeom>
          <a:noFill/>
        </p:spPr>
        <p:txBody>
          <a:bodyPr wrap="none" lIns="12700" rIns="12700" tIns="12700" bIns="12700" anchor="t">
            <a:spAutoFit/>
          </a:bodyPr>
          <a:lstStyle/>
          <a:p>
            <a:pPr algn="l"/>
            <a:r>
              <a:rPr sz="700" b="1">
                <a:solidFill>
                  <a:srgbClr val="2D3338"/>
                </a:solidFill>
                <a:latin typeface="Yu Gothic"/>
              </a:rPr>
              <a:t>物件情報・空室状況を確認し、内見可否状況も把握できます。</a:t>
            </a:r>
          </a:p>
        </p:txBody>
      </p:sp>
      <p:sp>
        <p:nvSpPr>
          <p:cNvPr id="15" name="Rounded Rectangle 14"/>
          <p:cNvSpPr/>
          <p:nvPr/>
        </p:nvSpPr>
        <p:spPr>
          <a:xfrm>
            <a:off x="6540754" y="1814702"/>
            <a:ext cx="1804797" cy="765302"/>
          </a:xfrm>
          <a:prstGeom prst="roundRect">
            <a:avLst/>
          </a:prstGeom>
          <a:solidFill>
            <a:srgbClr val="FFFFFF"/>
          </a:solidFill>
          <a:ln w="12700">
            <a:solidFill>
              <a:srgbClr val="D9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628257" y="1962277"/>
            <a:ext cx="470281" cy="470027"/>
          </a:xfrm>
          <a:prstGeom prst="ellipse">
            <a:avLst/>
          </a:prstGeom>
          <a:solidFill>
            <a:srgbClr val="FFE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mage2_demo_resident.png"/>
          <p:cNvPicPr>
            <a:picLocks noChangeAspect="1"/>
          </p:cNvPicPr>
          <p:nvPr/>
        </p:nvPicPr>
        <p:blipFill>
          <a:blip r:embed="rId3"/>
          <a:stretch>
            <a:fillRect/>
          </a:stretch>
        </p:blipFill>
        <p:spPr>
          <a:xfrm>
            <a:off x="6650228" y="1984120"/>
            <a:ext cx="426593" cy="426339"/>
          </a:xfrm>
          <a:prstGeom prst="rect">
            <a:avLst/>
          </a:prstGeom>
        </p:spPr>
      </p:pic>
      <p:sp>
        <p:nvSpPr>
          <p:cNvPr id="18" name="TextBox 17"/>
          <p:cNvSpPr txBox="1"/>
          <p:nvPr/>
        </p:nvSpPr>
        <p:spPr>
          <a:xfrm>
            <a:off x="7164197" y="1924050"/>
            <a:ext cx="1039113" cy="185801"/>
          </a:xfrm>
          <a:prstGeom prst="rect">
            <a:avLst/>
          </a:prstGeom>
          <a:noFill/>
        </p:spPr>
        <p:txBody>
          <a:bodyPr wrap="none" lIns="12700" rIns="12700" tIns="12700" bIns="12700" anchor="t">
            <a:spAutoFit/>
          </a:bodyPr>
          <a:lstStyle/>
          <a:p>
            <a:pPr algn="l"/>
            <a:r>
              <a:rPr sz="1000" b="1">
                <a:solidFill>
                  <a:srgbClr val="F80612"/>
                </a:solidFill>
                <a:latin typeface="Yu Gothic"/>
              </a:rPr>
              <a:t>入居者情報の確認</a:t>
            </a:r>
          </a:p>
        </p:txBody>
      </p:sp>
      <p:sp>
        <p:nvSpPr>
          <p:cNvPr id="19" name="TextBox 18"/>
          <p:cNvSpPr txBox="1"/>
          <p:nvPr/>
        </p:nvSpPr>
        <p:spPr>
          <a:xfrm>
            <a:off x="7164197" y="2153539"/>
            <a:ext cx="1039113" cy="300609"/>
          </a:xfrm>
          <a:prstGeom prst="rect">
            <a:avLst/>
          </a:prstGeom>
          <a:noFill/>
        </p:spPr>
        <p:txBody>
          <a:bodyPr wrap="none" lIns="12700" rIns="12700" tIns="12700" bIns="12700" anchor="t">
            <a:spAutoFit/>
          </a:bodyPr>
          <a:lstStyle/>
          <a:p>
            <a:pPr algn="l"/>
            <a:r>
              <a:rPr sz="700" b="1">
                <a:solidFill>
                  <a:srgbClr val="2D3338"/>
                </a:solidFill>
                <a:latin typeface="Yu Gothic"/>
              </a:rPr>
              <a:t>入居者一覧や入金状況に加え、契約書・請求情報も確認できます。</a:t>
            </a:r>
          </a:p>
        </p:txBody>
      </p:sp>
      <p:sp>
        <p:nvSpPr>
          <p:cNvPr id="20" name="Rounded Rectangle 19"/>
          <p:cNvSpPr/>
          <p:nvPr/>
        </p:nvSpPr>
        <p:spPr>
          <a:xfrm>
            <a:off x="6540754" y="2678303"/>
            <a:ext cx="1804797" cy="765302"/>
          </a:xfrm>
          <a:prstGeom prst="roundRect">
            <a:avLst/>
          </a:prstGeom>
          <a:solidFill>
            <a:srgbClr val="FFFFFF"/>
          </a:solidFill>
          <a:ln w="12700">
            <a:solidFill>
              <a:srgbClr val="D9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628257" y="2825877"/>
            <a:ext cx="470281" cy="470027"/>
          </a:xfrm>
          <a:prstGeom prst="ellipse">
            <a:avLst/>
          </a:prstGeom>
          <a:solidFill>
            <a:srgbClr val="FFE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2_demo_maintenance.png"/>
          <p:cNvPicPr>
            <a:picLocks noChangeAspect="1"/>
          </p:cNvPicPr>
          <p:nvPr/>
        </p:nvPicPr>
        <p:blipFill>
          <a:blip r:embed="rId4"/>
          <a:stretch>
            <a:fillRect/>
          </a:stretch>
        </p:blipFill>
        <p:spPr>
          <a:xfrm>
            <a:off x="6650228" y="2847721"/>
            <a:ext cx="426593" cy="426339"/>
          </a:xfrm>
          <a:prstGeom prst="rect">
            <a:avLst/>
          </a:prstGeom>
        </p:spPr>
      </p:pic>
      <p:sp>
        <p:nvSpPr>
          <p:cNvPr id="23" name="TextBox 22"/>
          <p:cNvSpPr txBox="1"/>
          <p:nvPr/>
        </p:nvSpPr>
        <p:spPr>
          <a:xfrm>
            <a:off x="7164197" y="2787650"/>
            <a:ext cx="1039113" cy="185801"/>
          </a:xfrm>
          <a:prstGeom prst="rect">
            <a:avLst/>
          </a:prstGeom>
          <a:noFill/>
        </p:spPr>
        <p:txBody>
          <a:bodyPr wrap="none" lIns="12700" rIns="12700" tIns="12700" bIns="12700" anchor="t">
            <a:spAutoFit/>
          </a:bodyPr>
          <a:lstStyle/>
          <a:p>
            <a:pPr algn="l"/>
            <a:r>
              <a:rPr sz="1000" b="1">
                <a:solidFill>
                  <a:srgbClr val="F80612"/>
                </a:solidFill>
                <a:latin typeface="Yu Gothic"/>
              </a:rPr>
              <a:t>修繕・対応履歴の確認</a:t>
            </a:r>
          </a:p>
        </p:txBody>
      </p:sp>
      <p:sp>
        <p:nvSpPr>
          <p:cNvPr id="24" name="TextBox 23"/>
          <p:cNvSpPr txBox="1"/>
          <p:nvPr/>
        </p:nvSpPr>
        <p:spPr>
          <a:xfrm>
            <a:off x="7164197" y="3017266"/>
            <a:ext cx="1039113" cy="300609"/>
          </a:xfrm>
          <a:prstGeom prst="rect">
            <a:avLst/>
          </a:prstGeom>
          <a:noFill/>
        </p:spPr>
        <p:txBody>
          <a:bodyPr wrap="none" lIns="12700" rIns="12700" tIns="12700" bIns="12700" anchor="t">
            <a:spAutoFit/>
          </a:bodyPr>
          <a:lstStyle/>
          <a:p>
            <a:pPr algn="l"/>
            <a:r>
              <a:rPr sz="700" b="1">
                <a:solidFill>
                  <a:srgbClr val="2D3338"/>
                </a:solidFill>
                <a:latin typeface="Yu Gothic"/>
              </a:rPr>
              <a:t>修繕アラート等で対応漏れを防ぎ、過去情報を参考にした今後の対応案も提示。</a:t>
            </a:r>
          </a:p>
        </p:txBody>
      </p:sp>
      <p:sp>
        <p:nvSpPr>
          <p:cNvPr id="25" name="TextBox 24"/>
          <p:cNvSpPr txBox="1"/>
          <p:nvPr/>
        </p:nvSpPr>
        <p:spPr>
          <a:xfrm>
            <a:off x="5250180" y="4673473"/>
            <a:ext cx="3062605" cy="142113"/>
          </a:xfrm>
          <a:prstGeom prst="rect">
            <a:avLst/>
          </a:prstGeom>
          <a:noFill/>
        </p:spPr>
        <p:txBody>
          <a:bodyPr wrap="none" lIns="12700" rIns="12700" tIns="12700" bIns="12700" anchor="t">
            <a:spAutoFit/>
          </a:bodyPr>
          <a:lstStyle/>
          <a:p>
            <a:pPr algn="l"/>
            <a:r>
              <a:rPr sz="700" b="1">
                <a:solidFill>
                  <a:srgbClr val="687079"/>
                </a:solidFill>
                <a:latin typeface="Yu Gothic"/>
              </a:rPr>
              <a:t>※ 画面イメージは開発中のものです。実際の仕様とは異なる場合があります。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7F6"/>
        </a:solidFill>
        <a:effectLst/>
      </p:bgPr>
    </p:bg>
    <p:spTree>
      <p:nvGrpSpPr>
        <p:cNvPr id="1" name=""/>
        <p:cNvGrpSpPr/>
        <p:nvPr/>
      </p:nvGrpSpPr>
      <p:grpSpPr/>
      <p:sp>
        <p:nvSpPr>
          <p:cNvPr id="2" name="Rectangle 1"/>
          <p:cNvSpPr/>
          <p:nvPr/>
        </p:nvSpPr>
        <p:spPr>
          <a:xfrm>
            <a:off x="0" y="0"/>
            <a:ext cx="404749" cy="5143500"/>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491998"/>
            <a:ext cx="404749" cy="196723"/>
          </a:xfrm>
          <a:prstGeom prst="rect">
            <a:avLst/>
          </a:prstGeom>
          <a:noFill/>
        </p:spPr>
        <p:txBody>
          <a:bodyPr wrap="none" lIns="12700" rIns="12700" tIns="12700" bIns="12700" anchor="t">
            <a:spAutoFit/>
          </a:bodyPr>
          <a:lstStyle/>
          <a:p>
            <a:pPr algn="ctr"/>
            <a:r>
              <a:rPr sz="800" b="1">
                <a:solidFill>
                  <a:srgbClr val="FFFFFF"/>
                </a:solidFill>
                <a:latin typeface="Yu Gothic"/>
              </a:rPr>
              <a:t>Chapter2</a:t>
            </a:r>
          </a:p>
        </p:txBody>
      </p:sp>
      <p:sp>
        <p:nvSpPr>
          <p:cNvPr id="4" name="TextBox 3"/>
          <p:cNvSpPr txBox="1"/>
          <p:nvPr/>
        </p:nvSpPr>
        <p:spPr>
          <a:xfrm rot="5400000">
            <a:off x="-836803" y="3498215"/>
            <a:ext cx="2078227" cy="229615"/>
          </a:xfrm>
          <a:prstGeom prst="rect">
            <a:avLst/>
          </a:prstGeom>
          <a:noFill/>
        </p:spPr>
        <p:txBody>
          <a:bodyPr wrap="none" lIns="12700" rIns="12700" tIns="12700" bIns="12700" anchor="t">
            <a:spAutoFit/>
          </a:bodyPr>
          <a:lstStyle/>
          <a:p>
            <a:pPr algn="ctr"/>
            <a:r>
              <a:rPr sz="800" b="1">
                <a:solidFill>
                  <a:srgbClr val="FFFFFF"/>
                </a:solidFill>
                <a:latin typeface="Yu Gothic"/>
              </a:rPr>
              <a:t>Copyright @Field X inc.</a:t>
            </a:r>
          </a:p>
          <a:p>
            <a:pPr algn="ctr"/>
            <a:r>
              <a:rPr sz="800" b="1">
                <a:solidFill>
                  <a:srgbClr val="FFFFFF"/>
                </a:solidFill>
                <a:latin typeface="Yu Gothic"/>
              </a:rPr>
              <a:t>All rights reserved.</a:t>
            </a:r>
          </a:p>
        </p:txBody>
      </p:sp>
      <p:sp>
        <p:nvSpPr>
          <p:cNvPr id="5" name="TextBox 4"/>
          <p:cNvSpPr txBox="1"/>
          <p:nvPr/>
        </p:nvSpPr>
        <p:spPr>
          <a:xfrm>
            <a:off x="0" y="4646041"/>
            <a:ext cx="404749" cy="295148"/>
          </a:xfrm>
          <a:prstGeom prst="rect">
            <a:avLst/>
          </a:prstGeom>
          <a:noFill/>
        </p:spPr>
        <p:txBody>
          <a:bodyPr wrap="none" lIns="12700" rIns="12700" tIns="12700" bIns="12700" anchor="t">
            <a:spAutoFit/>
          </a:bodyPr>
          <a:lstStyle/>
          <a:p>
            <a:pPr algn="ctr"/>
            <a:r>
              <a:rPr sz="1700" b="1">
                <a:solidFill>
                  <a:srgbClr val="FFFFFF"/>
                </a:solidFill>
                <a:latin typeface="Yu Gothic"/>
              </a:rPr>
              <a:t>7</a:t>
            </a:r>
          </a:p>
        </p:txBody>
      </p:sp>
      <p:sp>
        <p:nvSpPr>
          <p:cNvPr id="6" name="TextBox 5"/>
          <p:cNvSpPr txBox="1"/>
          <p:nvPr/>
        </p:nvSpPr>
        <p:spPr>
          <a:xfrm>
            <a:off x="667258" y="109347"/>
            <a:ext cx="1367282" cy="185801"/>
          </a:xfrm>
          <a:prstGeom prst="rect">
            <a:avLst/>
          </a:prstGeom>
          <a:noFill/>
        </p:spPr>
        <p:txBody>
          <a:bodyPr wrap="none" lIns="12700" rIns="12700" tIns="12700" bIns="12700" anchor="t">
            <a:spAutoFit/>
          </a:bodyPr>
          <a:lstStyle/>
          <a:p>
            <a:pPr algn="l"/>
            <a:r>
              <a:rPr sz="1300" b="1">
                <a:solidFill>
                  <a:srgbClr val="F80612"/>
                </a:solidFill>
                <a:latin typeface="Yu Gothic"/>
              </a:rPr>
              <a:t>Chapter2</a:t>
            </a:r>
          </a:p>
        </p:txBody>
      </p:sp>
      <p:sp>
        <p:nvSpPr>
          <p:cNvPr id="7" name="TextBox 6"/>
          <p:cNvSpPr txBox="1"/>
          <p:nvPr/>
        </p:nvSpPr>
        <p:spPr>
          <a:xfrm>
            <a:off x="667258" y="306070"/>
            <a:ext cx="7000240" cy="349885"/>
          </a:xfrm>
          <a:prstGeom prst="rect">
            <a:avLst/>
          </a:prstGeom>
          <a:noFill/>
        </p:spPr>
        <p:txBody>
          <a:bodyPr wrap="none" lIns="12700" rIns="12700" tIns="12700" bIns="12700" anchor="t">
            <a:spAutoFit/>
          </a:bodyPr>
          <a:lstStyle/>
          <a:p>
            <a:pPr algn="l"/>
            <a:r>
              <a:rPr sz="2300" b="1">
                <a:solidFill>
                  <a:srgbClr val="101214"/>
                </a:solidFill>
                <a:latin typeface="Yu Gothic"/>
              </a:rPr>
              <a:t>スマートフォン対応・各種契約書作成機能</a:t>
            </a:r>
          </a:p>
        </p:txBody>
      </p:sp>
      <p:sp>
        <p:nvSpPr>
          <p:cNvPr id="8" name="TextBox 7"/>
          <p:cNvSpPr txBox="1"/>
          <p:nvPr/>
        </p:nvSpPr>
        <p:spPr>
          <a:xfrm>
            <a:off x="667258" y="721487"/>
            <a:ext cx="6453251" cy="229615"/>
          </a:xfrm>
          <a:prstGeom prst="rect">
            <a:avLst/>
          </a:prstGeom>
          <a:noFill/>
        </p:spPr>
        <p:txBody>
          <a:bodyPr wrap="none" lIns="12700" rIns="12700" tIns="12700" bIns="12700" anchor="t">
            <a:spAutoFit/>
          </a:bodyPr>
          <a:lstStyle/>
          <a:p>
            <a:pPr algn="l"/>
            <a:r>
              <a:rPr sz="900" b="1">
                <a:solidFill>
                  <a:srgbClr val="2D3338"/>
                </a:solidFill>
                <a:latin typeface="Yu Gothic"/>
              </a:rPr>
              <a:t>スマホ対応機能を実装。日常業務の負荷を軽減します。</a:t>
            </a:r>
          </a:p>
        </p:txBody>
      </p:sp>
      <p:sp>
        <p:nvSpPr>
          <p:cNvPr id="9" name="Rounded Rectangle 8"/>
          <p:cNvSpPr/>
          <p:nvPr/>
        </p:nvSpPr>
        <p:spPr>
          <a:xfrm>
            <a:off x="667258" y="994791"/>
            <a:ext cx="4046982" cy="3443604"/>
          </a:xfrm>
          <a:prstGeom prst="roundRect">
            <a:avLst/>
          </a:prstGeom>
          <a:solidFill>
            <a:srgbClr val="FFFFFF"/>
          </a:solidFill>
          <a:ln w="25400">
            <a:solidFill>
              <a:srgbClr val="CFD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845431" y="994791"/>
            <a:ext cx="1531239" cy="3443604"/>
          </a:xfrm>
          <a:prstGeom prst="roundRect">
            <a:avLst/>
          </a:prstGeom>
          <a:solidFill>
            <a:srgbClr val="FBFBFB"/>
          </a:solidFill>
          <a:ln w="12700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97018" y="994791"/>
            <a:ext cx="645287" cy="153035"/>
          </a:xfrm>
          <a:prstGeom prst="roundRect">
            <a:avLst/>
          </a:prstGeom>
          <a:solidFill>
            <a:srgbClr val="E7E7E7"/>
          </a:solidFill>
          <a:ln w="12700">
            <a:solidFill>
              <a:srgbClr val="E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98593" y="1268095"/>
            <a:ext cx="1225042" cy="3060954"/>
          </a:xfrm>
          <a:prstGeom prst="roundRect">
            <a:avLst/>
          </a:prstGeom>
          <a:solidFill>
            <a:srgbClr val="FFFFFF"/>
          </a:solidFill>
          <a:ln w="25400">
            <a:solidFill>
              <a:srgbClr val="CFD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507988" y="994791"/>
            <a:ext cx="2078227" cy="918337"/>
          </a:xfrm>
          <a:prstGeom prst="roundRect">
            <a:avLst/>
          </a:prstGeom>
          <a:solidFill>
            <a:srgbClr val="FFFFFF"/>
          </a:solidFill>
          <a:ln w="12700">
            <a:solidFill>
              <a:srgbClr val="D9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617334" y="1218946"/>
            <a:ext cx="470281" cy="470027"/>
          </a:xfrm>
          <a:prstGeom prst="ellipse">
            <a:avLst/>
          </a:prstGeom>
          <a:solidFill>
            <a:srgbClr val="FFE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08011" y="1147826"/>
            <a:ext cx="1192276" cy="251460"/>
          </a:xfrm>
          <a:prstGeom prst="rect">
            <a:avLst/>
          </a:prstGeom>
          <a:noFill/>
        </p:spPr>
        <p:txBody>
          <a:bodyPr wrap="none" lIns="12700" rIns="12700" tIns="12700" bIns="12700" anchor="t">
            <a:spAutoFit/>
          </a:bodyPr>
          <a:lstStyle/>
          <a:p>
            <a:pPr algn="l"/>
          </a:p>
        </p:txBody>
      </p:sp>
      <p:sp>
        <p:nvSpPr>
          <p:cNvPr id="16" name="TextBox 15"/>
          <p:cNvSpPr txBox="1"/>
          <p:nvPr/>
        </p:nvSpPr>
        <p:spPr>
          <a:xfrm>
            <a:off x="7208011" y="1432052"/>
            <a:ext cx="1192276" cy="338836"/>
          </a:xfrm>
          <a:prstGeom prst="rect">
            <a:avLst/>
          </a:prstGeom>
          <a:noFill/>
        </p:spPr>
        <p:txBody>
          <a:bodyPr wrap="none" lIns="12700" rIns="12700" tIns="12700" bIns="12700" anchor="t">
            <a:spAutoFit/>
          </a:bodyPr>
          <a:lstStyle/>
          <a:p>
            <a:pPr algn="l"/>
          </a:p>
        </p:txBody>
      </p:sp>
      <p:sp>
        <p:nvSpPr>
          <p:cNvPr id="17" name="Rounded Rectangle 16"/>
          <p:cNvSpPr/>
          <p:nvPr/>
        </p:nvSpPr>
        <p:spPr>
          <a:xfrm>
            <a:off x="6507988" y="2011426"/>
            <a:ext cx="2078227" cy="918337"/>
          </a:xfrm>
          <a:prstGeom prst="roundRect">
            <a:avLst/>
          </a:prstGeom>
          <a:solidFill>
            <a:srgbClr val="FFFFFF"/>
          </a:solidFill>
          <a:ln w="12700">
            <a:solidFill>
              <a:srgbClr val="D9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617334" y="2235581"/>
            <a:ext cx="470281" cy="470027"/>
          </a:xfrm>
          <a:prstGeom prst="ellipse">
            <a:avLst/>
          </a:prstGeom>
          <a:solidFill>
            <a:srgbClr val="FFE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08011" y="2164588"/>
            <a:ext cx="1192276" cy="251460"/>
          </a:xfrm>
          <a:prstGeom prst="rect">
            <a:avLst/>
          </a:prstGeom>
          <a:noFill/>
        </p:spPr>
        <p:txBody>
          <a:bodyPr wrap="none" lIns="12700" rIns="12700" tIns="12700" bIns="12700" anchor="t">
            <a:spAutoFit/>
          </a:bodyPr>
          <a:lstStyle/>
          <a:p>
            <a:pPr algn="l"/>
          </a:p>
        </p:txBody>
      </p:sp>
      <p:sp>
        <p:nvSpPr>
          <p:cNvPr id="20" name="TextBox 19"/>
          <p:cNvSpPr txBox="1"/>
          <p:nvPr/>
        </p:nvSpPr>
        <p:spPr>
          <a:xfrm>
            <a:off x="7208011" y="2448814"/>
            <a:ext cx="1192276" cy="338836"/>
          </a:xfrm>
          <a:prstGeom prst="rect">
            <a:avLst/>
          </a:prstGeom>
          <a:noFill/>
        </p:spPr>
        <p:txBody>
          <a:bodyPr wrap="none" lIns="12700" rIns="12700" tIns="12700" bIns="12700" anchor="t">
            <a:spAutoFit/>
          </a:bodyPr>
          <a:lstStyle/>
          <a:p>
            <a:pPr algn="l"/>
          </a:p>
        </p:txBody>
      </p:sp>
      <p:sp>
        <p:nvSpPr>
          <p:cNvPr id="21" name="Rounded Rectangle 20"/>
          <p:cNvSpPr/>
          <p:nvPr/>
        </p:nvSpPr>
        <p:spPr>
          <a:xfrm>
            <a:off x="6507988" y="3028188"/>
            <a:ext cx="2078227" cy="918337"/>
          </a:xfrm>
          <a:prstGeom prst="roundRect">
            <a:avLst/>
          </a:prstGeom>
          <a:solidFill>
            <a:srgbClr val="FFFFFF"/>
          </a:solidFill>
          <a:ln w="12700">
            <a:solidFill>
              <a:srgbClr val="D9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617334" y="3252216"/>
            <a:ext cx="470281" cy="470027"/>
          </a:xfrm>
          <a:prstGeom prst="ellipse">
            <a:avLst/>
          </a:prstGeom>
          <a:solidFill>
            <a:srgbClr val="FFE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08011" y="3181223"/>
            <a:ext cx="1192276" cy="251460"/>
          </a:xfrm>
          <a:prstGeom prst="rect">
            <a:avLst/>
          </a:prstGeom>
          <a:noFill/>
        </p:spPr>
        <p:txBody>
          <a:bodyPr wrap="none" lIns="12700" rIns="12700" tIns="12700" bIns="12700" anchor="t">
            <a:spAutoFit/>
          </a:bodyPr>
          <a:lstStyle/>
          <a:p>
            <a:pPr algn="l"/>
          </a:p>
        </p:txBody>
      </p:sp>
      <p:sp>
        <p:nvSpPr>
          <p:cNvPr id="24" name="TextBox 23"/>
          <p:cNvSpPr txBox="1"/>
          <p:nvPr/>
        </p:nvSpPr>
        <p:spPr>
          <a:xfrm>
            <a:off x="7208011" y="3465449"/>
            <a:ext cx="1192276" cy="338836"/>
          </a:xfrm>
          <a:prstGeom prst="rect">
            <a:avLst/>
          </a:prstGeom>
          <a:noFill/>
        </p:spPr>
        <p:txBody>
          <a:bodyPr wrap="none" lIns="12700" rIns="12700" tIns="12700" bIns="12700" anchor="t">
            <a:spAutoFit/>
          </a:bodyPr>
          <a:lstStyle/>
          <a:p>
            <a:pPr algn="l"/>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7F6"/>
        </a:solidFill>
        <a:effectLst/>
      </p:bgPr>
    </p:bg>
    <p:spTree>
      <p:nvGrpSpPr>
        <p:cNvPr id="1" name=""/>
        <p:cNvGrpSpPr/>
        <p:nvPr/>
      </p:nvGrpSpPr>
      <p:grpSpPr/>
      <p:sp>
        <p:nvSpPr>
          <p:cNvPr id="2" name="Rectangle 1"/>
          <p:cNvSpPr/>
          <p:nvPr/>
        </p:nvSpPr>
        <p:spPr>
          <a:xfrm>
            <a:off x="0" y="0"/>
            <a:ext cx="404749" cy="5143500"/>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491998"/>
            <a:ext cx="404749" cy="196723"/>
          </a:xfrm>
          <a:prstGeom prst="rect">
            <a:avLst/>
          </a:prstGeom>
          <a:noFill/>
        </p:spPr>
        <p:txBody>
          <a:bodyPr wrap="none" lIns="12700" rIns="12700" tIns="12700" bIns="12700" anchor="t">
            <a:spAutoFit/>
          </a:bodyPr>
          <a:lstStyle/>
          <a:p>
            <a:pPr algn="ctr"/>
            <a:r>
              <a:rPr sz="800" b="1">
                <a:solidFill>
                  <a:srgbClr val="FFFFFF"/>
                </a:solidFill>
                <a:latin typeface="Yu Gothic"/>
              </a:rPr>
              <a:t>Chapter2</a:t>
            </a:r>
          </a:p>
        </p:txBody>
      </p:sp>
      <p:sp>
        <p:nvSpPr>
          <p:cNvPr id="4" name="TextBox 3"/>
          <p:cNvSpPr txBox="1"/>
          <p:nvPr/>
        </p:nvSpPr>
        <p:spPr>
          <a:xfrm rot="5400000">
            <a:off x="-836803" y="3498215"/>
            <a:ext cx="2078227" cy="229615"/>
          </a:xfrm>
          <a:prstGeom prst="rect">
            <a:avLst/>
          </a:prstGeom>
          <a:noFill/>
        </p:spPr>
        <p:txBody>
          <a:bodyPr wrap="none" lIns="12700" rIns="12700" tIns="12700" bIns="12700" anchor="t">
            <a:spAutoFit/>
          </a:bodyPr>
          <a:lstStyle/>
          <a:p>
            <a:pPr algn="ctr"/>
            <a:r>
              <a:rPr sz="800" b="1">
                <a:solidFill>
                  <a:srgbClr val="FFFFFF"/>
                </a:solidFill>
                <a:latin typeface="Yu Gothic"/>
              </a:rPr>
              <a:t>Copyright @Field X inc.</a:t>
            </a:r>
          </a:p>
          <a:p>
            <a:pPr algn="ctr"/>
            <a:r>
              <a:rPr sz="800" b="1">
                <a:solidFill>
                  <a:srgbClr val="FFFFFF"/>
                </a:solidFill>
                <a:latin typeface="Yu Gothic"/>
              </a:rPr>
              <a:t>All rights reserved.</a:t>
            </a:r>
          </a:p>
        </p:txBody>
      </p:sp>
      <p:sp>
        <p:nvSpPr>
          <p:cNvPr id="5" name="TextBox 4"/>
          <p:cNvSpPr txBox="1"/>
          <p:nvPr/>
        </p:nvSpPr>
        <p:spPr>
          <a:xfrm>
            <a:off x="0" y="4646041"/>
            <a:ext cx="404749" cy="295148"/>
          </a:xfrm>
          <a:prstGeom prst="rect">
            <a:avLst/>
          </a:prstGeom>
          <a:noFill/>
        </p:spPr>
        <p:txBody>
          <a:bodyPr wrap="none" lIns="12700" rIns="12700" tIns="12700" bIns="12700" anchor="t">
            <a:spAutoFit/>
          </a:bodyPr>
          <a:lstStyle/>
          <a:p>
            <a:pPr algn="ctr"/>
            <a:r>
              <a:rPr sz="1700" b="1">
                <a:solidFill>
                  <a:srgbClr val="FFFFFF"/>
                </a:solidFill>
                <a:latin typeface="Yu Gothic"/>
              </a:rPr>
              <a:t>8</a:t>
            </a:r>
          </a:p>
        </p:txBody>
      </p:sp>
      <p:sp>
        <p:nvSpPr>
          <p:cNvPr id="6" name="TextBox 5"/>
          <p:cNvSpPr txBox="1"/>
          <p:nvPr/>
        </p:nvSpPr>
        <p:spPr>
          <a:xfrm>
            <a:off x="667258" y="109347"/>
            <a:ext cx="1367282" cy="185801"/>
          </a:xfrm>
          <a:prstGeom prst="rect">
            <a:avLst/>
          </a:prstGeom>
          <a:noFill/>
        </p:spPr>
        <p:txBody>
          <a:bodyPr wrap="none" lIns="12700" rIns="12700" tIns="12700" bIns="12700" anchor="t">
            <a:spAutoFit/>
          </a:bodyPr>
          <a:lstStyle/>
          <a:p>
            <a:pPr algn="l"/>
            <a:r>
              <a:rPr sz="1300" b="1">
                <a:solidFill>
                  <a:srgbClr val="F80612"/>
                </a:solidFill>
                <a:latin typeface="Yu Gothic"/>
              </a:rPr>
              <a:t>Chapter2</a:t>
            </a:r>
          </a:p>
        </p:txBody>
      </p:sp>
      <p:sp>
        <p:nvSpPr>
          <p:cNvPr id="7" name="TextBox 6"/>
          <p:cNvSpPr txBox="1"/>
          <p:nvPr/>
        </p:nvSpPr>
        <p:spPr>
          <a:xfrm>
            <a:off x="667258" y="306070"/>
            <a:ext cx="7492365" cy="316992"/>
          </a:xfrm>
          <a:prstGeom prst="rect">
            <a:avLst/>
          </a:prstGeom>
          <a:noFill/>
        </p:spPr>
        <p:txBody>
          <a:bodyPr wrap="none" lIns="12700" rIns="12700" tIns="12700" bIns="12700" anchor="t">
            <a:spAutoFit/>
          </a:bodyPr>
          <a:lstStyle/>
          <a:p>
            <a:pPr algn="l"/>
            <a:r>
              <a:rPr sz="2100" b="1">
                <a:solidFill>
                  <a:srgbClr val="101214"/>
                </a:solidFill>
                <a:latin typeface="Yu Gothic"/>
              </a:rPr>
              <a:t>物件出稿・反響取り込み・AIによる自動化、省力化</a:t>
            </a:r>
          </a:p>
        </p:txBody>
      </p:sp>
      <p:sp>
        <p:nvSpPr>
          <p:cNvPr id="8" name="TextBox 7"/>
          <p:cNvSpPr txBox="1"/>
          <p:nvPr/>
        </p:nvSpPr>
        <p:spPr>
          <a:xfrm>
            <a:off x="667258" y="688721"/>
            <a:ext cx="7273671" cy="262382"/>
          </a:xfrm>
          <a:prstGeom prst="rect">
            <a:avLst/>
          </a:prstGeom>
          <a:noFill/>
        </p:spPr>
        <p:txBody>
          <a:bodyPr wrap="none" lIns="12700" rIns="12700" tIns="12700" bIns="12700" anchor="t">
            <a:spAutoFit/>
          </a:bodyPr>
          <a:lstStyle/>
          <a:p>
            <a:pPr algn="l"/>
            <a:r>
              <a:rPr sz="900" b="1">
                <a:solidFill>
                  <a:srgbClr val="2D3338"/>
                </a:solidFill>
                <a:latin typeface="Yu Gothic"/>
              </a:rPr>
              <a:t>自社物件に加え他社物件のHP、各ポータルへの出稿から反響対応、今後のAI活用による業務効率化も。</a:t>
            </a:r>
          </a:p>
        </p:txBody>
      </p:sp>
      <p:sp>
        <p:nvSpPr>
          <p:cNvPr id="9" name="Rectangle 8"/>
          <p:cNvSpPr/>
          <p:nvPr/>
        </p:nvSpPr>
        <p:spPr>
          <a:xfrm>
            <a:off x="667258" y="1104138"/>
            <a:ext cx="38227" cy="185801"/>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0293" y="1082294"/>
            <a:ext cx="3554729" cy="229615"/>
          </a:xfrm>
          <a:prstGeom prst="rect">
            <a:avLst/>
          </a:prstGeom>
          <a:noFill/>
        </p:spPr>
        <p:txBody>
          <a:bodyPr wrap="none" lIns="12700" rIns="12700" tIns="12700" bIns="12700" anchor="t">
            <a:spAutoFit/>
          </a:bodyPr>
          <a:lstStyle/>
          <a:p>
            <a:pPr algn="l"/>
            <a:r>
              <a:rPr sz="1200" b="1">
                <a:solidFill>
                  <a:srgbClr val="101214"/>
                </a:solidFill>
                <a:latin typeface="Yu Gothic"/>
              </a:rPr>
              <a:t>自社物件の出稿機能</a:t>
            </a:r>
          </a:p>
        </p:txBody>
      </p:sp>
      <p:sp>
        <p:nvSpPr>
          <p:cNvPr id="11" name="Rounded Rectangle 10"/>
          <p:cNvSpPr/>
          <p:nvPr/>
        </p:nvSpPr>
        <p:spPr>
          <a:xfrm>
            <a:off x="667258" y="1388364"/>
            <a:ext cx="3718814" cy="1667129"/>
          </a:xfrm>
          <a:prstGeom prst="roundRect">
            <a:avLst/>
          </a:prstGeom>
          <a:solidFill>
            <a:srgbClr val="FFFFFF"/>
          </a:solidFill>
          <a:ln w="12700">
            <a:solidFill>
              <a:srgbClr val="CFD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57928" y="1104138"/>
            <a:ext cx="38227" cy="185801"/>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11090" y="1082294"/>
            <a:ext cx="3554729" cy="229615"/>
          </a:xfrm>
          <a:prstGeom prst="rect">
            <a:avLst/>
          </a:prstGeom>
          <a:noFill/>
        </p:spPr>
        <p:txBody>
          <a:bodyPr wrap="none" lIns="12700" rIns="12700" tIns="12700" bIns="12700" anchor="t">
            <a:spAutoFit/>
          </a:bodyPr>
          <a:lstStyle/>
          <a:p>
            <a:pPr algn="l"/>
            <a:r>
              <a:rPr sz="1200" b="1">
                <a:solidFill>
                  <a:srgbClr val="101214"/>
                </a:solidFill>
                <a:latin typeface="Yu Gothic"/>
              </a:rPr>
              <a:t>他社物件の出稿機能</a:t>
            </a:r>
          </a:p>
        </p:txBody>
      </p:sp>
      <p:sp>
        <p:nvSpPr>
          <p:cNvPr id="14" name="Rounded Rectangle 13"/>
          <p:cNvSpPr/>
          <p:nvPr/>
        </p:nvSpPr>
        <p:spPr>
          <a:xfrm>
            <a:off x="4757928" y="1388364"/>
            <a:ext cx="3718814" cy="1667129"/>
          </a:xfrm>
          <a:prstGeom prst="roundRect">
            <a:avLst/>
          </a:prstGeom>
          <a:solidFill>
            <a:srgbClr val="FFFFFF"/>
          </a:solidFill>
          <a:ln w="12700">
            <a:solidFill>
              <a:srgbClr val="CFD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7258" y="2896997"/>
            <a:ext cx="38227" cy="185801"/>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0293" y="2875153"/>
            <a:ext cx="3554729" cy="229615"/>
          </a:xfrm>
          <a:prstGeom prst="rect">
            <a:avLst/>
          </a:prstGeom>
          <a:noFill/>
        </p:spPr>
        <p:txBody>
          <a:bodyPr wrap="none" lIns="12700" rIns="12700" tIns="12700" bIns="12700" anchor="t">
            <a:spAutoFit/>
          </a:bodyPr>
          <a:lstStyle/>
          <a:p>
            <a:pPr algn="l"/>
            <a:r>
              <a:rPr sz="1200" b="1">
                <a:solidFill>
                  <a:srgbClr val="101214"/>
                </a:solidFill>
                <a:latin typeface="Yu Gothic"/>
              </a:rPr>
              <a:t>反響取り込み、メール返信効率化</a:t>
            </a:r>
          </a:p>
        </p:txBody>
      </p:sp>
      <p:sp>
        <p:nvSpPr>
          <p:cNvPr id="17" name="Rounded Rectangle 16"/>
          <p:cNvSpPr/>
          <p:nvPr/>
        </p:nvSpPr>
        <p:spPr>
          <a:xfrm>
            <a:off x="667258" y="3181223"/>
            <a:ext cx="3718814" cy="1667129"/>
          </a:xfrm>
          <a:prstGeom prst="roundRect">
            <a:avLst/>
          </a:prstGeom>
          <a:solidFill>
            <a:srgbClr val="FFFFFF"/>
          </a:solidFill>
          <a:ln w="12700">
            <a:solidFill>
              <a:srgbClr val="CFD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57928" y="2896997"/>
            <a:ext cx="38227" cy="185801"/>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11090" y="2875153"/>
            <a:ext cx="3554729" cy="229615"/>
          </a:xfrm>
          <a:prstGeom prst="rect">
            <a:avLst/>
          </a:prstGeom>
          <a:noFill/>
        </p:spPr>
        <p:txBody>
          <a:bodyPr wrap="none" lIns="12700" rIns="12700" tIns="12700" bIns="12700" anchor="t">
            <a:spAutoFit/>
          </a:bodyPr>
          <a:lstStyle/>
          <a:p>
            <a:pPr algn="l"/>
            <a:r>
              <a:rPr sz="1000" b="1">
                <a:solidFill>
                  <a:srgbClr val="101214"/>
                </a:solidFill>
                <a:latin typeface="Yu Gothic"/>
              </a:rPr>
              <a:t>AIによる返信文作成、日程調整、各種データ検索</a:t>
            </a:r>
          </a:p>
        </p:txBody>
      </p:sp>
      <p:sp>
        <p:nvSpPr>
          <p:cNvPr id="20" name="Rounded Rectangle 19"/>
          <p:cNvSpPr/>
          <p:nvPr/>
        </p:nvSpPr>
        <p:spPr>
          <a:xfrm>
            <a:off x="4757928" y="3181223"/>
            <a:ext cx="3718814" cy="1667129"/>
          </a:xfrm>
          <a:prstGeom prst="roundRect">
            <a:avLst/>
          </a:prstGeom>
          <a:solidFill>
            <a:srgbClr val="FFFFFF"/>
          </a:solidFill>
          <a:ln w="12700">
            <a:solidFill>
              <a:srgbClr val="CFD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0612"/>
        </a:solidFill>
        <a:effectLst/>
      </p:bgPr>
    </p:bg>
    <p:spTree>
      <p:nvGrpSpPr>
        <p:cNvPr id="1" name=""/>
        <p:cNvGrpSpPr/>
        <p:nvPr/>
      </p:nvGrpSpPr>
      <p:grpSpPr/>
      <p:sp>
        <p:nvSpPr>
          <p:cNvPr id="2" name="TextBox 1"/>
          <p:cNvSpPr txBox="1"/>
          <p:nvPr/>
        </p:nvSpPr>
        <p:spPr>
          <a:xfrm>
            <a:off x="634365" y="1672589"/>
            <a:ext cx="1421892" cy="1038479"/>
          </a:xfrm>
          <a:prstGeom prst="rect">
            <a:avLst/>
          </a:prstGeom>
          <a:noFill/>
        </p:spPr>
        <p:txBody>
          <a:bodyPr wrap="none" lIns="12700" rIns="12700" tIns="12700" bIns="12700" anchor="t">
            <a:spAutoFit/>
          </a:bodyPr>
          <a:lstStyle/>
          <a:p>
            <a:pPr algn="l"/>
            <a:r>
              <a:rPr sz="10500" b="1">
                <a:solidFill>
                  <a:srgbClr val="FF9CA1"/>
                </a:solidFill>
                <a:latin typeface="Yu Gothic"/>
              </a:rPr>
              <a:t>03</a:t>
            </a:r>
          </a:p>
        </p:txBody>
      </p:sp>
      <p:sp>
        <p:nvSpPr>
          <p:cNvPr id="3" name="TextBox 2"/>
          <p:cNvSpPr txBox="1"/>
          <p:nvPr/>
        </p:nvSpPr>
        <p:spPr>
          <a:xfrm>
            <a:off x="2433701" y="2394077"/>
            <a:ext cx="5359527" cy="426339"/>
          </a:xfrm>
          <a:prstGeom prst="rect">
            <a:avLst/>
          </a:prstGeom>
          <a:noFill/>
        </p:spPr>
        <p:txBody>
          <a:bodyPr wrap="none" lIns="12700" rIns="12700" tIns="12700" bIns="12700" anchor="t">
            <a:spAutoFit/>
          </a:bodyPr>
          <a:lstStyle/>
          <a:p>
            <a:pPr algn="l"/>
            <a:r>
              <a:rPr sz="2700" b="1">
                <a:solidFill>
                  <a:srgbClr val="FFFFFF"/>
                </a:solidFill>
                <a:latin typeface="Yu Gothic"/>
              </a:rPr>
              <a:t>将来的な展望と今後の進め方</a:t>
            </a:r>
          </a:p>
        </p:txBody>
      </p:sp>
      <p:sp>
        <p:nvSpPr>
          <p:cNvPr id="4" name="Rectangle 3"/>
          <p:cNvSpPr/>
          <p:nvPr/>
        </p:nvSpPr>
        <p:spPr>
          <a:xfrm>
            <a:off x="2433701" y="2918841"/>
            <a:ext cx="1257808" cy="21844"/>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7F6"/>
        </a:solidFill>
        <a:effectLst/>
      </p:bgPr>
    </p:bg>
    <p:spTree>
      <p:nvGrpSpPr>
        <p:cNvPr id="1" name=""/>
        <p:cNvGrpSpPr/>
        <p:nvPr/>
      </p:nvGrpSpPr>
      <p:grpSpPr/>
      <p:sp>
        <p:nvSpPr>
          <p:cNvPr id="2" name="Rectangle 1"/>
          <p:cNvSpPr/>
          <p:nvPr/>
        </p:nvSpPr>
        <p:spPr>
          <a:xfrm>
            <a:off x="0" y="0"/>
            <a:ext cx="404749" cy="5143500"/>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491998"/>
            <a:ext cx="404749" cy="196723"/>
          </a:xfrm>
          <a:prstGeom prst="rect">
            <a:avLst/>
          </a:prstGeom>
          <a:noFill/>
        </p:spPr>
        <p:txBody>
          <a:bodyPr wrap="none" lIns="12700" rIns="12700" tIns="12700" bIns="12700" anchor="t">
            <a:spAutoFit/>
          </a:bodyPr>
          <a:lstStyle/>
          <a:p>
            <a:pPr algn="ctr"/>
            <a:r>
              <a:rPr sz="800" b="1">
                <a:solidFill>
                  <a:srgbClr val="FFFFFF"/>
                </a:solidFill>
                <a:latin typeface="Yu Gothic"/>
              </a:rPr>
              <a:t>Chapter3</a:t>
            </a:r>
          </a:p>
        </p:txBody>
      </p:sp>
      <p:sp>
        <p:nvSpPr>
          <p:cNvPr id="4" name="TextBox 3"/>
          <p:cNvSpPr txBox="1"/>
          <p:nvPr/>
        </p:nvSpPr>
        <p:spPr>
          <a:xfrm rot="5400000">
            <a:off x="-836803" y="3498215"/>
            <a:ext cx="2078227" cy="229615"/>
          </a:xfrm>
          <a:prstGeom prst="rect">
            <a:avLst/>
          </a:prstGeom>
          <a:noFill/>
        </p:spPr>
        <p:txBody>
          <a:bodyPr wrap="none" lIns="12700" rIns="12700" tIns="12700" bIns="12700" anchor="t">
            <a:spAutoFit/>
          </a:bodyPr>
          <a:lstStyle/>
          <a:p>
            <a:pPr algn="ctr"/>
            <a:r>
              <a:rPr sz="800" b="1">
                <a:solidFill>
                  <a:srgbClr val="FFFFFF"/>
                </a:solidFill>
                <a:latin typeface="Yu Gothic"/>
              </a:rPr>
              <a:t>Copyright @Field X inc.</a:t>
            </a:r>
          </a:p>
          <a:p>
            <a:pPr algn="ctr"/>
            <a:r>
              <a:rPr sz="800" b="1">
                <a:solidFill>
                  <a:srgbClr val="FFFFFF"/>
                </a:solidFill>
                <a:latin typeface="Yu Gothic"/>
              </a:rPr>
              <a:t>All rights reserved.</a:t>
            </a:r>
          </a:p>
        </p:txBody>
      </p:sp>
      <p:sp>
        <p:nvSpPr>
          <p:cNvPr id="5" name="TextBox 4"/>
          <p:cNvSpPr txBox="1"/>
          <p:nvPr/>
        </p:nvSpPr>
        <p:spPr>
          <a:xfrm>
            <a:off x="0" y="4646041"/>
            <a:ext cx="404749" cy="295148"/>
          </a:xfrm>
          <a:prstGeom prst="rect">
            <a:avLst/>
          </a:prstGeom>
          <a:noFill/>
        </p:spPr>
        <p:txBody>
          <a:bodyPr wrap="none" lIns="12700" rIns="12700" tIns="12700" bIns="12700" anchor="t">
            <a:spAutoFit/>
          </a:bodyPr>
          <a:lstStyle/>
          <a:p>
            <a:pPr algn="ctr"/>
            <a:r>
              <a:rPr sz="1700" b="1">
                <a:solidFill>
                  <a:srgbClr val="FFFFFF"/>
                </a:solidFill>
                <a:latin typeface="Yu Gothic"/>
              </a:rPr>
              <a:t>10</a:t>
            </a:r>
          </a:p>
        </p:txBody>
      </p:sp>
      <p:sp>
        <p:nvSpPr>
          <p:cNvPr id="6" name="TextBox 5"/>
          <p:cNvSpPr txBox="1"/>
          <p:nvPr/>
        </p:nvSpPr>
        <p:spPr>
          <a:xfrm>
            <a:off x="710946" y="109347"/>
            <a:ext cx="1367282" cy="185801"/>
          </a:xfrm>
          <a:prstGeom prst="rect">
            <a:avLst/>
          </a:prstGeom>
          <a:noFill/>
        </p:spPr>
        <p:txBody>
          <a:bodyPr wrap="none" lIns="12700" rIns="12700" tIns="12700" bIns="12700" anchor="t">
            <a:spAutoFit/>
          </a:bodyPr>
          <a:lstStyle/>
          <a:p>
            <a:pPr algn="l"/>
            <a:r>
              <a:rPr sz="1300" b="1">
                <a:solidFill>
                  <a:srgbClr val="F80612"/>
                </a:solidFill>
                <a:latin typeface="Yu Gothic"/>
              </a:rPr>
              <a:t>Chapter3</a:t>
            </a:r>
          </a:p>
        </p:txBody>
      </p:sp>
      <p:sp>
        <p:nvSpPr>
          <p:cNvPr id="7" name="TextBox 6"/>
          <p:cNvSpPr txBox="1"/>
          <p:nvPr/>
        </p:nvSpPr>
        <p:spPr>
          <a:xfrm>
            <a:off x="710946" y="306070"/>
            <a:ext cx="7000240" cy="327914"/>
          </a:xfrm>
          <a:prstGeom prst="rect">
            <a:avLst/>
          </a:prstGeom>
          <a:noFill/>
        </p:spPr>
        <p:txBody>
          <a:bodyPr wrap="none" lIns="12700" rIns="12700" tIns="12700" bIns="12700" anchor="t">
            <a:spAutoFit/>
          </a:bodyPr>
          <a:lstStyle/>
          <a:p>
            <a:pPr algn="l"/>
            <a:r>
              <a:rPr sz="2800" b="1">
                <a:solidFill>
                  <a:srgbClr val="101214"/>
                </a:solidFill>
                <a:latin typeface="Yu Gothic"/>
              </a:rPr>
              <a:t>弊社による今後のAI活用イメージ</a:t>
            </a:r>
          </a:p>
        </p:txBody>
      </p:sp>
      <p:sp>
        <p:nvSpPr>
          <p:cNvPr id="8" name="TextBox 7"/>
          <p:cNvSpPr txBox="1"/>
          <p:nvPr/>
        </p:nvSpPr>
        <p:spPr>
          <a:xfrm>
            <a:off x="710946" y="699643"/>
            <a:ext cx="7109586" cy="295148"/>
          </a:xfrm>
          <a:prstGeom prst="rect">
            <a:avLst/>
          </a:prstGeom>
          <a:noFill/>
        </p:spPr>
        <p:txBody>
          <a:bodyPr wrap="none" lIns="12700" rIns="12700" tIns="12700" bIns="12700" anchor="t">
            <a:spAutoFit/>
          </a:bodyPr>
          <a:lstStyle/>
          <a:p>
            <a:pPr algn="l"/>
            <a:r>
              <a:rPr sz="1100" b="1">
                <a:solidFill>
                  <a:srgbClr val="2D3338"/>
                </a:solidFill>
                <a:latin typeface="Yu Gothic"/>
              </a:rPr>
              <a:t>反響対応の自動化・社内データ検索・営業支援・書類自動化などの活用が見据えられます。</a:t>
            </a:r>
          </a:p>
        </p:txBody>
      </p:sp>
      <p:sp>
        <p:nvSpPr>
          <p:cNvPr id="9" name="Rounded Rectangle 8"/>
          <p:cNvSpPr/>
          <p:nvPr/>
        </p:nvSpPr>
        <p:spPr>
          <a:xfrm>
            <a:off x="710946" y="1257173"/>
            <a:ext cx="2592197" cy="721487"/>
          </a:xfrm>
          <a:prstGeom prst="roundRect">
            <a:avLst/>
          </a:prstGeom>
          <a:solidFill>
            <a:srgbClr val="FFFFFF"/>
          </a:solidFill>
          <a:ln w="12700">
            <a:solidFill>
              <a:srgbClr val="D9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2263" y="1382903"/>
            <a:ext cx="470281" cy="470027"/>
          </a:xfrm>
          <a:prstGeom prst="ellipse">
            <a:avLst/>
          </a:prstGeom>
          <a:solidFill>
            <a:srgbClr val="FFE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2_future_ai_reply.png"/>
          <p:cNvPicPr>
            <a:picLocks noChangeAspect="1"/>
          </p:cNvPicPr>
          <p:nvPr/>
        </p:nvPicPr>
        <p:blipFill>
          <a:blip r:embed="rId2"/>
          <a:stretch>
            <a:fillRect/>
          </a:stretch>
        </p:blipFill>
        <p:spPr>
          <a:xfrm>
            <a:off x="864108" y="1404747"/>
            <a:ext cx="426593" cy="426339"/>
          </a:xfrm>
          <a:prstGeom prst="rect">
            <a:avLst/>
          </a:prstGeom>
        </p:spPr>
      </p:pic>
      <p:sp>
        <p:nvSpPr>
          <p:cNvPr id="12" name="TextBox 11"/>
          <p:cNvSpPr txBox="1"/>
          <p:nvPr/>
        </p:nvSpPr>
        <p:spPr>
          <a:xfrm>
            <a:off x="1449197" y="1366520"/>
            <a:ext cx="1640713" cy="229615"/>
          </a:xfrm>
          <a:prstGeom prst="rect">
            <a:avLst/>
          </a:prstGeom>
          <a:noFill/>
        </p:spPr>
        <p:txBody>
          <a:bodyPr wrap="none" lIns="12700" rIns="12700" tIns="12700" bIns="12700" anchor="t">
            <a:spAutoFit/>
          </a:bodyPr>
          <a:lstStyle/>
          <a:p>
            <a:pPr algn="l"/>
            <a:r>
              <a:rPr sz="1200" b="1">
                <a:solidFill>
                  <a:srgbClr val="101214"/>
                </a:solidFill>
                <a:latin typeface="Yu Gothic"/>
              </a:rPr>
              <a:t>AIによる入居者問い合わせ対応の自動化へ</a:t>
            </a:r>
          </a:p>
        </p:txBody>
      </p:sp>
      <p:sp>
        <p:nvSpPr>
          <p:cNvPr id="13" name="Rectangle 12"/>
          <p:cNvSpPr/>
          <p:nvPr/>
        </p:nvSpPr>
        <p:spPr>
          <a:xfrm>
            <a:off x="1449197" y="1661668"/>
            <a:ext cx="792988" cy="10922"/>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49197" y="1716277"/>
            <a:ext cx="1668018" cy="218694"/>
          </a:xfrm>
          <a:prstGeom prst="rect">
            <a:avLst/>
          </a:prstGeom>
          <a:noFill/>
        </p:spPr>
        <p:txBody>
          <a:bodyPr wrap="none" lIns="12700" rIns="12700" tIns="12700" bIns="12700" anchor="t">
            <a:spAutoFit/>
          </a:bodyPr>
          <a:lstStyle/>
          <a:p>
            <a:pPr algn="l"/>
            <a:r>
              <a:rPr sz="700" b="1">
                <a:solidFill>
                  <a:srgbClr val="2D3338"/>
                </a:solidFill>
                <a:latin typeface="Yu Gothic"/>
              </a:rPr>
              <a:t>入居者からの電話やチャットによる問い合わせ対応を自動化します。</a:t>
            </a:r>
          </a:p>
        </p:txBody>
      </p:sp>
      <p:sp>
        <p:nvSpPr>
          <p:cNvPr id="15" name="Rounded Rectangle 14"/>
          <p:cNvSpPr/>
          <p:nvPr/>
        </p:nvSpPr>
        <p:spPr>
          <a:xfrm>
            <a:off x="5468874" y="1257173"/>
            <a:ext cx="2592197" cy="721487"/>
          </a:xfrm>
          <a:prstGeom prst="roundRect">
            <a:avLst/>
          </a:prstGeom>
          <a:solidFill>
            <a:srgbClr val="FFFFFF"/>
          </a:solidFill>
          <a:ln w="12700">
            <a:solidFill>
              <a:srgbClr val="D9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00192" y="1382903"/>
            <a:ext cx="470281" cy="470027"/>
          </a:xfrm>
          <a:prstGeom prst="ellipse">
            <a:avLst/>
          </a:prstGeom>
          <a:solidFill>
            <a:srgbClr val="FFE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mage2_future_search.png"/>
          <p:cNvPicPr>
            <a:picLocks noChangeAspect="1"/>
          </p:cNvPicPr>
          <p:nvPr/>
        </p:nvPicPr>
        <p:blipFill>
          <a:blip r:embed="rId3"/>
          <a:stretch>
            <a:fillRect/>
          </a:stretch>
        </p:blipFill>
        <p:spPr>
          <a:xfrm>
            <a:off x="5622036" y="1404747"/>
            <a:ext cx="426593" cy="426339"/>
          </a:xfrm>
          <a:prstGeom prst="rect">
            <a:avLst/>
          </a:prstGeom>
        </p:spPr>
      </p:pic>
      <p:sp>
        <p:nvSpPr>
          <p:cNvPr id="18" name="TextBox 17"/>
          <p:cNvSpPr txBox="1"/>
          <p:nvPr/>
        </p:nvSpPr>
        <p:spPr>
          <a:xfrm>
            <a:off x="6207252" y="1366520"/>
            <a:ext cx="1640713" cy="229615"/>
          </a:xfrm>
          <a:prstGeom prst="rect">
            <a:avLst/>
          </a:prstGeom>
          <a:noFill/>
        </p:spPr>
        <p:txBody>
          <a:bodyPr wrap="none" lIns="12700" rIns="12700" tIns="12700" bIns="12700" anchor="t">
            <a:spAutoFit/>
          </a:bodyPr>
          <a:lstStyle/>
          <a:p>
            <a:pPr algn="l"/>
            <a:r>
              <a:rPr sz="1200" b="1">
                <a:solidFill>
                  <a:srgbClr val="101214"/>
                </a:solidFill>
                <a:latin typeface="Yu Gothic"/>
              </a:rPr>
              <a:t>社内データの横断検索</a:t>
            </a:r>
          </a:p>
        </p:txBody>
      </p:sp>
      <p:sp>
        <p:nvSpPr>
          <p:cNvPr id="19" name="Rectangle 18"/>
          <p:cNvSpPr/>
          <p:nvPr/>
        </p:nvSpPr>
        <p:spPr>
          <a:xfrm>
            <a:off x="6207252" y="1661668"/>
            <a:ext cx="792988" cy="10922"/>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07252" y="1716277"/>
            <a:ext cx="1668018" cy="218694"/>
          </a:xfrm>
          <a:prstGeom prst="rect">
            <a:avLst/>
          </a:prstGeom>
          <a:noFill/>
        </p:spPr>
        <p:txBody>
          <a:bodyPr wrap="none" lIns="12700" rIns="12700" tIns="12700" bIns="12700" anchor="t">
            <a:spAutoFit/>
          </a:bodyPr>
          <a:lstStyle/>
          <a:p>
            <a:pPr algn="l"/>
            <a:r>
              <a:rPr sz="700" b="1">
                <a:solidFill>
                  <a:srgbClr val="2D3338"/>
                </a:solidFill>
                <a:latin typeface="Yu Gothic"/>
              </a:rPr>
              <a:t>物件・顧客・契約・対応履歴を横断検索し、必要情報へすばやくアクセス。資料等の自動作成。</a:t>
            </a:r>
          </a:p>
        </p:txBody>
      </p:sp>
      <p:sp>
        <p:nvSpPr>
          <p:cNvPr id="21" name="Rounded Rectangle 20"/>
          <p:cNvSpPr/>
          <p:nvPr/>
        </p:nvSpPr>
        <p:spPr>
          <a:xfrm>
            <a:off x="710946" y="3006344"/>
            <a:ext cx="2592197" cy="721487"/>
          </a:xfrm>
          <a:prstGeom prst="roundRect">
            <a:avLst/>
          </a:prstGeom>
          <a:solidFill>
            <a:srgbClr val="FFFFFF"/>
          </a:solidFill>
          <a:ln w="12700">
            <a:solidFill>
              <a:srgbClr val="D9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42263" y="3132074"/>
            <a:ext cx="470281" cy="470027"/>
          </a:xfrm>
          <a:prstGeom prst="ellipse">
            <a:avLst/>
          </a:prstGeom>
          <a:solidFill>
            <a:srgbClr val="FFE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2_proposal_extension_ai.png"/>
          <p:cNvPicPr>
            <a:picLocks noChangeAspect="1"/>
          </p:cNvPicPr>
          <p:nvPr/>
        </p:nvPicPr>
        <p:blipFill>
          <a:blip r:embed="rId4"/>
          <a:stretch>
            <a:fillRect/>
          </a:stretch>
        </p:blipFill>
        <p:spPr>
          <a:xfrm>
            <a:off x="864108" y="3153918"/>
            <a:ext cx="426593" cy="426339"/>
          </a:xfrm>
          <a:prstGeom prst="rect">
            <a:avLst/>
          </a:prstGeom>
        </p:spPr>
      </p:pic>
      <p:sp>
        <p:nvSpPr>
          <p:cNvPr id="24" name="TextBox 23"/>
          <p:cNvSpPr txBox="1"/>
          <p:nvPr/>
        </p:nvSpPr>
        <p:spPr>
          <a:xfrm>
            <a:off x="1449197" y="3115564"/>
            <a:ext cx="1640713" cy="229615"/>
          </a:xfrm>
          <a:prstGeom prst="rect">
            <a:avLst/>
          </a:prstGeom>
          <a:noFill/>
        </p:spPr>
        <p:txBody>
          <a:bodyPr wrap="none" lIns="12700" rIns="12700" tIns="12700" bIns="12700" anchor="t">
            <a:spAutoFit/>
          </a:bodyPr>
          <a:lstStyle/>
          <a:p>
            <a:pPr algn="l"/>
            <a:r>
              <a:rPr sz="1200" b="1">
                <a:solidFill>
                  <a:srgbClr val="101214"/>
                </a:solidFill>
                <a:latin typeface="Yu Gothic"/>
              </a:rPr>
              <a:t>営業支援への展開</a:t>
            </a:r>
          </a:p>
        </p:txBody>
      </p:sp>
      <p:sp>
        <p:nvSpPr>
          <p:cNvPr id="25" name="Rectangle 24"/>
          <p:cNvSpPr/>
          <p:nvPr/>
        </p:nvSpPr>
        <p:spPr>
          <a:xfrm>
            <a:off x="1449197" y="3410839"/>
            <a:ext cx="792988" cy="10922"/>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49197" y="3465449"/>
            <a:ext cx="1668018" cy="218694"/>
          </a:xfrm>
          <a:prstGeom prst="rect">
            <a:avLst/>
          </a:prstGeom>
          <a:noFill/>
        </p:spPr>
        <p:txBody>
          <a:bodyPr wrap="none" lIns="12700" rIns="12700" tIns="12700" bIns="12700" anchor="t">
            <a:spAutoFit/>
          </a:bodyPr>
          <a:lstStyle/>
          <a:p>
            <a:pPr algn="l"/>
            <a:r>
              <a:rPr sz="700" b="1">
                <a:solidFill>
                  <a:srgbClr val="2D3338"/>
                </a:solidFill>
                <a:latin typeface="Yu Gothic"/>
              </a:rPr>
              <a:t>AIエージェントがオーナー様訪問前の必要情報を整理。営業準備時間を削減し、修繕などオーナー様のご意向に寄り添った提案を素早く行えます。</a:t>
            </a:r>
          </a:p>
        </p:txBody>
      </p:sp>
      <p:sp>
        <p:nvSpPr>
          <p:cNvPr id="27" name="Rounded Rectangle 26"/>
          <p:cNvSpPr/>
          <p:nvPr/>
        </p:nvSpPr>
        <p:spPr>
          <a:xfrm>
            <a:off x="5468874" y="3006344"/>
            <a:ext cx="2592197" cy="721487"/>
          </a:xfrm>
          <a:prstGeom prst="roundRect">
            <a:avLst/>
          </a:prstGeom>
          <a:solidFill>
            <a:srgbClr val="FFFFFF"/>
          </a:solidFill>
          <a:ln w="12700">
            <a:solidFill>
              <a:srgbClr val="D9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600192" y="3132074"/>
            <a:ext cx="470281" cy="470027"/>
          </a:xfrm>
          <a:prstGeom prst="ellipse">
            <a:avLst/>
          </a:prstGeom>
          <a:solidFill>
            <a:srgbClr val="FFE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2_future_documents.png"/>
          <p:cNvPicPr>
            <a:picLocks noChangeAspect="1"/>
          </p:cNvPicPr>
          <p:nvPr/>
        </p:nvPicPr>
        <p:blipFill>
          <a:blip r:embed="rId5"/>
          <a:stretch>
            <a:fillRect/>
          </a:stretch>
        </p:blipFill>
        <p:spPr>
          <a:xfrm>
            <a:off x="5622036" y="3153918"/>
            <a:ext cx="426593" cy="426339"/>
          </a:xfrm>
          <a:prstGeom prst="rect">
            <a:avLst/>
          </a:prstGeom>
        </p:spPr>
      </p:pic>
      <p:sp>
        <p:nvSpPr>
          <p:cNvPr id="30" name="TextBox 29"/>
          <p:cNvSpPr txBox="1"/>
          <p:nvPr/>
        </p:nvSpPr>
        <p:spPr>
          <a:xfrm>
            <a:off x="6207252" y="3115564"/>
            <a:ext cx="1640713" cy="229615"/>
          </a:xfrm>
          <a:prstGeom prst="rect">
            <a:avLst/>
          </a:prstGeom>
          <a:noFill/>
        </p:spPr>
        <p:txBody>
          <a:bodyPr wrap="none" lIns="12700" rIns="12700" tIns="12700" bIns="12700" anchor="t">
            <a:spAutoFit/>
          </a:bodyPr>
          <a:lstStyle/>
          <a:p>
            <a:pPr algn="l"/>
            <a:r>
              <a:rPr sz="1200" b="1">
                <a:solidFill>
                  <a:srgbClr val="101214"/>
                </a:solidFill>
                <a:latin typeface="Yu Gothic"/>
              </a:rPr>
              <a:t>AIによる書類活用・自動化</a:t>
            </a:r>
          </a:p>
        </p:txBody>
      </p:sp>
      <p:sp>
        <p:nvSpPr>
          <p:cNvPr id="31" name="Rectangle 30"/>
          <p:cNvSpPr/>
          <p:nvPr/>
        </p:nvSpPr>
        <p:spPr>
          <a:xfrm>
            <a:off x="6207252" y="3410839"/>
            <a:ext cx="792988" cy="10922"/>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07252" y="3465449"/>
            <a:ext cx="1668018" cy="218694"/>
          </a:xfrm>
          <a:prstGeom prst="rect">
            <a:avLst/>
          </a:prstGeom>
          <a:noFill/>
        </p:spPr>
        <p:txBody>
          <a:bodyPr wrap="none" lIns="12700" rIns="12700" tIns="12700" bIns="12700" anchor="t">
            <a:spAutoFit/>
          </a:bodyPr>
          <a:lstStyle/>
          <a:p>
            <a:pPr algn="l"/>
            <a:r>
              <a:rPr sz="700" b="1">
                <a:solidFill>
                  <a:srgbClr val="2D3338"/>
                </a:solidFill>
                <a:latin typeface="Yu Gothic"/>
              </a:rPr>
              <a:t>契約書・請求書等をデータ化し、検索・要約・自動作成に活用。</a:t>
            </a:r>
          </a:p>
        </p:txBody>
      </p:sp>
      <p:sp>
        <p:nvSpPr>
          <p:cNvPr id="33" name="Oval 32"/>
          <p:cNvSpPr/>
          <p:nvPr/>
        </p:nvSpPr>
        <p:spPr>
          <a:xfrm>
            <a:off x="3981323" y="1934972"/>
            <a:ext cx="1181227" cy="1180592"/>
          </a:xfrm>
          <a:prstGeom prst="ellipse">
            <a:avLst/>
          </a:prstGeom>
          <a:solidFill>
            <a:srgbClr val="F80612"/>
          </a:solidFill>
          <a:ln w="1778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17.png"/>
          <p:cNvPicPr>
            <a:picLocks noChangeAspect="1"/>
          </p:cNvPicPr>
          <p:nvPr/>
        </p:nvPicPr>
        <p:blipFill>
          <a:blip r:embed="rId6"/>
          <a:stretch>
            <a:fillRect/>
          </a:stretch>
        </p:blipFill>
        <p:spPr>
          <a:xfrm>
            <a:off x="4243832" y="2055241"/>
            <a:ext cx="656209" cy="655955"/>
          </a:xfrm>
          <a:prstGeom prst="rect">
            <a:avLst/>
          </a:prstGeom>
        </p:spPr>
      </p:pic>
      <p:sp>
        <p:nvSpPr>
          <p:cNvPr id="35" name="TextBox 34"/>
          <p:cNvSpPr txBox="1"/>
          <p:nvPr/>
        </p:nvSpPr>
        <p:spPr>
          <a:xfrm>
            <a:off x="3981323" y="2667381"/>
            <a:ext cx="1181227" cy="273304"/>
          </a:xfrm>
          <a:prstGeom prst="rect">
            <a:avLst/>
          </a:prstGeom>
          <a:noFill/>
        </p:spPr>
        <p:txBody>
          <a:bodyPr wrap="none" lIns="12700" rIns="12700" tIns="12700" bIns="12700" anchor="t">
            <a:spAutoFit/>
          </a:bodyPr>
          <a:lstStyle/>
          <a:p>
            <a:pPr algn="ctr"/>
            <a:r>
              <a:rPr sz="1400" b="1">
                <a:solidFill>
                  <a:srgbClr val="FFFFFF"/>
                </a:solidFill>
                <a:latin typeface="Yu Gothic"/>
              </a:rPr>
              <a:t>基幹データ</a:t>
            </a:r>
          </a:p>
        </p:txBody>
      </p:sp>
      <p:sp>
        <p:nvSpPr>
          <p:cNvPr id="36" name="Rounded Rectangle 35"/>
          <p:cNvSpPr/>
          <p:nvPr/>
        </p:nvSpPr>
        <p:spPr>
          <a:xfrm>
            <a:off x="864108" y="4427474"/>
            <a:ext cx="7328281" cy="459105"/>
          </a:xfrm>
          <a:prstGeom prst="roundRect">
            <a:avLst/>
          </a:prstGeom>
          <a:solidFill>
            <a:srgbClr val="FFF3F3"/>
          </a:solidFill>
          <a:ln w="254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367282" y="4503928"/>
            <a:ext cx="6343904" cy="273304"/>
          </a:xfrm>
          <a:prstGeom prst="rect">
            <a:avLst/>
          </a:prstGeom>
          <a:noFill/>
        </p:spPr>
        <p:txBody>
          <a:bodyPr wrap="none" lIns="12700" rIns="12700" tIns="12700" bIns="12700" anchor="t">
            <a:spAutoFit/>
          </a:bodyP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7F6"/>
        </a:solidFill>
        <a:effectLst/>
      </p:bgPr>
    </p:bg>
    <p:spTree>
      <p:nvGrpSpPr>
        <p:cNvPr id="1" name=""/>
        <p:cNvGrpSpPr/>
        <p:nvPr/>
      </p:nvGrpSpPr>
      <p:grpSpPr/>
      <p:sp>
        <p:nvSpPr>
          <p:cNvPr id="2" name="Rectangle 1"/>
          <p:cNvSpPr/>
          <p:nvPr/>
        </p:nvSpPr>
        <p:spPr>
          <a:xfrm>
            <a:off x="0" y="0"/>
            <a:ext cx="404749" cy="5143500"/>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491998"/>
            <a:ext cx="404749" cy="196723"/>
          </a:xfrm>
          <a:prstGeom prst="rect">
            <a:avLst/>
          </a:prstGeom>
          <a:noFill/>
        </p:spPr>
        <p:txBody>
          <a:bodyPr wrap="none" lIns="12700" rIns="12700" tIns="12700" bIns="12700" anchor="t">
            <a:spAutoFit/>
          </a:bodyPr>
          <a:lstStyle/>
          <a:p>
            <a:pPr algn="ctr"/>
            <a:r>
              <a:rPr sz="800" b="1">
                <a:solidFill>
                  <a:srgbClr val="FFFFFF"/>
                </a:solidFill>
                <a:latin typeface="Yu Gothic"/>
              </a:rPr>
              <a:t>Chapter3</a:t>
            </a:r>
          </a:p>
        </p:txBody>
      </p:sp>
      <p:sp>
        <p:nvSpPr>
          <p:cNvPr id="4" name="TextBox 3"/>
          <p:cNvSpPr txBox="1"/>
          <p:nvPr/>
        </p:nvSpPr>
        <p:spPr>
          <a:xfrm rot="5400000">
            <a:off x="-836803" y="3498215"/>
            <a:ext cx="2078227" cy="229615"/>
          </a:xfrm>
          <a:prstGeom prst="rect">
            <a:avLst/>
          </a:prstGeom>
          <a:noFill/>
        </p:spPr>
        <p:txBody>
          <a:bodyPr wrap="none" lIns="12700" rIns="12700" tIns="12700" bIns="12700" anchor="t">
            <a:spAutoFit/>
          </a:bodyPr>
          <a:lstStyle/>
          <a:p>
            <a:pPr algn="ctr"/>
            <a:r>
              <a:rPr sz="800" b="1">
                <a:solidFill>
                  <a:srgbClr val="FFFFFF"/>
                </a:solidFill>
                <a:latin typeface="Yu Gothic"/>
              </a:rPr>
              <a:t>Copyright @Field X inc.</a:t>
            </a:r>
          </a:p>
          <a:p>
            <a:pPr algn="ctr"/>
            <a:r>
              <a:rPr sz="800" b="1">
                <a:solidFill>
                  <a:srgbClr val="FFFFFF"/>
                </a:solidFill>
                <a:latin typeface="Yu Gothic"/>
              </a:rPr>
              <a:t>All rights reserved.</a:t>
            </a:r>
          </a:p>
        </p:txBody>
      </p:sp>
      <p:sp>
        <p:nvSpPr>
          <p:cNvPr id="5" name="TextBox 4"/>
          <p:cNvSpPr txBox="1"/>
          <p:nvPr/>
        </p:nvSpPr>
        <p:spPr>
          <a:xfrm>
            <a:off x="0" y="4646041"/>
            <a:ext cx="404749" cy="295148"/>
          </a:xfrm>
          <a:prstGeom prst="rect">
            <a:avLst/>
          </a:prstGeom>
          <a:noFill/>
        </p:spPr>
        <p:txBody>
          <a:bodyPr wrap="none" lIns="12700" rIns="12700" tIns="12700" bIns="12700" anchor="t">
            <a:spAutoFit/>
          </a:bodyPr>
          <a:lstStyle/>
          <a:p>
            <a:pPr algn="ctr"/>
            <a:r>
              <a:rPr sz="1700" b="1">
                <a:solidFill>
                  <a:srgbClr val="FFFFFF"/>
                </a:solidFill>
                <a:latin typeface="Yu Gothic"/>
              </a:rPr>
              <a:t>11</a:t>
            </a:r>
          </a:p>
        </p:txBody>
      </p:sp>
      <p:sp>
        <p:nvSpPr>
          <p:cNvPr id="6" name="TextBox 5"/>
          <p:cNvSpPr txBox="1"/>
          <p:nvPr/>
        </p:nvSpPr>
        <p:spPr>
          <a:xfrm>
            <a:off x="700024" y="262382"/>
            <a:ext cx="1421892" cy="185801"/>
          </a:xfrm>
          <a:prstGeom prst="rect">
            <a:avLst/>
          </a:prstGeom>
          <a:noFill/>
        </p:spPr>
        <p:txBody>
          <a:bodyPr wrap="none" lIns="12700" rIns="12700" tIns="12700" bIns="12700" anchor="t">
            <a:spAutoFit/>
          </a:bodyPr>
          <a:lstStyle/>
          <a:p>
            <a:pPr algn="l"/>
            <a:r>
              <a:rPr sz="1300" b="1">
                <a:solidFill>
                  <a:srgbClr val="F80612"/>
                </a:solidFill>
                <a:latin typeface="Yu Gothic"/>
              </a:rPr>
              <a:t>Chapter3</a:t>
            </a:r>
          </a:p>
        </p:txBody>
      </p:sp>
      <p:sp>
        <p:nvSpPr>
          <p:cNvPr id="7" name="TextBox 6"/>
          <p:cNvSpPr txBox="1"/>
          <p:nvPr/>
        </p:nvSpPr>
        <p:spPr>
          <a:xfrm>
            <a:off x="700024" y="480948"/>
            <a:ext cx="3937635" cy="327914"/>
          </a:xfrm>
          <a:prstGeom prst="rect">
            <a:avLst/>
          </a:prstGeom>
          <a:noFill/>
        </p:spPr>
        <p:txBody>
          <a:bodyPr wrap="none" lIns="12700" rIns="12700" tIns="12700" bIns="12700" anchor="t">
            <a:spAutoFit/>
          </a:bodyPr>
          <a:lstStyle/>
          <a:p>
            <a:pPr algn="l"/>
            <a:r>
              <a:rPr sz="2600" b="1">
                <a:solidFill>
                  <a:srgbClr val="101214"/>
                </a:solidFill>
                <a:latin typeface="Yu Gothic"/>
              </a:rPr>
              <a:t>今後の進め方</a:t>
            </a:r>
          </a:p>
        </p:txBody>
      </p:sp>
      <p:sp>
        <p:nvSpPr>
          <p:cNvPr id="8" name="TextBox 7"/>
          <p:cNvSpPr txBox="1"/>
          <p:nvPr/>
        </p:nvSpPr>
        <p:spPr>
          <a:xfrm>
            <a:off x="700024" y="901827"/>
            <a:ext cx="7109586" cy="295148"/>
          </a:xfrm>
          <a:prstGeom prst="rect">
            <a:avLst/>
          </a:prstGeom>
          <a:noFill/>
        </p:spPr>
        <p:txBody>
          <a:bodyPr wrap="none" lIns="12700" rIns="12700" tIns="12700" bIns="12700" anchor="t">
            <a:spAutoFit/>
          </a:bodyPr>
          <a:lstStyle/>
          <a:p>
            <a:pPr algn="l"/>
            <a:r>
              <a:rPr sz="1000" b="1">
                <a:solidFill>
                  <a:srgbClr val="2D3338"/>
                </a:solidFill>
                <a:latin typeface="Yu Gothic"/>
              </a:rPr>
              <a:t>Chapter3</a:t>
            </a:r>
          </a:p>
        </p:txBody>
      </p:sp>
      <p:sp>
        <p:nvSpPr>
          <p:cNvPr id="9" name="Rounded Rectangle 8"/>
          <p:cNvSpPr/>
          <p:nvPr/>
        </p:nvSpPr>
        <p:spPr>
          <a:xfrm>
            <a:off x="700024" y="1393825"/>
            <a:ext cx="7765796" cy="34436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39113" y="1634363"/>
            <a:ext cx="612521" cy="612140"/>
          </a:xfrm>
          <a:prstGeom prst="ellipse">
            <a:avLst/>
          </a:prstGeom>
          <a:solidFill>
            <a:srgbClr val="FFFFFF"/>
          </a:solidFill>
          <a:ln w="508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9113" y="1781937"/>
            <a:ext cx="612521" cy="306070"/>
          </a:xfrm>
          <a:prstGeom prst="rect">
            <a:avLst/>
          </a:prstGeom>
          <a:noFill/>
        </p:spPr>
        <p:txBody>
          <a:bodyPr wrap="none" lIns="12700" rIns="12700" tIns="12700" bIns="12700" anchor="t">
            <a:spAutoFit/>
          </a:bodyPr>
          <a:lstStyle/>
          <a:p>
            <a:pPr algn="ctr"/>
            <a:r>
              <a:rPr sz="2000" b="1">
                <a:solidFill>
                  <a:srgbClr val="F80612"/>
                </a:solidFill>
                <a:latin typeface="Yu Gothic"/>
              </a:rPr>
              <a:t>01</a:t>
            </a:r>
          </a:p>
        </p:txBody>
      </p:sp>
      <p:cxnSp>
        <p:nvCxnSpPr>
          <p:cNvPr id="12" name="Connector 11"/>
          <p:cNvCxnSpPr/>
          <p:nvPr/>
        </p:nvCxnSpPr>
        <p:spPr>
          <a:xfrm>
            <a:off x="1651635" y="1940433"/>
            <a:ext cx="557784" cy="0"/>
          </a:xfrm>
          <a:prstGeom prst="line">
            <a:avLst/>
          </a:prstGeom>
          <a:ln w="25400">
            <a:solidFill>
              <a:srgbClr val="FF7474"/>
            </a:solidFill>
            <a:prstDash val="solid"/>
          </a:ln>
        </p:spPr>
        <p:style>
          <a:lnRef idx="2">
            <a:schemeClr val="accent1"/>
          </a:lnRef>
          <a:fillRef idx="0">
            <a:schemeClr val="accent1"/>
          </a:fillRef>
          <a:effectRef idx="1">
            <a:schemeClr val="accent1"/>
          </a:effectRef>
          <a:fontRef idx="minor">
            <a:schemeClr val="tx1"/>
          </a:fontRef>
        </p:style>
      </p:cxnSp>
      <p:sp>
        <p:nvSpPr>
          <p:cNvPr id="13" name="Right Arrow 12"/>
          <p:cNvSpPr/>
          <p:nvPr/>
        </p:nvSpPr>
        <p:spPr>
          <a:xfrm>
            <a:off x="765683" y="2404999"/>
            <a:ext cx="1028191" cy="459105"/>
          </a:xfrm>
          <a:prstGeom prst="rightArrow">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0293" y="2487041"/>
            <a:ext cx="907796" cy="284226"/>
          </a:xfrm>
          <a:prstGeom prst="rect">
            <a:avLst/>
          </a:prstGeom>
          <a:noFill/>
        </p:spPr>
        <p:txBody>
          <a:bodyPr wrap="none" lIns="12700" rIns="12700" tIns="12700" bIns="12700" anchor="t">
            <a:spAutoFit/>
          </a:bodyPr>
          <a:lstStyle/>
          <a:p>
            <a:pPr algn="ctr"/>
            <a:r>
              <a:rPr sz="1100" b="1">
                <a:solidFill>
                  <a:srgbClr val="FFFFFF"/>
                </a:solidFill>
                <a:latin typeface="Yu Gothic"/>
              </a:rPr>
              <a:t>ご契約</a:t>
            </a:r>
          </a:p>
        </p:txBody>
      </p:sp>
      <p:sp>
        <p:nvSpPr>
          <p:cNvPr id="15" name="Rounded Rectangle 14"/>
          <p:cNvSpPr/>
          <p:nvPr/>
        </p:nvSpPr>
        <p:spPr>
          <a:xfrm>
            <a:off x="820293" y="3050032"/>
            <a:ext cx="1028191" cy="1322832"/>
          </a:xfrm>
          <a:prstGeom prst="roundRect">
            <a:avLst/>
          </a:prstGeom>
          <a:solidFill>
            <a:srgbClr val="FFF7F7"/>
          </a:solidFill>
          <a:ln w="12700">
            <a:solidFill>
              <a:srgbClr val="F2C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0293" y="3050032"/>
            <a:ext cx="27305" cy="1322832"/>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2335" y="3142996"/>
            <a:ext cx="853186" cy="1093216"/>
          </a:xfrm>
          <a:prstGeom prst="rect">
            <a:avLst/>
          </a:prstGeom>
          <a:noFill/>
        </p:spPr>
        <p:txBody>
          <a:bodyPr wrap="none" lIns="12700" rIns="12700" tIns="12700" bIns="12700" anchor="t">
            <a:spAutoFit/>
          </a:bodyPr>
          <a:lstStyle/>
          <a:p>
            <a:pPr algn="l"/>
            <a:r>
              <a:rPr sz="700" b="1">
                <a:solidFill>
                  <a:srgbClr val="24282C"/>
                </a:solidFill>
                <a:latin typeface="Yu Gothic"/>
              </a:rPr>
              <a:t>繁忙期であると推察されますので、現場の混乱をできる限り避けながら、下記の流れで円滑に進行します。</a:t>
            </a:r>
          </a:p>
        </p:txBody>
      </p:sp>
      <p:sp>
        <p:nvSpPr>
          <p:cNvPr id="18" name="Oval 17"/>
          <p:cNvSpPr/>
          <p:nvPr/>
        </p:nvSpPr>
        <p:spPr>
          <a:xfrm>
            <a:off x="2209419" y="1634363"/>
            <a:ext cx="612521" cy="612140"/>
          </a:xfrm>
          <a:prstGeom prst="ellipse">
            <a:avLst/>
          </a:prstGeom>
          <a:solidFill>
            <a:srgbClr val="FFFFFF"/>
          </a:solidFill>
          <a:ln w="508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09419" y="1781937"/>
            <a:ext cx="612521" cy="306070"/>
          </a:xfrm>
          <a:prstGeom prst="rect">
            <a:avLst/>
          </a:prstGeom>
          <a:noFill/>
        </p:spPr>
        <p:txBody>
          <a:bodyPr wrap="none" lIns="12700" rIns="12700" tIns="12700" bIns="12700" anchor="t">
            <a:spAutoFit/>
          </a:bodyPr>
          <a:lstStyle/>
          <a:p>
            <a:pPr algn="ctr"/>
            <a:r>
              <a:rPr sz="2000" b="1">
                <a:solidFill>
                  <a:srgbClr val="F80612"/>
                </a:solidFill>
                <a:latin typeface="Yu Gothic"/>
              </a:rPr>
              <a:t>02</a:t>
            </a:r>
          </a:p>
        </p:txBody>
      </p:sp>
      <p:cxnSp>
        <p:nvCxnSpPr>
          <p:cNvPr id="20" name="Connector 19"/>
          <p:cNvCxnSpPr/>
          <p:nvPr/>
        </p:nvCxnSpPr>
        <p:spPr>
          <a:xfrm>
            <a:off x="2821940" y="1940433"/>
            <a:ext cx="557784" cy="0"/>
          </a:xfrm>
          <a:prstGeom prst="line">
            <a:avLst/>
          </a:prstGeom>
          <a:ln w="25400">
            <a:solidFill>
              <a:srgbClr val="FF7474"/>
            </a:solidFill>
            <a:prstDash val="solid"/>
          </a:ln>
        </p:spPr>
        <p:style>
          <a:lnRef idx="2">
            <a:schemeClr val="accent1"/>
          </a:lnRef>
          <a:fillRef idx="0">
            <a:schemeClr val="accent1"/>
          </a:fillRef>
          <a:effectRef idx="1">
            <a:schemeClr val="accent1"/>
          </a:effectRef>
          <a:fontRef idx="minor">
            <a:schemeClr val="tx1"/>
          </a:fontRef>
        </p:style>
      </p:cxnSp>
      <p:sp>
        <p:nvSpPr>
          <p:cNvPr id="21" name="Right Arrow 20"/>
          <p:cNvSpPr/>
          <p:nvPr/>
        </p:nvSpPr>
        <p:spPr>
          <a:xfrm>
            <a:off x="1935988" y="2404999"/>
            <a:ext cx="1028191" cy="459105"/>
          </a:xfrm>
          <a:prstGeom prst="rightArrow">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90725" y="2487041"/>
            <a:ext cx="907796" cy="284226"/>
          </a:xfrm>
          <a:prstGeom prst="rect">
            <a:avLst/>
          </a:prstGeom>
          <a:noFill/>
        </p:spPr>
        <p:txBody>
          <a:bodyPr wrap="none" lIns="12700" rIns="12700" tIns="12700" bIns="12700" anchor="t">
            <a:spAutoFit/>
          </a:bodyPr>
          <a:lstStyle/>
          <a:p>
            <a:pPr algn="ctr"/>
            <a:r>
              <a:rPr sz="1100" b="1">
                <a:solidFill>
                  <a:srgbClr val="FFFFFF"/>
                </a:solidFill>
                <a:latin typeface="Yu Gothic"/>
              </a:rPr>
              <a:t>進め方の確認</a:t>
            </a:r>
          </a:p>
        </p:txBody>
      </p:sp>
      <p:sp>
        <p:nvSpPr>
          <p:cNvPr id="23" name="Rounded Rectangle 22"/>
          <p:cNvSpPr/>
          <p:nvPr/>
        </p:nvSpPr>
        <p:spPr>
          <a:xfrm>
            <a:off x="1990725" y="3050032"/>
            <a:ext cx="1028191" cy="1322832"/>
          </a:xfrm>
          <a:prstGeom prst="roundRect">
            <a:avLst/>
          </a:prstGeom>
          <a:solidFill>
            <a:srgbClr val="FFF7F7"/>
          </a:solidFill>
          <a:ln w="12700">
            <a:solidFill>
              <a:srgbClr val="F2C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990725" y="3050032"/>
            <a:ext cx="27305" cy="1322832"/>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072767" y="3142996"/>
            <a:ext cx="853186" cy="1093216"/>
          </a:xfrm>
          <a:prstGeom prst="rect">
            <a:avLst/>
          </a:prstGeom>
          <a:noFill/>
        </p:spPr>
        <p:txBody>
          <a:bodyPr wrap="none" lIns="12700" rIns="12700" tIns="12700" bIns="12700" anchor="t">
            <a:spAutoFit/>
          </a:bodyPr>
          <a:lstStyle/>
          <a:p>
            <a:pPr algn="l"/>
            <a:r>
              <a:rPr sz="700" b="1">
                <a:solidFill>
                  <a:srgbClr val="24282C"/>
                </a:solidFill>
                <a:latin typeface="Yu Gothic"/>
              </a:rPr>
              <a:t>NDA・個別契約など必要な契約手続きを進行。貴社フォーマットにも合わせて対応します。</a:t>
            </a:r>
          </a:p>
        </p:txBody>
      </p:sp>
      <p:sp>
        <p:nvSpPr>
          <p:cNvPr id="26" name="Oval 25"/>
          <p:cNvSpPr/>
          <p:nvPr/>
        </p:nvSpPr>
        <p:spPr>
          <a:xfrm>
            <a:off x="3379724" y="1634363"/>
            <a:ext cx="612521" cy="612140"/>
          </a:xfrm>
          <a:prstGeom prst="ellipse">
            <a:avLst/>
          </a:prstGeom>
          <a:solidFill>
            <a:srgbClr val="FFFFFF"/>
          </a:solidFill>
          <a:ln w="508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79724" y="1781937"/>
            <a:ext cx="612521" cy="306070"/>
          </a:xfrm>
          <a:prstGeom prst="rect">
            <a:avLst/>
          </a:prstGeom>
          <a:noFill/>
        </p:spPr>
        <p:txBody>
          <a:bodyPr wrap="none" lIns="12700" rIns="12700" tIns="12700" bIns="12700" anchor="t">
            <a:spAutoFit/>
          </a:bodyPr>
          <a:lstStyle/>
          <a:p>
            <a:pPr algn="ctr"/>
            <a:r>
              <a:rPr sz="2000" b="1">
                <a:solidFill>
                  <a:srgbClr val="F80612"/>
                </a:solidFill>
                <a:latin typeface="Yu Gothic"/>
              </a:rPr>
              <a:t>03</a:t>
            </a:r>
          </a:p>
        </p:txBody>
      </p:sp>
      <p:cxnSp>
        <p:nvCxnSpPr>
          <p:cNvPr id="28" name="Connector 27"/>
          <p:cNvCxnSpPr/>
          <p:nvPr/>
        </p:nvCxnSpPr>
        <p:spPr>
          <a:xfrm>
            <a:off x="3992245" y="1940433"/>
            <a:ext cx="557911" cy="0"/>
          </a:xfrm>
          <a:prstGeom prst="line">
            <a:avLst/>
          </a:prstGeom>
          <a:ln w="25400">
            <a:solidFill>
              <a:srgbClr val="FF7474"/>
            </a:solidFill>
            <a:prstDash val="solid"/>
          </a:ln>
        </p:spPr>
        <p:style>
          <a:lnRef idx="2">
            <a:schemeClr val="accent1"/>
          </a:lnRef>
          <a:fillRef idx="0">
            <a:schemeClr val="accent1"/>
          </a:fillRef>
          <a:effectRef idx="1">
            <a:schemeClr val="accent1"/>
          </a:effectRef>
          <a:fontRef idx="minor">
            <a:schemeClr val="tx1"/>
          </a:fontRef>
        </p:style>
      </p:cxnSp>
      <p:sp>
        <p:nvSpPr>
          <p:cNvPr id="29" name="Right Arrow 28"/>
          <p:cNvSpPr/>
          <p:nvPr/>
        </p:nvSpPr>
        <p:spPr>
          <a:xfrm>
            <a:off x="3106293" y="2404999"/>
            <a:ext cx="1028191" cy="459105"/>
          </a:xfrm>
          <a:prstGeom prst="rightArrow">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161030" y="2487041"/>
            <a:ext cx="907796" cy="284226"/>
          </a:xfrm>
          <a:prstGeom prst="rect">
            <a:avLst/>
          </a:prstGeom>
          <a:noFill/>
        </p:spPr>
        <p:txBody>
          <a:bodyPr wrap="none" lIns="12700" rIns="12700" tIns="12700" bIns="12700" anchor="t">
            <a:spAutoFit/>
          </a:bodyPr>
          <a:lstStyle/>
          <a:p>
            <a:pPr algn="ctr"/>
            <a:r>
              <a:rPr sz="1100" b="1">
                <a:solidFill>
                  <a:srgbClr val="FFFFFF"/>
                </a:solidFill>
                <a:latin typeface="Yu Gothic"/>
              </a:rPr>
              <a:t>移行先基盤の準備</a:t>
            </a:r>
          </a:p>
        </p:txBody>
      </p:sp>
      <p:sp>
        <p:nvSpPr>
          <p:cNvPr id="31" name="Rounded Rectangle 30"/>
          <p:cNvSpPr/>
          <p:nvPr/>
        </p:nvSpPr>
        <p:spPr>
          <a:xfrm>
            <a:off x="3161030" y="3050032"/>
            <a:ext cx="1028191" cy="1322832"/>
          </a:xfrm>
          <a:prstGeom prst="roundRect">
            <a:avLst/>
          </a:prstGeom>
          <a:solidFill>
            <a:srgbClr val="FFF7F7"/>
          </a:solidFill>
          <a:ln w="12700">
            <a:solidFill>
              <a:srgbClr val="F2C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61030" y="3050032"/>
            <a:ext cx="27305" cy="1322832"/>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43072" y="3142996"/>
            <a:ext cx="853186" cy="1093216"/>
          </a:xfrm>
          <a:prstGeom prst="rect">
            <a:avLst/>
          </a:prstGeom>
          <a:noFill/>
        </p:spPr>
        <p:txBody>
          <a:bodyPr wrap="none" lIns="12700" rIns="12700" tIns="12700" bIns="12700" anchor="t">
            <a:spAutoFit/>
          </a:bodyPr>
          <a:lstStyle/>
          <a:p>
            <a:pPr algn="l"/>
            <a:r>
              <a:rPr sz="700" b="1">
                <a:solidFill>
                  <a:srgbClr val="24282C"/>
                </a:solidFill>
                <a:latin typeface="Yu Gothic"/>
              </a:rPr>
              <a:t>今後の詳細なプランニングをご提案し、貴社サイドとすり合わせます。</a:t>
            </a:r>
          </a:p>
        </p:txBody>
      </p:sp>
      <p:sp>
        <p:nvSpPr>
          <p:cNvPr id="34" name="Oval 33"/>
          <p:cNvSpPr/>
          <p:nvPr/>
        </p:nvSpPr>
        <p:spPr>
          <a:xfrm>
            <a:off x="4550156" y="1634363"/>
            <a:ext cx="612521" cy="612140"/>
          </a:xfrm>
          <a:prstGeom prst="ellipse">
            <a:avLst/>
          </a:prstGeom>
          <a:solidFill>
            <a:srgbClr val="FFFFFF"/>
          </a:solidFill>
          <a:ln w="508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50156" y="1781937"/>
            <a:ext cx="612521" cy="306070"/>
          </a:xfrm>
          <a:prstGeom prst="rect">
            <a:avLst/>
          </a:prstGeom>
          <a:noFill/>
        </p:spPr>
        <p:txBody>
          <a:bodyPr wrap="none" lIns="12700" rIns="12700" tIns="12700" bIns="12700" anchor="t">
            <a:spAutoFit/>
          </a:bodyPr>
          <a:lstStyle/>
          <a:p>
            <a:pPr algn="ctr"/>
            <a:r>
              <a:rPr sz="2000" b="1">
                <a:solidFill>
                  <a:srgbClr val="F80612"/>
                </a:solidFill>
                <a:latin typeface="Yu Gothic"/>
              </a:rPr>
              <a:t>04</a:t>
            </a:r>
          </a:p>
        </p:txBody>
      </p:sp>
      <p:cxnSp>
        <p:nvCxnSpPr>
          <p:cNvPr id="36" name="Connector 35"/>
          <p:cNvCxnSpPr/>
          <p:nvPr/>
        </p:nvCxnSpPr>
        <p:spPr>
          <a:xfrm>
            <a:off x="5162677" y="1940433"/>
            <a:ext cx="557784" cy="0"/>
          </a:xfrm>
          <a:prstGeom prst="line">
            <a:avLst/>
          </a:prstGeom>
          <a:ln w="25400">
            <a:solidFill>
              <a:srgbClr val="FF7474"/>
            </a:solidFill>
            <a:prstDash val="solid"/>
          </a:ln>
        </p:spPr>
        <p:style>
          <a:lnRef idx="2">
            <a:schemeClr val="accent1"/>
          </a:lnRef>
          <a:fillRef idx="0">
            <a:schemeClr val="accent1"/>
          </a:fillRef>
          <a:effectRef idx="1">
            <a:schemeClr val="accent1"/>
          </a:effectRef>
          <a:fontRef idx="minor">
            <a:schemeClr val="tx1"/>
          </a:fontRef>
        </p:style>
      </p:cxnSp>
      <p:sp>
        <p:nvSpPr>
          <p:cNvPr id="37" name="Right Arrow 36"/>
          <p:cNvSpPr/>
          <p:nvPr/>
        </p:nvSpPr>
        <p:spPr>
          <a:xfrm>
            <a:off x="4276725" y="2404999"/>
            <a:ext cx="1028191" cy="459105"/>
          </a:xfrm>
          <a:prstGeom prst="rightArrow">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331335" y="2487041"/>
            <a:ext cx="907796" cy="284226"/>
          </a:xfrm>
          <a:prstGeom prst="rect">
            <a:avLst/>
          </a:prstGeom>
          <a:noFill/>
        </p:spPr>
        <p:txBody>
          <a:bodyPr wrap="none" lIns="12700" rIns="12700" tIns="12700" bIns="12700" anchor="t">
            <a:spAutoFit/>
          </a:bodyPr>
          <a:lstStyle/>
          <a:p>
            <a:pPr algn="ctr"/>
            <a:r>
              <a:rPr sz="1100" b="1">
                <a:solidFill>
                  <a:srgbClr val="FFFFFF"/>
                </a:solidFill>
                <a:latin typeface="Yu Gothic"/>
              </a:rPr>
              <a:t>システム開発</a:t>
            </a:r>
          </a:p>
        </p:txBody>
      </p:sp>
      <p:sp>
        <p:nvSpPr>
          <p:cNvPr id="39" name="Rounded Rectangle 38"/>
          <p:cNvSpPr/>
          <p:nvPr/>
        </p:nvSpPr>
        <p:spPr>
          <a:xfrm>
            <a:off x="4331335" y="3050032"/>
            <a:ext cx="1028191" cy="1322832"/>
          </a:xfrm>
          <a:prstGeom prst="roundRect">
            <a:avLst/>
          </a:prstGeom>
          <a:solidFill>
            <a:srgbClr val="FFF7F7"/>
          </a:solidFill>
          <a:ln w="12700">
            <a:solidFill>
              <a:srgbClr val="F2C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331335" y="3050032"/>
            <a:ext cx="27305" cy="1322832"/>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13377" y="3142996"/>
            <a:ext cx="853186" cy="1093216"/>
          </a:xfrm>
          <a:prstGeom prst="rect">
            <a:avLst/>
          </a:prstGeom>
          <a:noFill/>
        </p:spPr>
        <p:txBody>
          <a:bodyPr wrap="none" lIns="12700" rIns="12700" tIns="12700" bIns="12700" anchor="t">
            <a:spAutoFit/>
          </a:bodyPr>
          <a:lstStyle/>
          <a:p>
            <a:pPr algn="l"/>
            <a:r>
              <a:rPr sz="700" b="1">
                <a:solidFill>
                  <a:srgbClr val="24282C"/>
                </a:solidFill>
                <a:latin typeface="Yu Gothic"/>
              </a:rPr>
              <a:t>データマイグレーションを実行する場合、移行先を先に準備することが最重要です。以後発生するデータを格納する箱を準備いたします。</a:t>
            </a:r>
          </a:p>
        </p:txBody>
      </p:sp>
      <p:sp>
        <p:nvSpPr>
          <p:cNvPr id="42" name="Oval 41"/>
          <p:cNvSpPr/>
          <p:nvPr/>
        </p:nvSpPr>
        <p:spPr>
          <a:xfrm>
            <a:off x="5720461" y="1634363"/>
            <a:ext cx="612521" cy="612140"/>
          </a:xfrm>
          <a:prstGeom prst="ellipse">
            <a:avLst/>
          </a:prstGeom>
          <a:solidFill>
            <a:srgbClr val="FFFFFF"/>
          </a:solidFill>
          <a:ln w="508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720461" y="1781937"/>
            <a:ext cx="612521" cy="306070"/>
          </a:xfrm>
          <a:prstGeom prst="rect">
            <a:avLst/>
          </a:prstGeom>
          <a:noFill/>
        </p:spPr>
        <p:txBody>
          <a:bodyPr wrap="none" lIns="12700" rIns="12700" tIns="12700" bIns="12700" anchor="t">
            <a:spAutoFit/>
          </a:bodyPr>
          <a:lstStyle/>
          <a:p>
            <a:pPr algn="ctr"/>
            <a:r>
              <a:rPr sz="2000" b="1">
                <a:solidFill>
                  <a:srgbClr val="F80612"/>
                </a:solidFill>
                <a:latin typeface="Yu Gothic"/>
              </a:rPr>
              <a:t>05</a:t>
            </a:r>
          </a:p>
        </p:txBody>
      </p:sp>
      <p:cxnSp>
        <p:nvCxnSpPr>
          <p:cNvPr id="44" name="Connector 43"/>
          <p:cNvCxnSpPr/>
          <p:nvPr/>
        </p:nvCxnSpPr>
        <p:spPr>
          <a:xfrm>
            <a:off x="6332982" y="1940433"/>
            <a:ext cx="557784" cy="0"/>
          </a:xfrm>
          <a:prstGeom prst="line">
            <a:avLst/>
          </a:prstGeom>
          <a:ln w="25400">
            <a:solidFill>
              <a:srgbClr val="FF7474"/>
            </a:solidFill>
            <a:prstDash val="solid"/>
          </a:ln>
        </p:spPr>
        <p:style>
          <a:lnRef idx="2">
            <a:schemeClr val="accent1"/>
          </a:lnRef>
          <a:fillRef idx="0">
            <a:schemeClr val="accent1"/>
          </a:fillRef>
          <a:effectRef idx="1">
            <a:schemeClr val="accent1"/>
          </a:effectRef>
          <a:fontRef idx="minor">
            <a:schemeClr val="tx1"/>
          </a:fontRef>
        </p:style>
      </p:cxnSp>
      <p:sp>
        <p:nvSpPr>
          <p:cNvPr id="45" name="Right Arrow 44"/>
          <p:cNvSpPr/>
          <p:nvPr/>
        </p:nvSpPr>
        <p:spPr>
          <a:xfrm>
            <a:off x="5447030" y="2404999"/>
            <a:ext cx="1028191" cy="459105"/>
          </a:xfrm>
          <a:prstGeom prst="rightArrow">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501767" y="2487041"/>
            <a:ext cx="907796" cy="284226"/>
          </a:xfrm>
          <a:prstGeom prst="rect">
            <a:avLst/>
          </a:prstGeom>
          <a:noFill/>
        </p:spPr>
        <p:txBody>
          <a:bodyPr wrap="none" lIns="12700" rIns="12700" tIns="12700" bIns="12700" anchor="t">
            <a:spAutoFit/>
          </a:bodyPr>
          <a:lstStyle/>
          <a:p>
            <a:pPr algn="ctr"/>
            <a:r>
              <a:rPr sz="1100" b="1">
                <a:solidFill>
                  <a:srgbClr val="FFFFFF"/>
                </a:solidFill>
                <a:latin typeface="Yu Gothic"/>
              </a:rPr>
              <a:t>現場導入</a:t>
            </a:r>
          </a:p>
        </p:txBody>
      </p:sp>
      <p:sp>
        <p:nvSpPr>
          <p:cNvPr id="47" name="Rounded Rectangle 46"/>
          <p:cNvSpPr/>
          <p:nvPr/>
        </p:nvSpPr>
        <p:spPr>
          <a:xfrm>
            <a:off x="5501767" y="3050032"/>
            <a:ext cx="1028191" cy="1322832"/>
          </a:xfrm>
          <a:prstGeom prst="roundRect">
            <a:avLst/>
          </a:prstGeom>
          <a:solidFill>
            <a:srgbClr val="FFF7F7"/>
          </a:solidFill>
          <a:ln w="12700">
            <a:solidFill>
              <a:srgbClr val="F2C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501767" y="3050032"/>
            <a:ext cx="27305" cy="1322832"/>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583809" y="3142996"/>
            <a:ext cx="853186" cy="1093216"/>
          </a:xfrm>
          <a:prstGeom prst="rect">
            <a:avLst/>
          </a:prstGeom>
          <a:noFill/>
        </p:spPr>
        <p:txBody>
          <a:bodyPr wrap="none" lIns="12700" rIns="12700" tIns="12700" bIns="12700" anchor="t">
            <a:spAutoFit/>
          </a:bodyPr>
          <a:lstStyle/>
          <a:p>
            <a:pPr algn="l"/>
            <a:r>
              <a:rPr sz="700" b="1">
                <a:solidFill>
                  <a:srgbClr val="24282C"/>
                </a:solidFill>
                <a:latin typeface="Yu Gothic"/>
              </a:rPr>
              <a:t>移行準備と並行して開発。貴社現場サイドの方々の意見を最大限反映、調整しながら進めます。</a:t>
            </a:r>
          </a:p>
        </p:txBody>
      </p:sp>
      <p:sp>
        <p:nvSpPr>
          <p:cNvPr id="50" name="Oval 49"/>
          <p:cNvSpPr/>
          <p:nvPr/>
        </p:nvSpPr>
        <p:spPr>
          <a:xfrm>
            <a:off x="6890766" y="1634363"/>
            <a:ext cx="612521" cy="612140"/>
          </a:xfrm>
          <a:prstGeom prst="ellipse">
            <a:avLst/>
          </a:prstGeom>
          <a:solidFill>
            <a:srgbClr val="FFFFFF"/>
          </a:solidFill>
          <a:ln w="508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890766" y="1781937"/>
            <a:ext cx="612521" cy="306070"/>
          </a:xfrm>
          <a:prstGeom prst="rect">
            <a:avLst/>
          </a:prstGeom>
          <a:noFill/>
        </p:spPr>
        <p:txBody>
          <a:bodyPr wrap="none" lIns="12700" rIns="12700" tIns="12700" bIns="12700" anchor="t">
            <a:spAutoFit/>
          </a:bodyPr>
          <a:lstStyle/>
          <a:p>
            <a:pPr algn="ctr"/>
            <a:r>
              <a:rPr sz="2000" b="1">
                <a:solidFill>
                  <a:srgbClr val="F80612"/>
                </a:solidFill>
                <a:latin typeface="Yu Gothic"/>
              </a:rPr>
              <a:t>06</a:t>
            </a:r>
          </a:p>
        </p:txBody>
      </p:sp>
      <p:sp>
        <p:nvSpPr>
          <p:cNvPr id="52" name="Right Arrow 51"/>
          <p:cNvSpPr/>
          <p:nvPr/>
        </p:nvSpPr>
        <p:spPr>
          <a:xfrm>
            <a:off x="6617334" y="2404999"/>
            <a:ext cx="1028191" cy="459105"/>
          </a:xfrm>
          <a:prstGeom prst="rightArrow">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72072" y="2487041"/>
            <a:ext cx="907796" cy="284226"/>
          </a:xfrm>
          <a:prstGeom prst="rect">
            <a:avLst/>
          </a:prstGeom>
          <a:noFill/>
        </p:spPr>
        <p:txBody>
          <a:bodyPr wrap="none" lIns="12700" rIns="12700" tIns="12700" bIns="12700" anchor="t">
            <a:spAutoFit/>
          </a:bodyPr>
          <a:lstStyle/>
          <a:p>
            <a:pPr algn="ctr"/>
            <a:r>
              <a:rPr sz="1100" b="1">
                <a:solidFill>
                  <a:srgbClr val="FFFFFF"/>
                </a:solidFill>
                <a:latin typeface="Yu Gothic"/>
              </a:rPr>
              <a:t>改善</a:t>
            </a:r>
          </a:p>
        </p:txBody>
      </p:sp>
      <p:sp>
        <p:nvSpPr>
          <p:cNvPr id="54" name="Rounded Rectangle 53"/>
          <p:cNvSpPr/>
          <p:nvPr/>
        </p:nvSpPr>
        <p:spPr>
          <a:xfrm>
            <a:off x="6672072" y="3050032"/>
            <a:ext cx="1028191" cy="1322832"/>
          </a:xfrm>
          <a:prstGeom prst="roundRect">
            <a:avLst/>
          </a:prstGeom>
          <a:solidFill>
            <a:srgbClr val="FFF7F7"/>
          </a:solidFill>
          <a:ln w="12700">
            <a:solidFill>
              <a:srgbClr val="F2C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672072" y="3050032"/>
            <a:ext cx="27305" cy="1322832"/>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754114" y="3142996"/>
            <a:ext cx="853186" cy="1093216"/>
          </a:xfrm>
          <a:prstGeom prst="rect">
            <a:avLst/>
          </a:prstGeom>
          <a:noFill/>
        </p:spPr>
        <p:txBody>
          <a:bodyPr wrap="none" lIns="12700" rIns="12700" tIns="12700" bIns="12700" anchor="t">
            <a:spAutoFit/>
          </a:bodyPr>
          <a:lstStyle/>
          <a:p>
            <a:pPr algn="l"/>
            <a:r>
              <a:rPr sz="700" b="1">
                <a:solidFill>
                  <a:srgbClr val="24282C"/>
                </a:solidFill>
                <a:latin typeface="Yu Gothic"/>
              </a:rPr>
              <a:t>小規模でのテスト運用後、本格的に現場導入をいたします。必要に応じて現場でのレクチャーなどを実施いたします。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7F6"/>
        </a:solidFill>
        <a:effectLst/>
      </p:bgPr>
    </p:bg>
    <p:spTree>
      <p:nvGrpSpPr>
        <p:cNvPr id="1" name=""/>
        <p:cNvGrpSpPr/>
        <p:nvPr/>
      </p:nvGrpSpPr>
      <p:grpSpPr/>
      <p:sp>
        <p:nvSpPr>
          <p:cNvPr id="2" name="Rectangle 1"/>
          <p:cNvSpPr/>
          <p:nvPr/>
        </p:nvSpPr>
        <p:spPr>
          <a:xfrm>
            <a:off x="0" y="0"/>
            <a:ext cx="404749" cy="5143500"/>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491998"/>
            <a:ext cx="404749" cy="196723"/>
          </a:xfrm>
          <a:prstGeom prst="rect">
            <a:avLst/>
          </a:prstGeom>
          <a:noFill/>
        </p:spPr>
        <p:txBody>
          <a:bodyPr wrap="none" lIns="12700" rIns="12700" tIns="12700" bIns="12700" anchor="t">
            <a:spAutoFit/>
          </a:bodyPr>
          <a:lstStyle/>
          <a:p>
            <a:pPr algn="ctr"/>
            <a:r>
              <a:rPr sz="800" b="1">
                <a:solidFill>
                  <a:srgbClr val="FFFFFF"/>
                </a:solidFill>
                <a:latin typeface="Yu Gothic"/>
              </a:rPr>
              <a:t>Chapter3</a:t>
            </a:r>
          </a:p>
        </p:txBody>
      </p:sp>
      <p:sp>
        <p:nvSpPr>
          <p:cNvPr id="4" name="TextBox 3"/>
          <p:cNvSpPr txBox="1"/>
          <p:nvPr/>
        </p:nvSpPr>
        <p:spPr>
          <a:xfrm rot="5400000">
            <a:off x="-836803" y="3498215"/>
            <a:ext cx="2078227" cy="229615"/>
          </a:xfrm>
          <a:prstGeom prst="rect">
            <a:avLst/>
          </a:prstGeom>
          <a:noFill/>
        </p:spPr>
        <p:txBody>
          <a:bodyPr wrap="none" lIns="12700" rIns="12700" tIns="12700" bIns="12700" anchor="t">
            <a:spAutoFit/>
          </a:bodyPr>
          <a:lstStyle/>
          <a:p>
            <a:pPr algn="ctr"/>
            <a:r>
              <a:rPr sz="800" b="1">
                <a:solidFill>
                  <a:srgbClr val="FFFFFF"/>
                </a:solidFill>
                <a:latin typeface="Yu Gothic"/>
              </a:rPr>
              <a:t>Copyright @Field X inc.</a:t>
            </a:r>
          </a:p>
          <a:p>
            <a:pPr algn="ctr"/>
            <a:r>
              <a:rPr sz="800" b="1">
                <a:solidFill>
                  <a:srgbClr val="FFFFFF"/>
                </a:solidFill>
                <a:latin typeface="Yu Gothic"/>
              </a:rPr>
              <a:t>All rights reserved.</a:t>
            </a:r>
          </a:p>
        </p:txBody>
      </p:sp>
      <p:sp>
        <p:nvSpPr>
          <p:cNvPr id="5" name="TextBox 4"/>
          <p:cNvSpPr txBox="1"/>
          <p:nvPr/>
        </p:nvSpPr>
        <p:spPr>
          <a:xfrm>
            <a:off x="0" y="4646041"/>
            <a:ext cx="404749" cy="295148"/>
          </a:xfrm>
          <a:prstGeom prst="rect">
            <a:avLst/>
          </a:prstGeom>
          <a:noFill/>
        </p:spPr>
        <p:txBody>
          <a:bodyPr wrap="none" lIns="12700" rIns="12700" tIns="12700" bIns="12700" anchor="t">
            <a:spAutoFit/>
          </a:bodyPr>
          <a:lstStyle/>
          <a:p>
            <a:pPr algn="ctr"/>
            <a:r>
              <a:rPr sz="1700" b="1">
                <a:solidFill>
                  <a:srgbClr val="FFFFFF"/>
                </a:solidFill>
                <a:latin typeface="Yu Gothic"/>
              </a:rPr>
              <a:t>12</a:t>
            </a:r>
          </a:p>
        </p:txBody>
      </p:sp>
      <p:sp>
        <p:nvSpPr>
          <p:cNvPr id="6" name="TextBox 5"/>
          <p:cNvSpPr txBox="1"/>
          <p:nvPr/>
        </p:nvSpPr>
        <p:spPr>
          <a:xfrm>
            <a:off x="689102" y="316992"/>
            <a:ext cx="1367282" cy="185801"/>
          </a:xfrm>
          <a:prstGeom prst="rect">
            <a:avLst/>
          </a:prstGeom>
          <a:noFill/>
        </p:spPr>
        <p:txBody>
          <a:bodyPr wrap="none" lIns="12700" rIns="12700" tIns="12700" bIns="12700" anchor="t">
            <a:spAutoFit/>
          </a:bodyPr>
          <a:lstStyle/>
          <a:p>
            <a:pPr algn="l"/>
            <a:r>
              <a:rPr sz="1300" b="1">
                <a:solidFill>
                  <a:srgbClr val="F80612"/>
                </a:solidFill>
                <a:latin typeface="Yu Gothic"/>
              </a:rPr>
              <a:t>Chapter3</a:t>
            </a:r>
          </a:p>
        </p:txBody>
      </p:sp>
      <p:sp>
        <p:nvSpPr>
          <p:cNvPr id="7" name="TextBox 6"/>
          <p:cNvSpPr txBox="1"/>
          <p:nvPr/>
        </p:nvSpPr>
        <p:spPr>
          <a:xfrm>
            <a:off x="689102" y="535686"/>
            <a:ext cx="7109586" cy="338836"/>
          </a:xfrm>
          <a:prstGeom prst="rect">
            <a:avLst/>
          </a:prstGeom>
          <a:noFill/>
        </p:spPr>
        <p:txBody>
          <a:bodyPr wrap="none" lIns="12700" rIns="12700" tIns="12700" bIns="12700" anchor="t">
            <a:spAutoFit/>
          </a:bodyPr>
          <a:lstStyle/>
          <a:p>
            <a:pPr algn="l"/>
            <a:r>
              <a:rPr sz="2300" b="1">
                <a:solidFill>
                  <a:srgbClr val="101214"/>
                </a:solidFill>
                <a:latin typeface="Yu Gothic"/>
              </a:rPr>
              <a:t>弊社AI導入による補助金活用支援について</a:t>
            </a:r>
          </a:p>
        </p:txBody>
      </p:sp>
      <p:sp>
        <p:nvSpPr>
          <p:cNvPr id="8" name="TextBox 7"/>
          <p:cNvSpPr txBox="1"/>
          <p:nvPr/>
        </p:nvSpPr>
        <p:spPr>
          <a:xfrm>
            <a:off x="689102" y="972947"/>
            <a:ext cx="7000240" cy="240538"/>
          </a:xfrm>
          <a:prstGeom prst="rect">
            <a:avLst/>
          </a:prstGeom>
          <a:noFill/>
        </p:spPr>
        <p:txBody>
          <a:bodyPr wrap="none" lIns="12700" rIns="12700" tIns="12700" bIns="12700" anchor="t">
            <a:spAutoFit/>
          </a:bodyPr>
          <a:lstStyle/>
          <a:p>
            <a:pPr algn="l"/>
            <a:r>
              <a:rPr sz="1100" b="1">
                <a:solidFill>
                  <a:srgbClr val="2D3338"/>
                </a:solidFill>
                <a:latin typeface="Yu Gothic"/>
              </a:rPr>
              <a:t>Chapter3</a:t>
            </a:r>
          </a:p>
        </p:txBody>
      </p:sp>
      <p:sp>
        <p:nvSpPr>
          <p:cNvPr id="9" name="Rounded Rectangle 8"/>
          <p:cNvSpPr/>
          <p:nvPr/>
        </p:nvSpPr>
        <p:spPr>
          <a:xfrm>
            <a:off x="689102" y="1475867"/>
            <a:ext cx="3336036" cy="2055241"/>
          </a:xfrm>
          <a:prstGeom prst="roundRect">
            <a:avLst/>
          </a:prstGeom>
          <a:solidFill>
            <a:srgbClr val="FFFFFF"/>
          </a:solidFill>
          <a:ln w="12700">
            <a:solidFill>
              <a:srgbClr val="D9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96874" y="1628902"/>
            <a:ext cx="535940" cy="535686"/>
          </a:xfrm>
          <a:prstGeom prst="ellipse">
            <a:avLst/>
          </a:prstGeom>
          <a:solidFill>
            <a:srgbClr val="FFE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2_subsidy_investment.png"/>
          <p:cNvPicPr>
            <a:picLocks noChangeAspect="1"/>
          </p:cNvPicPr>
          <p:nvPr/>
        </p:nvPicPr>
        <p:blipFill>
          <a:blip r:embed="rId2"/>
          <a:stretch>
            <a:fillRect/>
          </a:stretch>
        </p:blipFill>
        <p:spPr>
          <a:xfrm>
            <a:off x="935228" y="1667129"/>
            <a:ext cx="459359" cy="459105"/>
          </a:xfrm>
          <a:prstGeom prst="rect">
            <a:avLst/>
          </a:prstGeom>
        </p:spPr>
      </p:pic>
      <p:sp>
        <p:nvSpPr>
          <p:cNvPr id="12" name="TextBox 11"/>
          <p:cNvSpPr txBox="1"/>
          <p:nvPr/>
        </p:nvSpPr>
        <p:spPr>
          <a:xfrm>
            <a:off x="1553210" y="1596009"/>
            <a:ext cx="2132838" cy="448183"/>
          </a:xfrm>
          <a:prstGeom prst="rect">
            <a:avLst/>
          </a:prstGeom>
          <a:noFill/>
        </p:spPr>
        <p:txBody>
          <a:bodyPr wrap="none" lIns="12700" rIns="12700" tIns="12700" bIns="12700" anchor="t">
            <a:spAutoFit/>
          </a:bodyPr>
          <a:lstStyle/>
          <a:p>
            <a:pPr algn="l"/>
            <a:r>
              <a:rPr sz="1300" b="1">
                <a:solidFill>
                  <a:srgbClr val="101214"/>
                </a:solidFill>
                <a:latin typeface="Yu Gothic"/>
              </a:rPr>
              <a:t>中小企業省力化投資補助金</a:t>
            </a:r>
          </a:p>
          <a:p>
            <a:pPr algn="l"/>
            <a:r>
              <a:rPr sz="1300" b="1">
                <a:solidFill>
                  <a:srgbClr val="101214"/>
                </a:solidFill>
                <a:latin typeface="Yu Gothic"/>
              </a:rPr>
              <a:t>（一般型）の活用可能性</a:t>
            </a:r>
          </a:p>
        </p:txBody>
      </p:sp>
      <p:sp>
        <p:nvSpPr>
          <p:cNvPr id="13" name="Rectangle 12"/>
          <p:cNvSpPr/>
          <p:nvPr/>
        </p:nvSpPr>
        <p:spPr>
          <a:xfrm>
            <a:off x="885952" y="2262886"/>
            <a:ext cx="2942209" cy="21844"/>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874" y="2415921"/>
            <a:ext cx="2931287" cy="612140"/>
          </a:xfrm>
          <a:prstGeom prst="rect">
            <a:avLst/>
          </a:prstGeom>
          <a:noFill/>
        </p:spPr>
        <p:txBody>
          <a:bodyPr wrap="none" lIns="12700" rIns="12700" tIns="12700" bIns="12700" anchor="t">
            <a:spAutoFit/>
          </a:bodyPr>
          <a:lstStyle/>
          <a:p>
            <a:pPr algn="l"/>
            <a:r>
              <a:rPr sz="900" b="1">
                <a:solidFill>
                  <a:srgbClr val="2D3338"/>
                </a:solidFill>
                <a:latin typeface="Yu Gothic"/>
              </a:rPr>
              <a:t>弊社AIを用いたシステムの導入は、業務効率化や生産性向上に資する取り組みとして、本補助金の対象となる可能性があります。</a:t>
            </a:r>
          </a:p>
        </p:txBody>
      </p:sp>
      <p:sp>
        <p:nvSpPr>
          <p:cNvPr id="15" name="Rounded Rectangle 14"/>
          <p:cNvSpPr/>
          <p:nvPr/>
        </p:nvSpPr>
        <p:spPr>
          <a:xfrm>
            <a:off x="929766" y="3115564"/>
            <a:ext cx="2854706" cy="415417"/>
          </a:xfrm>
          <a:prstGeom prst="roundRect">
            <a:avLst/>
          </a:prstGeom>
          <a:solidFill>
            <a:srgbClr val="FFE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7269" y="3197606"/>
            <a:ext cx="2679700" cy="251460"/>
          </a:xfrm>
          <a:prstGeom prst="rect">
            <a:avLst/>
          </a:prstGeom>
          <a:noFill/>
        </p:spPr>
        <p:txBody>
          <a:bodyPr wrap="none" lIns="12700" rIns="12700" tIns="12700" bIns="12700" anchor="t">
            <a:spAutoFit/>
          </a:bodyPr>
          <a:lstStyle/>
          <a:p>
            <a:pPr algn="ctr"/>
            <a:r>
              <a:rPr sz="1300" b="1">
                <a:solidFill>
                  <a:srgbClr val="F80612"/>
                </a:solidFill>
                <a:latin typeface="Yu Gothic"/>
              </a:rPr>
              <a:t>条件次第で 最大6,500 万円</a:t>
            </a:r>
          </a:p>
        </p:txBody>
      </p:sp>
      <p:sp>
        <p:nvSpPr>
          <p:cNvPr id="17" name="Rounded Rectangle 16"/>
          <p:cNvSpPr/>
          <p:nvPr/>
        </p:nvSpPr>
        <p:spPr>
          <a:xfrm>
            <a:off x="4922012" y="1475867"/>
            <a:ext cx="3336036" cy="2055241"/>
          </a:xfrm>
          <a:prstGeom prst="roundRect">
            <a:avLst/>
          </a:prstGeom>
          <a:solidFill>
            <a:srgbClr val="FFFFFF"/>
          </a:solidFill>
          <a:ln w="12700">
            <a:solidFill>
              <a:srgbClr val="D9DD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129784" y="1628902"/>
            <a:ext cx="535940" cy="535686"/>
          </a:xfrm>
          <a:prstGeom prst="ellipse">
            <a:avLst/>
          </a:prstGeom>
          <a:solidFill>
            <a:srgbClr val="FFE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2_future_documents.png"/>
          <p:cNvPicPr>
            <a:picLocks noChangeAspect="1"/>
          </p:cNvPicPr>
          <p:nvPr/>
        </p:nvPicPr>
        <p:blipFill>
          <a:blip r:embed="rId3"/>
          <a:stretch>
            <a:fillRect/>
          </a:stretch>
        </p:blipFill>
        <p:spPr>
          <a:xfrm>
            <a:off x="5168138" y="1667129"/>
            <a:ext cx="459359" cy="459105"/>
          </a:xfrm>
          <a:prstGeom prst="rect">
            <a:avLst/>
          </a:prstGeom>
        </p:spPr>
      </p:pic>
      <p:sp>
        <p:nvSpPr>
          <p:cNvPr id="20" name="TextBox 19"/>
          <p:cNvSpPr txBox="1"/>
          <p:nvPr/>
        </p:nvSpPr>
        <p:spPr>
          <a:xfrm>
            <a:off x="5786120" y="1596009"/>
            <a:ext cx="2132838" cy="448183"/>
          </a:xfrm>
          <a:prstGeom prst="rect">
            <a:avLst/>
          </a:prstGeom>
          <a:noFill/>
        </p:spPr>
        <p:txBody>
          <a:bodyPr wrap="none" lIns="12700" rIns="12700" tIns="12700" bIns="12700" anchor="t">
            <a:spAutoFit/>
          </a:bodyPr>
          <a:lstStyle/>
          <a:p>
            <a:pPr algn="l"/>
            <a:r>
              <a:rPr sz="1300" b="1">
                <a:solidFill>
                  <a:srgbClr val="101214"/>
                </a:solidFill>
                <a:latin typeface="Yu Gothic"/>
              </a:rPr>
              <a:t>申請可否の確認や</a:t>
            </a:r>
          </a:p>
          <a:p>
            <a:pPr algn="l"/>
            <a:r>
              <a:rPr sz="1300" b="1">
                <a:solidFill>
                  <a:srgbClr val="101214"/>
                </a:solidFill>
                <a:latin typeface="Yu Gothic"/>
              </a:rPr>
              <a:t>資料整理のサポート</a:t>
            </a:r>
          </a:p>
        </p:txBody>
      </p:sp>
      <p:sp>
        <p:nvSpPr>
          <p:cNvPr id="21" name="Rectangle 20"/>
          <p:cNvSpPr/>
          <p:nvPr/>
        </p:nvSpPr>
        <p:spPr>
          <a:xfrm>
            <a:off x="5118862" y="2262886"/>
            <a:ext cx="2942209" cy="21844"/>
          </a:xfrm>
          <a:prstGeom prst="rect">
            <a:avLst/>
          </a:prstGeom>
          <a:solidFill>
            <a:srgbClr val="F80612"/>
          </a:solidFill>
          <a:ln w="12700">
            <a:solidFill>
              <a:srgbClr val="F806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29784" y="2415921"/>
            <a:ext cx="2931287" cy="612140"/>
          </a:xfrm>
          <a:prstGeom prst="rect">
            <a:avLst/>
          </a:prstGeom>
          <a:noFill/>
        </p:spPr>
        <p:txBody>
          <a:bodyPr wrap="none" lIns="12700" rIns="12700" tIns="12700" bIns="12700" anchor="t">
            <a:spAutoFit/>
          </a:bodyPr>
          <a:lstStyle/>
          <a:p>
            <a:pPr algn="l"/>
            <a:r>
              <a:rPr sz="900" b="1">
                <a:solidFill>
                  <a:srgbClr val="2D3338"/>
                </a:solidFill>
                <a:latin typeface="Yu Gothic"/>
              </a:rPr>
              <a:t>補助金の申請に必要な要件確認や、申請書類の整理・作成について、</a:t>
            </a:r>
          </a:p>
          <a:p>
            <a:pPr algn="l"/>
            <a:r>
              <a:rPr sz="900" b="1">
                <a:solidFill>
                  <a:srgbClr val="2D3338"/>
                </a:solidFill>
                <a:latin typeface="Yu Gothic"/>
              </a:rPr>
              <a:t>当社にてサポートいたします。ご不明点はお気軽にご相談ください。</a:t>
            </a:r>
          </a:p>
          <a:p>
            <a:pPr algn="l"/>
            <a:r>
              <a:rPr sz="900" b="1">
                <a:solidFill>
                  <a:srgbClr val="2D3338"/>
                </a:solidFill>
                <a:latin typeface="Yu Gothic"/>
              </a:rPr>
              <a:t>• 対象要件の確認</a:t>
            </a:r>
          </a:p>
          <a:p>
            <a:pPr algn="l"/>
            <a:r>
              <a:rPr sz="900" b="1">
                <a:solidFill>
                  <a:srgbClr val="2D3338"/>
                </a:solidFill>
                <a:latin typeface="Yu Gothic"/>
              </a:rPr>
              <a:t>• 必要資料の整理・作成支援</a:t>
            </a:r>
          </a:p>
          <a:p>
            <a:pPr algn="l"/>
            <a:r>
              <a:rPr sz="900" b="1">
                <a:solidFill>
                  <a:srgbClr val="2D3338"/>
                </a:solidFill>
                <a:latin typeface="Yu Gothic"/>
              </a:rPr>
              <a:t>• 申請スケジュールのご相談</a:t>
            </a:r>
          </a:p>
        </p:txBody>
      </p:sp>
      <p:sp>
        <p:nvSpPr>
          <p:cNvPr id="23" name="Rounded Rectangle 22"/>
          <p:cNvSpPr/>
          <p:nvPr/>
        </p:nvSpPr>
        <p:spPr>
          <a:xfrm>
            <a:off x="5162677" y="3115564"/>
            <a:ext cx="2854706" cy="415417"/>
          </a:xfrm>
          <a:prstGeom prst="roundRect">
            <a:avLst/>
          </a:prstGeom>
          <a:solidFill>
            <a:srgbClr val="FFE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15712" y="3181223"/>
            <a:ext cx="2625090" cy="295148"/>
          </a:xfrm>
          <a:prstGeom prst="rect">
            <a:avLst/>
          </a:prstGeom>
          <a:noFill/>
        </p:spPr>
        <p:txBody>
          <a:bodyPr wrap="none" lIns="12700" rIns="12700" tIns="12700" bIns="12700" anchor="t">
            <a:spAutoFit/>
          </a:bodyPr>
          <a:lstStyle/>
          <a:p>
            <a:pPr algn="l"/>
            <a:r>
              <a:rPr sz="900" b="1">
                <a:solidFill>
                  <a:srgbClr val="101214"/>
                </a:solidFill>
                <a:latin typeface="Yu Gothic"/>
              </a:rPr>
              <a:t>• 対象要件の確認</a:t>
            </a:r>
          </a:p>
          <a:p>
            <a:pPr algn="l"/>
            <a:r>
              <a:rPr sz="900" b="1">
                <a:solidFill>
                  <a:srgbClr val="101214"/>
                </a:solidFill>
                <a:latin typeface="Yu Gothic"/>
              </a:rPr>
              <a:t>• 必要資料の整理・作成支援</a:t>
            </a:r>
          </a:p>
          <a:p>
            <a:pPr algn="l"/>
            <a:r>
              <a:rPr sz="900" b="1">
                <a:solidFill>
                  <a:srgbClr val="101214"/>
                </a:solidFill>
                <a:latin typeface="Yu Gothic"/>
              </a:rPr>
              <a:t>• 申請スケジュールのご相談</a:t>
            </a:r>
          </a:p>
        </p:txBody>
      </p:sp>
      <p:sp>
        <p:nvSpPr>
          <p:cNvPr id="25" name="Rounded Rectangle 24"/>
          <p:cNvSpPr/>
          <p:nvPr/>
        </p:nvSpPr>
        <p:spPr>
          <a:xfrm>
            <a:off x="689102" y="4438396"/>
            <a:ext cx="7218933" cy="415417"/>
          </a:xfrm>
          <a:prstGeom prst="roundRect">
            <a:avLst/>
          </a:prstGeom>
          <a:solidFill>
            <a:srgbClr val="F0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64108" y="4525899"/>
            <a:ext cx="240665" cy="240538"/>
          </a:xfrm>
          <a:prstGeom prst="ellipse">
            <a:avLst/>
          </a:prstGeom>
          <a:solidFill>
            <a:srgbClr val="666666"/>
          </a:solidFill>
          <a:ln w="1270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4108" y="4514850"/>
            <a:ext cx="240665" cy="240538"/>
          </a:xfrm>
          <a:prstGeom prst="rect">
            <a:avLst/>
          </a:prstGeom>
          <a:noFill/>
        </p:spPr>
        <p:txBody>
          <a:bodyPr wrap="none" lIns="12700" rIns="12700" tIns="12700" bIns="12700" anchor="t">
            <a:spAutoFit/>
          </a:bodyPr>
          <a:lstStyle/>
          <a:p>
            <a:pPr algn="ctr"/>
            <a:r>
              <a:rPr sz="1300" b="1">
                <a:solidFill>
                  <a:srgbClr val="FFFFFF"/>
                </a:solidFill>
                <a:latin typeface="Yu Gothic"/>
              </a:rPr>
              <a:t>i</a:t>
            </a:r>
          </a:p>
        </p:txBody>
      </p:sp>
      <p:sp>
        <p:nvSpPr>
          <p:cNvPr id="28" name="TextBox 27"/>
          <p:cNvSpPr txBox="1"/>
          <p:nvPr/>
        </p:nvSpPr>
        <p:spPr>
          <a:xfrm>
            <a:off x="1257808" y="4514850"/>
            <a:ext cx="6234557" cy="251460"/>
          </a:xfrm>
          <a:prstGeom prst="rect">
            <a:avLst/>
          </a:prstGeom>
          <a:noFill/>
        </p:spPr>
        <p:txBody>
          <a:bodyPr wrap="none" lIns="12700" rIns="12700" tIns="12700" bIns="12700" anchor="t">
            <a:spAutoFit/>
          </a:bodyPr>
          <a:lstStyle/>
          <a:p>
            <a:pPr algn="l"/>
            <a:r>
              <a:rPr sz="800" b="1">
                <a:solidFill>
                  <a:srgbClr val="24282C"/>
                </a:solidFill>
                <a:latin typeface="Yu Gothic"/>
              </a:rPr>
              <a:t>補助金の採択を保証するものではありません。</a:t>
            </a:r>
          </a:p>
          <a:p>
            <a:pPr algn="l"/>
            <a:r>
              <a:rPr sz="800" b="1">
                <a:solidFill>
                  <a:srgbClr val="24282C"/>
                </a:solidFill>
                <a:latin typeface="Yu Gothic"/>
              </a:rPr>
              <a:t>最新の制度内容や詳細については、公式サイト等でご確認ください。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