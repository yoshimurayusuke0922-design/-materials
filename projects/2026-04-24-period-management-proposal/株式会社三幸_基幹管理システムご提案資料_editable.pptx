
<file path=[Content_Types].xml><?xml version="1.0" encoding="utf-8"?>
<Types xmlns="http://schemas.openxmlformats.org/package/2006/content-types">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type="wide"/>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2286000" y="-1651000"/>
            <a:ext cx="4381500" cy="3873500"/>
          </a:xfrm>
          <a:prstGeom prst="ellipse">
            <a:avLst/>
          </a:prstGeom>
          <a:solidFill>
            <a:srgbClr val="ff1818"/>
          </a:solidFill>
          <a:ln w="6350">
            <a:solidFill>
              <a:srgbClr val="ff1818"/>
            </a:solidFill>
          </a:ln>
        </p:spPr>
      </p:sp>
      <p:sp>
        <p:nvSpPr>
          <p:cNvPr id="3" name="Shape 3"/>
          <p:cNvSpPr txBox="1"/>
          <p:nvPr/>
        </p:nvSpPr>
        <p:spPr>
          <a:xfrm>
            <a:off x="9525000" y="-1333500"/>
            <a:ext cx="5588000" cy="5588000"/>
          </a:xfrm>
          <a:prstGeom prst="ellipse">
            <a:avLst/>
          </a:prstGeom>
          <a:solidFill>
            <a:srgbClr val="ff1818"/>
          </a:solidFill>
          <a:ln w="6350">
            <a:solidFill>
              <a:srgbClr val="ff1818"/>
            </a:solidFill>
          </a:ln>
        </p:spPr>
      </p:sp>
      <p:sp>
        <p:nvSpPr>
          <p:cNvPr id="4" name="Shape 4"/>
          <p:cNvSpPr txBox="1"/>
          <p:nvPr/>
        </p:nvSpPr>
        <p:spPr>
          <a:xfrm>
            <a:off x="-1619250" y="5143500"/>
            <a:ext cx="3270250" cy="2857500"/>
          </a:xfrm>
          <a:prstGeom prst="ellipse">
            <a:avLst/>
          </a:prstGeom>
          <a:solidFill>
            <a:srgbClr val="ff1818"/>
          </a:solidFill>
          <a:ln w="6350">
            <a:solidFill>
              <a:srgbClr val="ff1818"/>
            </a:solidFill>
          </a:ln>
        </p:spPr>
      </p:sp>
      <p:sp>
        <p:nvSpPr>
          <p:cNvPr id="5" name="Shape 5"/>
          <p:cNvSpPr txBox="1"/>
          <p:nvPr/>
        </p:nvSpPr>
        <p:spPr>
          <a:xfrm>
            <a:off x="7778750" y="5397500"/>
            <a:ext cx="3048000" cy="3048000"/>
          </a:xfrm>
          <a:prstGeom prst="ellipse">
            <a:avLst/>
          </a:prstGeom>
          <a:noFill/>
          <a:ln w="50800">
            <a:solidFill>
              <a:srgbClr val="ff1818"/>
            </a:solidFill>
          </a:ln>
        </p:spPr>
      </p:sp>
      <p:sp>
        <p:nvSpPr>
          <p:cNvPr id="6" name="Shape 6"/>
          <p:cNvSpPr txBox="1"/>
          <p:nvPr/>
        </p:nvSpPr>
        <p:spPr>
          <a:xfrm>
            <a:off x="7683500" y="476250"/>
            <a:ext cx="38100" cy="38100"/>
          </a:xfrm>
          <a:prstGeom prst="ellipse">
            <a:avLst/>
          </a:prstGeom>
          <a:solidFill>
            <a:srgbClr val="d7d7d7"/>
          </a:solidFill>
          <a:ln>
            <a:noFill/>
          </a:ln>
        </p:spPr>
      </p:sp>
      <p:sp>
        <p:nvSpPr>
          <p:cNvPr id="7" name="Shape 7"/>
          <p:cNvSpPr txBox="1"/>
          <p:nvPr/>
        </p:nvSpPr>
        <p:spPr>
          <a:xfrm>
            <a:off x="7835900" y="476250"/>
            <a:ext cx="38100" cy="38100"/>
          </a:xfrm>
          <a:prstGeom prst="ellipse">
            <a:avLst/>
          </a:prstGeom>
          <a:solidFill>
            <a:srgbClr val="d7d7d7"/>
          </a:solidFill>
          <a:ln>
            <a:noFill/>
          </a:ln>
        </p:spPr>
      </p:sp>
      <p:sp>
        <p:nvSpPr>
          <p:cNvPr id="8" name="Shape 8"/>
          <p:cNvSpPr txBox="1"/>
          <p:nvPr/>
        </p:nvSpPr>
        <p:spPr>
          <a:xfrm>
            <a:off x="7988300" y="476250"/>
            <a:ext cx="38100" cy="38100"/>
          </a:xfrm>
          <a:prstGeom prst="ellipse">
            <a:avLst/>
          </a:prstGeom>
          <a:solidFill>
            <a:srgbClr val="d7d7d7"/>
          </a:solidFill>
          <a:ln>
            <a:noFill/>
          </a:ln>
        </p:spPr>
      </p:sp>
      <p:sp>
        <p:nvSpPr>
          <p:cNvPr id="9" name="Shape 9"/>
          <p:cNvSpPr txBox="1"/>
          <p:nvPr/>
        </p:nvSpPr>
        <p:spPr>
          <a:xfrm>
            <a:off x="8140700" y="476250"/>
            <a:ext cx="38100" cy="38100"/>
          </a:xfrm>
          <a:prstGeom prst="ellipse">
            <a:avLst/>
          </a:prstGeom>
          <a:solidFill>
            <a:srgbClr val="d7d7d7"/>
          </a:solidFill>
          <a:ln>
            <a:noFill/>
          </a:ln>
        </p:spPr>
      </p:sp>
      <p:sp>
        <p:nvSpPr>
          <p:cNvPr id="10" name="Shape 10"/>
          <p:cNvSpPr txBox="1"/>
          <p:nvPr/>
        </p:nvSpPr>
        <p:spPr>
          <a:xfrm>
            <a:off x="8293100" y="476250"/>
            <a:ext cx="38100" cy="38100"/>
          </a:xfrm>
          <a:prstGeom prst="ellipse">
            <a:avLst/>
          </a:prstGeom>
          <a:solidFill>
            <a:srgbClr val="d7d7d7"/>
          </a:solidFill>
          <a:ln>
            <a:noFill/>
          </a:ln>
        </p:spPr>
      </p:sp>
      <p:sp>
        <p:nvSpPr>
          <p:cNvPr id="11" name="Shape 11"/>
          <p:cNvSpPr txBox="1"/>
          <p:nvPr/>
        </p:nvSpPr>
        <p:spPr>
          <a:xfrm>
            <a:off x="8445500" y="476250"/>
            <a:ext cx="38100" cy="38100"/>
          </a:xfrm>
          <a:prstGeom prst="ellipse">
            <a:avLst/>
          </a:prstGeom>
          <a:solidFill>
            <a:srgbClr val="d7d7d7"/>
          </a:solidFill>
          <a:ln>
            <a:noFill/>
          </a:ln>
        </p:spPr>
      </p:sp>
      <p:sp>
        <p:nvSpPr>
          <p:cNvPr id="12" name="Shape 12"/>
          <p:cNvSpPr txBox="1"/>
          <p:nvPr/>
        </p:nvSpPr>
        <p:spPr>
          <a:xfrm>
            <a:off x="8597900" y="476250"/>
            <a:ext cx="38100" cy="38100"/>
          </a:xfrm>
          <a:prstGeom prst="ellipse">
            <a:avLst/>
          </a:prstGeom>
          <a:solidFill>
            <a:srgbClr val="d7d7d7"/>
          </a:solidFill>
          <a:ln>
            <a:noFill/>
          </a:ln>
        </p:spPr>
      </p:sp>
      <p:sp>
        <p:nvSpPr>
          <p:cNvPr id="13" name="Shape 13"/>
          <p:cNvSpPr txBox="1"/>
          <p:nvPr/>
        </p:nvSpPr>
        <p:spPr>
          <a:xfrm>
            <a:off x="8750300" y="476250"/>
            <a:ext cx="38100" cy="38100"/>
          </a:xfrm>
          <a:prstGeom prst="ellipse">
            <a:avLst/>
          </a:prstGeom>
          <a:solidFill>
            <a:srgbClr val="d7d7d7"/>
          </a:solidFill>
          <a:ln>
            <a:noFill/>
          </a:ln>
        </p:spPr>
      </p:sp>
      <p:sp>
        <p:nvSpPr>
          <p:cNvPr id="14" name="Shape 14"/>
          <p:cNvSpPr txBox="1"/>
          <p:nvPr/>
        </p:nvSpPr>
        <p:spPr>
          <a:xfrm>
            <a:off x="7683500" y="628650"/>
            <a:ext cx="38100" cy="38100"/>
          </a:xfrm>
          <a:prstGeom prst="ellipse">
            <a:avLst/>
          </a:prstGeom>
          <a:solidFill>
            <a:srgbClr val="d7d7d7"/>
          </a:solidFill>
          <a:ln>
            <a:noFill/>
          </a:ln>
        </p:spPr>
      </p:sp>
      <p:sp>
        <p:nvSpPr>
          <p:cNvPr id="15" name="Shape 15"/>
          <p:cNvSpPr txBox="1"/>
          <p:nvPr/>
        </p:nvSpPr>
        <p:spPr>
          <a:xfrm>
            <a:off x="7835900" y="628650"/>
            <a:ext cx="38100" cy="38100"/>
          </a:xfrm>
          <a:prstGeom prst="ellipse">
            <a:avLst/>
          </a:prstGeom>
          <a:solidFill>
            <a:srgbClr val="d7d7d7"/>
          </a:solidFill>
          <a:ln>
            <a:noFill/>
          </a:ln>
        </p:spPr>
      </p:sp>
      <p:sp>
        <p:nvSpPr>
          <p:cNvPr id="16" name="Shape 16"/>
          <p:cNvSpPr txBox="1"/>
          <p:nvPr/>
        </p:nvSpPr>
        <p:spPr>
          <a:xfrm>
            <a:off x="7988300" y="628650"/>
            <a:ext cx="38100" cy="38100"/>
          </a:xfrm>
          <a:prstGeom prst="ellipse">
            <a:avLst/>
          </a:prstGeom>
          <a:solidFill>
            <a:srgbClr val="d7d7d7"/>
          </a:solidFill>
          <a:ln>
            <a:noFill/>
          </a:ln>
        </p:spPr>
      </p:sp>
      <p:sp>
        <p:nvSpPr>
          <p:cNvPr id="17" name="Shape 17"/>
          <p:cNvSpPr txBox="1"/>
          <p:nvPr/>
        </p:nvSpPr>
        <p:spPr>
          <a:xfrm>
            <a:off x="8140700" y="628650"/>
            <a:ext cx="38100" cy="38100"/>
          </a:xfrm>
          <a:prstGeom prst="ellipse">
            <a:avLst/>
          </a:prstGeom>
          <a:solidFill>
            <a:srgbClr val="d7d7d7"/>
          </a:solidFill>
          <a:ln>
            <a:noFill/>
          </a:ln>
        </p:spPr>
      </p:sp>
      <p:sp>
        <p:nvSpPr>
          <p:cNvPr id="18" name="Shape 18"/>
          <p:cNvSpPr txBox="1"/>
          <p:nvPr/>
        </p:nvSpPr>
        <p:spPr>
          <a:xfrm>
            <a:off x="8293100" y="628650"/>
            <a:ext cx="38100" cy="38100"/>
          </a:xfrm>
          <a:prstGeom prst="ellipse">
            <a:avLst/>
          </a:prstGeom>
          <a:solidFill>
            <a:srgbClr val="d7d7d7"/>
          </a:solidFill>
          <a:ln>
            <a:noFill/>
          </a:ln>
        </p:spPr>
      </p:sp>
      <p:sp>
        <p:nvSpPr>
          <p:cNvPr id="19" name="Shape 19"/>
          <p:cNvSpPr txBox="1"/>
          <p:nvPr/>
        </p:nvSpPr>
        <p:spPr>
          <a:xfrm>
            <a:off x="8445500" y="628650"/>
            <a:ext cx="38100" cy="38100"/>
          </a:xfrm>
          <a:prstGeom prst="ellipse">
            <a:avLst/>
          </a:prstGeom>
          <a:solidFill>
            <a:srgbClr val="d7d7d7"/>
          </a:solidFill>
          <a:ln>
            <a:noFill/>
          </a:ln>
        </p:spPr>
      </p:sp>
      <p:sp>
        <p:nvSpPr>
          <p:cNvPr id="20" name="Shape 20"/>
          <p:cNvSpPr txBox="1"/>
          <p:nvPr/>
        </p:nvSpPr>
        <p:spPr>
          <a:xfrm>
            <a:off x="8597900" y="628650"/>
            <a:ext cx="38100" cy="38100"/>
          </a:xfrm>
          <a:prstGeom prst="ellipse">
            <a:avLst/>
          </a:prstGeom>
          <a:solidFill>
            <a:srgbClr val="d7d7d7"/>
          </a:solidFill>
          <a:ln>
            <a:noFill/>
          </a:ln>
        </p:spPr>
      </p:sp>
      <p:sp>
        <p:nvSpPr>
          <p:cNvPr id="21" name="Shape 21"/>
          <p:cNvSpPr txBox="1"/>
          <p:nvPr/>
        </p:nvSpPr>
        <p:spPr>
          <a:xfrm>
            <a:off x="8750300" y="628650"/>
            <a:ext cx="38100" cy="38100"/>
          </a:xfrm>
          <a:prstGeom prst="ellipse">
            <a:avLst/>
          </a:prstGeom>
          <a:solidFill>
            <a:srgbClr val="d7d7d7"/>
          </a:solidFill>
          <a:ln>
            <a:noFill/>
          </a:ln>
        </p:spPr>
      </p:sp>
      <p:sp>
        <p:nvSpPr>
          <p:cNvPr id="22" name="Shape 22"/>
          <p:cNvSpPr txBox="1"/>
          <p:nvPr/>
        </p:nvSpPr>
        <p:spPr>
          <a:xfrm>
            <a:off x="7683500" y="781050"/>
            <a:ext cx="38100" cy="38100"/>
          </a:xfrm>
          <a:prstGeom prst="ellipse">
            <a:avLst/>
          </a:prstGeom>
          <a:solidFill>
            <a:srgbClr val="d7d7d7"/>
          </a:solidFill>
          <a:ln>
            <a:noFill/>
          </a:ln>
        </p:spPr>
      </p:sp>
      <p:sp>
        <p:nvSpPr>
          <p:cNvPr id="23" name="Shape 23"/>
          <p:cNvSpPr txBox="1"/>
          <p:nvPr/>
        </p:nvSpPr>
        <p:spPr>
          <a:xfrm>
            <a:off x="7835900" y="781050"/>
            <a:ext cx="38100" cy="38100"/>
          </a:xfrm>
          <a:prstGeom prst="ellipse">
            <a:avLst/>
          </a:prstGeom>
          <a:solidFill>
            <a:srgbClr val="d7d7d7"/>
          </a:solidFill>
          <a:ln>
            <a:noFill/>
          </a:ln>
        </p:spPr>
      </p:sp>
      <p:sp>
        <p:nvSpPr>
          <p:cNvPr id="24" name="Shape 24"/>
          <p:cNvSpPr txBox="1"/>
          <p:nvPr/>
        </p:nvSpPr>
        <p:spPr>
          <a:xfrm>
            <a:off x="7988300" y="781050"/>
            <a:ext cx="38100" cy="38100"/>
          </a:xfrm>
          <a:prstGeom prst="ellipse">
            <a:avLst/>
          </a:prstGeom>
          <a:solidFill>
            <a:srgbClr val="d7d7d7"/>
          </a:solidFill>
          <a:ln>
            <a:noFill/>
          </a:ln>
        </p:spPr>
      </p:sp>
      <p:sp>
        <p:nvSpPr>
          <p:cNvPr id="25" name="Shape 25"/>
          <p:cNvSpPr txBox="1"/>
          <p:nvPr/>
        </p:nvSpPr>
        <p:spPr>
          <a:xfrm>
            <a:off x="8140700" y="781050"/>
            <a:ext cx="38100" cy="38100"/>
          </a:xfrm>
          <a:prstGeom prst="ellipse">
            <a:avLst/>
          </a:prstGeom>
          <a:solidFill>
            <a:srgbClr val="d7d7d7"/>
          </a:solidFill>
          <a:ln>
            <a:noFill/>
          </a:ln>
        </p:spPr>
      </p:sp>
      <p:sp>
        <p:nvSpPr>
          <p:cNvPr id="26" name="Shape 26"/>
          <p:cNvSpPr txBox="1"/>
          <p:nvPr/>
        </p:nvSpPr>
        <p:spPr>
          <a:xfrm>
            <a:off x="8293100" y="781050"/>
            <a:ext cx="38100" cy="38100"/>
          </a:xfrm>
          <a:prstGeom prst="ellipse">
            <a:avLst/>
          </a:prstGeom>
          <a:solidFill>
            <a:srgbClr val="d7d7d7"/>
          </a:solidFill>
          <a:ln>
            <a:noFill/>
          </a:ln>
        </p:spPr>
      </p:sp>
      <p:sp>
        <p:nvSpPr>
          <p:cNvPr id="27" name="Shape 27"/>
          <p:cNvSpPr txBox="1"/>
          <p:nvPr/>
        </p:nvSpPr>
        <p:spPr>
          <a:xfrm>
            <a:off x="8445500" y="781050"/>
            <a:ext cx="38100" cy="38100"/>
          </a:xfrm>
          <a:prstGeom prst="ellipse">
            <a:avLst/>
          </a:prstGeom>
          <a:solidFill>
            <a:srgbClr val="d7d7d7"/>
          </a:solidFill>
          <a:ln>
            <a:noFill/>
          </a:ln>
        </p:spPr>
      </p:sp>
      <p:sp>
        <p:nvSpPr>
          <p:cNvPr id="28" name="Shape 28"/>
          <p:cNvSpPr txBox="1"/>
          <p:nvPr/>
        </p:nvSpPr>
        <p:spPr>
          <a:xfrm>
            <a:off x="8597900" y="781050"/>
            <a:ext cx="38100" cy="38100"/>
          </a:xfrm>
          <a:prstGeom prst="ellipse">
            <a:avLst/>
          </a:prstGeom>
          <a:solidFill>
            <a:srgbClr val="d7d7d7"/>
          </a:solidFill>
          <a:ln>
            <a:noFill/>
          </a:ln>
        </p:spPr>
      </p:sp>
      <p:sp>
        <p:nvSpPr>
          <p:cNvPr id="29" name="Shape 29"/>
          <p:cNvSpPr txBox="1"/>
          <p:nvPr/>
        </p:nvSpPr>
        <p:spPr>
          <a:xfrm>
            <a:off x="8750300" y="781050"/>
            <a:ext cx="38100" cy="38100"/>
          </a:xfrm>
          <a:prstGeom prst="ellipse">
            <a:avLst/>
          </a:prstGeom>
          <a:solidFill>
            <a:srgbClr val="d7d7d7"/>
          </a:solidFill>
          <a:ln>
            <a:noFill/>
          </a:ln>
        </p:spPr>
      </p:sp>
      <p:sp>
        <p:nvSpPr>
          <p:cNvPr id="30" name="Shape 30"/>
          <p:cNvSpPr txBox="1"/>
          <p:nvPr/>
        </p:nvSpPr>
        <p:spPr>
          <a:xfrm>
            <a:off x="7683500" y="933450"/>
            <a:ext cx="38100" cy="38100"/>
          </a:xfrm>
          <a:prstGeom prst="ellipse">
            <a:avLst/>
          </a:prstGeom>
          <a:solidFill>
            <a:srgbClr val="d7d7d7"/>
          </a:solidFill>
          <a:ln>
            <a:noFill/>
          </a:ln>
        </p:spPr>
      </p:sp>
      <p:sp>
        <p:nvSpPr>
          <p:cNvPr id="31" name="Shape 31"/>
          <p:cNvSpPr txBox="1"/>
          <p:nvPr/>
        </p:nvSpPr>
        <p:spPr>
          <a:xfrm>
            <a:off x="7835900" y="933450"/>
            <a:ext cx="38100" cy="38100"/>
          </a:xfrm>
          <a:prstGeom prst="ellipse">
            <a:avLst/>
          </a:prstGeom>
          <a:solidFill>
            <a:srgbClr val="d7d7d7"/>
          </a:solidFill>
          <a:ln>
            <a:noFill/>
          </a:ln>
        </p:spPr>
      </p:sp>
      <p:sp>
        <p:nvSpPr>
          <p:cNvPr id="32" name="Shape 32"/>
          <p:cNvSpPr txBox="1"/>
          <p:nvPr/>
        </p:nvSpPr>
        <p:spPr>
          <a:xfrm>
            <a:off x="7988300" y="933450"/>
            <a:ext cx="38100" cy="38100"/>
          </a:xfrm>
          <a:prstGeom prst="ellipse">
            <a:avLst/>
          </a:prstGeom>
          <a:solidFill>
            <a:srgbClr val="d7d7d7"/>
          </a:solidFill>
          <a:ln>
            <a:noFill/>
          </a:ln>
        </p:spPr>
      </p:sp>
      <p:sp>
        <p:nvSpPr>
          <p:cNvPr id="33" name="Shape 33"/>
          <p:cNvSpPr txBox="1"/>
          <p:nvPr/>
        </p:nvSpPr>
        <p:spPr>
          <a:xfrm>
            <a:off x="8140700" y="933450"/>
            <a:ext cx="38100" cy="38100"/>
          </a:xfrm>
          <a:prstGeom prst="ellipse">
            <a:avLst/>
          </a:prstGeom>
          <a:solidFill>
            <a:srgbClr val="d7d7d7"/>
          </a:solidFill>
          <a:ln>
            <a:noFill/>
          </a:ln>
        </p:spPr>
      </p:sp>
      <p:sp>
        <p:nvSpPr>
          <p:cNvPr id="34" name="Shape 34"/>
          <p:cNvSpPr txBox="1"/>
          <p:nvPr/>
        </p:nvSpPr>
        <p:spPr>
          <a:xfrm>
            <a:off x="8293100" y="933450"/>
            <a:ext cx="38100" cy="38100"/>
          </a:xfrm>
          <a:prstGeom prst="ellipse">
            <a:avLst/>
          </a:prstGeom>
          <a:solidFill>
            <a:srgbClr val="d7d7d7"/>
          </a:solidFill>
          <a:ln>
            <a:noFill/>
          </a:ln>
        </p:spPr>
      </p:sp>
      <p:sp>
        <p:nvSpPr>
          <p:cNvPr id="35" name="Shape 35"/>
          <p:cNvSpPr txBox="1"/>
          <p:nvPr/>
        </p:nvSpPr>
        <p:spPr>
          <a:xfrm>
            <a:off x="8445500" y="933450"/>
            <a:ext cx="38100" cy="38100"/>
          </a:xfrm>
          <a:prstGeom prst="ellipse">
            <a:avLst/>
          </a:prstGeom>
          <a:solidFill>
            <a:srgbClr val="d7d7d7"/>
          </a:solidFill>
          <a:ln>
            <a:noFill/>
          </a:ln>
        </p:spPr>
      </p:sp>
      <p:sp>
        <p:nvSpPr>
          <p:cNvPr id="36" name="Shape 36"/>
          <p:cNvSpPr txBox="1"/>
          <p:nvPr/>
        </p:nvSpPr>
        <p:spPr>
          <a:xfrm>
            <a:off x="8597900" y="933450"/>
            <a:ext cx="38100" cy="38100"/>
          </a:xfrm>
          <a:prstGeom prst="ellipse">
            <a:avLst/>
          </a:prstGeom>
          <a:solidFill>
            <a:srgbClr val="d7d7d7"/>
          </a:solidFill>
          <a:ln>
            <a:noFill/>
          </a:ln>
        </p:spPr>
      </p:sp>
      <p:sp>
        <p:nvSpPr>
          <p:cNvPr id="37" name="Shape 37"/>
          <p:cNvSpPr txBox="1"/>
          <p:nvPr/>
        </p:nvSpPr>
        <p:spPr>
          <a:xfrm>
            <a:off x="8750300" y="933450"/>
            <a:ext cx="38100" cy="38100"/>
          </a:xfrm>
          <a:prstGeom prst="ellipse">
            <a:avLst/>
          </a:prstGeom>
          <a:solidFill>
            <a:srgbClr val="d7d7d7"/>
          </a:solidFill>
          <a:ln>
            <a:noFill/>
          </a:ln>
        </p:spPr>
      </p:sp>
      <p:sp>
        <p:nvSpPr>
          <p:cNvPr id="38" name="Shape 38"/>
          <p:cNvSpPr txBox="1"/>
          <p:nvPr/>
        </p:nvSpPr>
        <p:spPr>
          <a:xfrm>
            <a:off x="7683500" y="1085850"/>
            <a:ext cx="38100" cy="38100"/>
          </a:xfrm>
          <a:prstGeom prst="ellipse">
            <a:avLst/>
          </a:prstGeom>
          <a:solidFill>
            <a:srgbClr val="d7d7d7"/>
          </a:solidFill>
          <a:ln>
            <a:noFill/>
          </a:ln>
        </p:spPr>
      </p:sp>
      <p:sp>
        <p:nvSpPr>
          <p:cNvPr id="39" name="Shape 39"/>
          <p:cNvSpPr txBox="1"/>
          <p:nvPr/>
        </p:nvSpPr>
        <p:spPr>
          <a:xfrm>
            <a:off x="7835900" y="1085850"/>
            <a:ext cx="38100" cy="38100"/>
          </a:xfrm>
          <a:prstGeom prst="ellipse">
            <a:avLst/>
          </a:prstGeom>
          <a:solidFill>
            <a:srgbClr val="d7d7d7"/>
          </a:solidFill>
          <a:ln>
            <a:noFill/>
          </a:ln>
        </p:spPr>
      </p:sp>
      <p:sp>
        <p:nvSpPr>
          <p:cNvPr id="40" name="Shape 40"/>
          <p:cNvSpPr txBox="1"/>
          <p:nvPr/>
        </p:nvSpPr>
        <p:spPr>
          <a:xfrm>
            <a:off x="7988300" y="1085850"/>
            <a:ext cx="38100" cy="38100"/>
          </a:xfrm>
          <a:prstGeom prst="ellipse">
            <a:avLst/>
          </a:prstGeom>
          <a:solidFill>
            <a:srgbClr val="d7d7d7"/>
          </a:solidFill>
          <a:ln>
            <a:noFill/>
          </a:ln>
        </p:spPr>
      </p:sp>
      <p:sp>
        <p:nvSpPr>
          <p:cNvPr id="41" name="Shape 41"/>
          <p:cNvSpPr txBox="1"/>
          <p:nvPr/>
        </p:nvSpPr>
        <p:spPr>
          <a:xfrm>
            <a:off x="8140700" y="1085850"/>
            <a:ext cx="38100" cy="38100"/>
          </a:xfrm>
          <a:prstGeom prst="ellipse">
            <a:avLst/>
          </a:prstGeom>
          <a:solidFill>
            <a:srgbClr val="d7d7d7"/>
          </a:solidFill>
          <a:ln>
            <a:noFill/>
          </a:ln>
        </p:spPr>
      </p:sp>
      <p:sp>
        <p:nvSpPr>
          <p:cNvPr id="42" name="Shape 42"/>
          <p:cNvSpPr txBox="1"/>
          <p:nvPr/>
        </p:nvSpPr>
        <p:spPr>
          <a:xfrm>
            <a:off x="8293100" y="1085850"/>
            <a:ext cx="38100" cy="38100"/>
          </a:xfrm>
          <a:prstGeom prst="ellipse">
            <a:avLst/>
          </a:prstGeom>
          <a:solidFill>
            <a:srgbClr val="d7d7d7"/>
          </a:solidFill>
          <a:ln>
            <a:noFill/>
          </a:ln>
        </p:spPr>
      </p:sp>
      <p:sp>
        <p:nvSpPr>
          <p:cNvPr id="43" name="Shape 43"/>
          <p:cNvSpPr txBox="1"/>
          <p:nvPr/>
        </p:nvSpPr>
        <p:spPr>
          <a:xfrm>
            <a:off x="8445500" y="1085850"/>
            <a:ext cx="38100" cy="38100"/>
          </a:xfrm>
          <a:prstGeom prst="ellipse">
            <a:avLst/>
          </a:prstGeom>
          <a:solidFill>
            <a:srgbClr val="d7d7d7"/>
          </a:solidFill>
          <a:ln>
            <a:noFill/>
          </a:ln>
        </p:spPr>
      </p:sp>
      <p:sp>
        <p:nvSpPr>
          <p:cNvPr id="44" name="Shape 44"/>
          <p:cNvSpPr txBox="1"/>
          <p:nvPr/>
        </p:nvSpPr>
        <p:spPr>
          <a:xfrm>
            <a:off x="8597900" y="1085850"/>
            <a:ext cx="38100" cy="38100"/>
          </a:xfrm>
          <a:prstGeom prst="ellipse">
            <a:avLst/>
          </a:prstGeom>
          <a:solidFill>
            <a:srgbClr val="d7d7d7"/>
          </a:solidFill>
          <a:ln>
            <a:noFill/>
          </a:ln>
        </p:spPr>
      </p:sp>
      <p:sp>
        <p:nvSpPr>
          <p:cNvPr id="45" name="Shape 45"/>
          <p:cNvSpPr txBox="1"/>
          <p:nvPr/>
        </p:nvSpPr>
        <p:spPr>
          <a:xfrm>
            <a:off x="8750300" y="1085850"/>
            <a:ext cx="38100" cy="38100"/>
          </a:xfrm>
          <a:prstGeom prst="ellipse">
            <a:avLst/>
          </a:prstGeom>
          <a:solidFill>
            <a:srgbClr val="d7d7d7"/>
          </a:solidFill>
          <a:ln>
            <a:noFill/>
          </a:ln>
        </p:spPr>
      </p:sp>
      <p:sp>
        <p:nvSpPr>
          <p:cNvPr id="46" name="Shape 46"/>
          <p:cNvSpPr txBox="1"/>
          <p:nvPr/>
        </p:nvSpPr>
        <p:spPr>
          <a:xfrm>
            <a:off x="7683500" y="1238250"/>
            <a:ext cx="38100" cy="38100"/>
          </a:xfrm>
          <a:prstGeom prst="ellipse">
            <a:avLst/>
          </a:prstGeom>
          <a:solidFill>
            <a:srgbClr val="d7d7d7"/>
          </a:solidFill>
          <a:ln>
            <a:noFill/>
          </a:ln>
        </p:spPr>
      </p:sp>
      <p:sp>
        <p:nvSpPr>
          <p:cNvPr id="47" name="Shape 47"/>
          <p:cNvSpPr txBox="1"/>
          <p:nvPr/>
        </p:nvSpPr>
        <p:spPr>
          <a:xfrm>
            <a:off x="7835900" y="1238250"/>
            <a:ext cx="38100" cy="38100"/>
          </a:xfrm>
          <a:prstGeom prst="ellipse">
            <a:avLst/>
          </a:prstGeom>
          <a:solidFill>
            <a:srgbClr val="d7d7d7"/>
          </a:solidFill>
          <a:ln>
            <a:noFill/>
          </a:ln>
        </p:spPr>
      </p:sp>
      <p:sp>
        <p:nvSpPr>
          <p:cNvPr id="48" name="Shape 48"/>
          <p:cNvSpPr txBox="1"/>
          <p:nvPr/>
        </p:nvSpPr>
        <p:spPr>
          <a:xfrm>
            <a:off x="7988300" y="1238250"/>
            <a:ext cx="38100" cy="38100"/>
          </a:xfrm>
          <a:prstGeom prst="ellipse">
            <a:avLst/>
          </a:prstGeom>
          <a:solidFill>
            <a:srgbClr val="d7d7d7"/>
          </a:solidFill>
          <a:ln>
            <a:noFill/>
          </a:ln>
        </p:spPr>
      </p:sp>
      <p:sp>
        <p:nvSpPr>
          <p:cNvPr id="49" name="Shape 49"/>
          <p:cNvSpPr txBox="1"/>
          <p:nvPr/>
        </p:nvSpPr>
        <p:spPr>
          <a:xfrm>
            <a:off x="8140700" y="1238250"/>
            <a:ext cx="38100" cy="38100"/>
          </a:xfrm>
          <a:prstGeom prst="ellipse">
            <a:avLst/>
          </a:prstGeom>
          <a:solidFill>
            <a:srgbClr val="d7d7d7"/>
          </a:solidFill>
          <a:ln>
            <a:noFill/>
          </a:ln>
        </p:spPr>
      </p:sp>
      <p:sp>
        <p:nvSpPr>
          <p:cNvPr id="50" name="Shape 50"/>
          <p:cNvSpPr txBox="1"/>
          <p:nvPr/>
        </p:nvSpPr>
        <p:spPr>
          <a:xfrm>
            <a:off x="8293100" y="1238250"/>
            <a:ext cx="38100" cy="38100"/>
          </a:xfrm>
          <a:prstGeom prst="ellipse">
            <a:avLst/>
          </a:prstGeom>
          <a:solidFill>
            <a:srgbClr val="d7d7d7"/>
          </a:solidFill>
          <a:ln>
            <a:noFill/>
          </a:ln>
        </p:spPr>
      </p:sp>
      <p:sp>
        <p:nvSpPr>
          <p:cNvPr id="51" name="Shape 51"/>
          <p:cNvSpPr txBox="1"/>
          <p:nvPr/>
        </p:nvSpPr>
        <p:spPr>
          <a:xfrm>
            <a:off x="8445500" y="1238250"/>
            <a:ext cx="38100" cy="38100"/>
          </a:xfrm>
          <a:prstGeom prst="ellipse">
            <a:avLst/>
          </a:prstGeom>
          <a:solidFill>
            <a:srgbClr val="d7d7d7"/>
          </a:solidFill>
          <a:ln>
            <a:noFill/>
          </a:ln>
        </p:spPr>
      </p:sp>
      <p:sp>
        <p:nvSpPr>
          <p:cNvPr id="52" name="Shape 52"/>
          <p:cNvSpPr txBox="1"/>
          <p:nvPr/>
        </p:nvSpPr>
        <p:spPr>
          <a:xfrm>
            <a:off x="8597900" y="1238250"/>
            <a:ext cx="38100" cy="38100"/>
          </a:xfrm>
          <a:prstGeom prst="ellipse">
            <a:avLst/>
          </a:prstGeom>
          <a:solidFill>
            <a:srgbClr val="d7d7d7"/>
          </a:solidFill>
          <a:ln>
            <a:noFill/>
          </a:ln>
        </p:spPr>
      </p:sp>
      <p:sp>
        <p:nvSpPr>
          <p:cNvPr id="53" name="Shape 53"/>
          <p:cNvSpPr txBox="1"/>
          <p:nvPr/>
        </p:nvSpPr>
        <p:spPr>
          <a:xfrm>
            <a:off x="8750300" y="1238250"/>
            <a:ext cx="38100" cy="38100"/>
          </a:xfrm>
          <a:prstGeom prst="ellipse">
            <a:avLst/>
          </a:prstGeom>
          <a:solidFill>
            <a:srgbClr val="d7d7d7"/>
          </a:solidFill>
          <a:ln>
            <a:noFill/>
          </a:ln>
        </p:spPr>
      </p:sp>
      <p:sp>
        <p:nvSpPr>
          <p:cNvPr id="54" name="Shape 54"/>
          <p:cNvSpPr txBox="1"/>
          <p:nvPr/>
        </p:nvSpPr>
        <p:spPr>
          <a:xfrm>
            <a:off x="10445750" y="5429250"/>
            <a:ext cx="38100" cy="38100"/>
          </a:xfrm>
          <a:prstGeom prst="ellipse">
            <a:avLst/>
          </a:prstGeom>
          <a:solidFill>
            <a:srgbClr val="ff1818"/>
          </a:solidFill>
          <a:ln>
            <a:noFill/>
          </a:ln>
        </p:spPr>
      </p:sp>
      <p:sp>
        <p:nvSpPr>
          <p:cNvPr id="55" name="Shape 55"/>
          <p:cNvSpPr txBox="1"/>
          <p:nvPr/>
        </p:nvSpPr>
        <p:spPr>
          <a:xfrm>
            <a:off x="10572750" y="5429250"/>
            <a:ext cx="38100" cy="38100"/>
          </a:xfrm>
          <a:prstGeom prst="ellipse">
            <a:avLst/>
          </a:prstGeom>
          <a:solidFill>
            <a:srgbClr val="ff1818"/>
          </a:solidFill>
          <a:ln>
            <a:noFill/>
          </a:ln>
        </p:spPr>
      </p:sp>
      <p:sp>
        <p:nvSpPr>
          <p:cNvPr id="56" name="Shape 56"/>
          <p:cNvSpPr txBox="1"/>
          <p:nvPr/>
        </p:nvSpPr>
        <p:spPr>
          <a:xfrm>
            <a:off x="10699750" y="5429250"/>
            <a:ext cx="38100" cy="38100"/>
          </a:xfrm>
          <a:prstGeom prst="ellipse">
            <a:avLst/>
          </a:prstGeom>
          <a:solidFill>
            <a:srgbClr val="ff1818"/>
          </a:solidFill>
          <a:ln>
            <a:noFill/>
          </a:ln>
        </p:spPr>
      </p:sp>
      <p:sp>
        <p:nvSpPr>
          <p:cNvPr id="57" name="Shape 57"/>
          <p:cNvSpPr txBox="1"/>
          <p:nvPr/>
        </p:nvSpPr>
        <p:spPr>
          <a:xfrm>
            <a:off x="10826750" y="5429250"/>
            <a:ext cx="38100" cy="38100"/>
          </a:xfrm>
          <a:prstGeom prst="ellipse">
            <a:avLst/>
          </a:prstGeom>
          <a:solidFill>
            <a:srgbClr val="ff1818"/>
          </a:solidFill>
          <a:ln>
            <a:noFill/>
          </a:ln>
        </p:spPr>
      </p:sp>
      <p:sp>
        <p:nvSpPr>
          <p:cNvPr id="58" name="Shape 58"/>
          <p:cNvSpPr txBox="1"/>
          <p:nvPr/>
        </p:nvSpPr>
        <p:spPr>
          <a:xfrm>
            <a:off x="10953750" y="5429250"/>
            <a:ext cx="38100" cy="38100"/>
          </a:xfrm>
          <a:prstGeom prst="ellipse">
            <a:avLst/>
          </a:prstGeom>
          <a:solidFill>
            <a:srgbClr val="ff1818"/>
          </a:solidFill>
          <a:ln>
            <a:noFill/>
          </a:ln>
        </p:spPr>
      </p:sp>
      <p:sp>
        <p:nvSpPr>
          <p:cNvPr id="59" name="Shape 59"/>
          <p:cNvSpPr txBox="1"/>
          <p:nvPr/>
        </p:nvSpPr>
        <p:spPr>
          <a:xfrm>
            <a:off x="11080750" y="5429250"/>
            <a:ext cx="38100" cy="38100"/>
          </a:xfrm>
          <a:prstGeom prst="ellipse">
            <a:avLst/>
          </a:prstGeom>
          <a:solidFill>
            <a:srgbClr val="ff1818"/>
          </a:solidFill>
          <a:ln>
            <a:noFill/>
          </a:ln>
        </p:spPr>
      </p:sp>
      <p:sp>
        <p:nvSpPr>
          <p:cNvPr id="60" name="Shape 60"/>
          <p:cNvSpPr txBox="1"/>
          <p:nvPr/>
        </p:nvSpPr>
        <p:spPr>
          <a:xfrm>
            <a:off x="11207750" y="5429250"/>
            <a:ext cx="38100" cy="38100"/>
          </a:xfrm>
          <a:prstGeom prst="ellipse">
            <a:avLst/>
          </a:prstGeom>
          <a:solidFill>
            <a:srgbClr val="ff1818"/>
          </a:solidFill>
          <a:ln>
            <a:noFill/>
          </a:ln>
        </p:spPr>
      </p:sp>
      <p:sp>
        <p:nvSpPr>
          <p:cNvPr id="61" name="Shape 61"/>
          <p:cNvSpPr txBox="1"/>
          <p:nvPr/>
        </p:nvSpPr>
        <p:spPr>
          <a:xfrm>
            <a:off x="11334750" y="5429250"/>
            <a:ext cx="38100" cy="38100"/>
          </a:xfrm>
          <a:prstGeom prst="ellipse">
            <a:avLst/>
          </a:prstGeom>
          <a:solidFill>
            <a:srgbClr val="ff1818"/>
          </a:solidFill>
          <a:ln>
            <a:noFill/>
          </a:ln>
        </p:spPr>
      </p:sp>
      <p:sp>
        <p:nvSpPr>
          <p:cNvPr id="62" name="Shape 62"/>
          <p:cNvSpPr txBox="1"/>
          <p:nvPr/>
        </p:nvSpPr>
        <p:spPr>
          <a:xfrm>
            <a:off x="10445750" y="5556250"/>
            <a:ext cx="38100" cy="38100"/>
          </a:xfrm>
          <a:prstGeom prst="ellipse">
            <a:avLst/>
          </a:prstGeom>
          <a:solidFill>
            <a:srgbClr val="ff1818"/>
          </a:solidFill>
          <a:ln>
            <a:noFill/>
          </a:ln>
        </p:spPr>
      </p:sp>
      <p:sp>
        <p:nvSpPr>
          <p:cNvPr id="63" name="Shape 63"/>
          <p:cNvSpPr txBox="1"/>
          <p:nvPr/>
        </p:nvSpPr>
        <p:spPr>
          <a:xfrm>
            <a:off x="10572750" y="5556250"/>
            <a:ext cx="38100" cy="38100"/>
          </a:xfrm>
          <a:prstGeom prst="ellipse">
            <a:avLst/>
          </a:prstGeom>
          <a:solidFill>
            <a:srgbClr val="ff1818"/>
          </a:solidFill>
          <a:ln>
            <a:noFill/>
          </a:ln>
        </p:spPr>
      </p:sp>
      <p:sp>
        <p:nvSpPr>
          <p:cNvPr id="64" name="Shape 64"/>
          <p:cNvSpPr txBox="1"/>
          <p:nvPr/>
        </p:nvSpPr>
        <p:spPr>
          <a:xfrm>
            <a:off x="10699750" y="5556250"/>
            <a:ext cx="38100" cy="38100"/>
          </a:xfrm>
          <a:prstGeom prst="ellipse">
            <a:avLst/>
          </a:prstGeom>
          <a:solidFill>
            <a:srgbClr val="ff1818"/>
          </a:solidFill>
          <a:ln>
            <a:noFill/>
          </a:ln>
        </p:spPr>
      </p:sp>
      <p:sp>
        <p:nvSpPr>
          <p:cNvPr id="65" name="Shape 65"/>
          <p:cNvSpPr txBox="1"/>
          <p:nvPr/>
        </p:nvSpPr>
        <p:spPr>
          <a:xfrm>
            <a:off x="10826750" y="5556250"/>
            <a:ext cx="38100" cy="38100"/>
          </a:xfrm>
          <a:prstGeom prst="ellipse">
            <a:avLst/>
          </a:prstGeom>
          <a:solidFill>
            <a:srgbClr val="ff1818"/>
          </a:solidFill>
          <a:ln>
            <a:noFill/>
          </a:ln>
        </p:spPr>
      </p:sp>
      <p:sp>
        <p:nvSpPr>
          <p:cNvPr id="66" name="Shape 66"/>
          <p:cNvSpPr txBox="1"/>
          <p:nvPr/>
        </p:nvSpPr>
        <p:spPr>
          <a:xfrm>
            <a:off x="10953750" y="5556250"/>
            <a:ext cx="38100" cy="38100"/>
          </a:xfrm>
          <a:prstGeom prst="ellipse">
            <a:avLst/>
          </a:prstGeom>
          <a:solidFill>
            <a:srgbClr val="ff1818"/>
          </a:solidFill>
          <a:ln>
            <a:noFill/>
          </a:ln>
        </p:spPr>
      </p:sp>
      <p:sp>
        <p:nvSpPr>
          <p:cNvPr id="67" name="Shape 67"/>
          <p:cNvSpPr txBox="1"/>
          <p:nvPr/>
        </p:nvSpPr>
        <p:spPr>
          <a:xfrm>
            <a:off x="11080750" y="5556250"/>
            <a:ext cx="38100" cy="38100"/>
          </a:xfrm>
          <a:prstGeom prst="ellipse">
            <a:avLst/>
          </a:prstGeom>
          <a:solidFill>
            <a:srgbClr val="ff1818"/>
          </a:solidFill>
          <a:ln>
            <a:noFill/>
          </a:ln>
        </p:spPr>
      </p:sp>
      <p:sp>
        <p:nvSpPr>
          <p:cNvPr id="68" name="Shape 68"/>
          <p:cNvSpPr txBox="1"/>
          <p:nvPr/>
        </p:nvSpPr>
        <p:spPr>
          <a:xfrm>
            <a:off x="11207750" y="5556250"/>
            <a:ext cx="38100" cy="38100"/>
          </a:xfrm>
          <a:prstGeom prst="ellipse">
            <a:avLst/>
          </a:prstGeom>
          <a:solidFill>
            <a:srgbClr val="ff1818"/>
          </a:solidFill>
          <a:ln>
            <a:noFill/>
          </a:ln>
        </p:spPr>
      </p:sp>
      <p:sp>
        <p:nvSpPr>
          <p:cNvPr id="69" name="Shape 69"/>
          <p:cNvSpPr txBox="1"/>
          <p:nvPr/>
        </p:nvSpPr>
        <p:spPr>
          <a:xfrm>
            <a:off x="11334750" y="5556250"/>
            <a:ext cx="38100" cy="38100"/>
          </a:xfrm>
          <a:prstGeom prst="ellipse">
            <a:avLst/>
          </a:prstGeom>
          <a:solidFill>
            <a:srgbClr val="ff1818"/>
          </a:solidFill>
          <a:ln>
            <a:noFill/>
          </a:ln>
        </p:spPr>
      </p:sp>
      <p:sp>
        <p:nvSpPr>
          <p:cNvPr id="70" name="Shape 70"/>
          <p:cNvSpPr txBox="1"/>
          <p:nvPr/>
        </p:nvSpPr>
        <p:spPr>
          <a:xfrm>
            <a:off x="10445750" y="5683250"/>
            <a:ext cx="38100" cy="38100"/>
          </a:xfrm>
          <a:prstGeom prst="ellipse">
            <a:avLst/>
          </a:prstGeom>
          <a:solidFill>
            <a:srgbClr val="ff1818"/>
          </a:solidFill>
          <a:ln>
            <a:noFill/>
          </a:ln>
        </p:spPr>
      </p:sp>
      <p:sp>
        <p:nvSpPr>
          <p:cNvPr id="71" name="Shape 71"/>
          <p:cNvSpPr txBox="1"/>
          <p:nvPr/>
        </p:nvSpPr>
        <p:spPr>
          <a:xfrm>
            <a:off x="10572750" y="5683250"/>
            <a:ext cx="38100" cy="38100"/>
          </a:xfrm>
          <a:prstGeom prst="ellipse">
            <a:avLst/>
          </a:prstGeom>
          <a:solidFill>
            <a:srgbClr val="ff1818"/>
          </a:solidFill>
          <a:ln>
            <a:noFill/>
          </a:ln>
        </p:spPr>
      </p:sp>
      <p:sp>
        <p:nvSpPr>
          <p:cNvPr id="72" name="Shape 72"/>
          <p:cNvSpPr txBox="1"/>
          <p:nvPr/>
        </p:nvSpPr>
        <p:spPr>
          <a:xfrm>
            <a:off x="10699750" y="5683250"/>
            <a:ext cx="38100" cy="38100"/>
          </a:xfrm>
          <a:prstGeom prst="ellipse">
            <a:avLst/>
          </a:prstGeom>
          <a:solidFill>
            <a:srgbClr val="ff1818"/>
          </a:solidFill>
          <a:ln>
            <a:noFill/>
          </a:ln>
        </p:spPr>
      </p:sp>
      <p:sp>
        <p:nvSpPr>
          <p:cNvPr id="73" name="Shape 73"/>
          <p:cNvSpPr txBox="1"/>
          <p:nvPr/>
        </p:nvSpPr>
        <p:spPr>
          <a:xfrm>
            <a:off x="10826750" y="5683250"/>
            <a:ext cx="38100" cy="38100"/>
          </a:xfrm>
          <a:prstGeom prst="ellipse">
            <a:avLst/>
          </a:prstGeom>
          <a:solidFill>
            <a:srgbClr val="ff1818"/>
          </a:solidFill>
          <a:ln>
            <a:noFill/>
          </a:ln>
        </p:spPr>
      </p:sp>
      <p:sp>
        <p:nvSpPr>
          <p:cNvPr id="74" name="Shape 74"/>
          <p:cNvSpPr txBox="1"/>
          <p:nvPr/>
        </p:nvSpPr>
        <p:spPr>
          <a:xfrm>
            <a:off x="10953750" y="5683250"/>
            <a:ext cx="38100" cy="38100"/>
          </a:xfrm>
          <a:prstGeom prst="ellipse">
            <a:avLst/>
          </a:prstGeom>
          <a:solidFill>
            <a:srgbClr val="ff1818"/>
          </a:solidFill>
          <a:ln>
            <a:noFill/>
          </a:ln>
        </p:spPr>
      </p:sp>
      <p:sp>
        <p:nvSpPr>
          <p:cNvPr id="75" name="Shape 75"/>
          <p:cNvSpPr txBox="1"/>
          <p:nvPr/>
        </p:nvSpPr>
        <p:spPr>
          <a:xfrm>
            <a:off x="11080750" y="5683250"/>
            <a:ext cx="38100" cy="38100"/>
          </a:xfrm>
          <a:prstGeom prst="ellipse">
            <a:avLst/>
          </a:prstGeom>
          <a:solidFill>
            <a:srgbClr val="ff1818"/>
          </a:solidFill>
          <a:ln>
            <a:noFill/>
          </a:ln>
        </p:spPr>
      </p:sp>
      <p:sp>
        <p:nvSpPr>
          <p:cNvPr id="76" name="Shape 76"/>
          <p:cNvSpPr txBox="1"/>
          <p:nvPr/>
        </p:nvSpPr>
        <p:spPr>
          <a:xfrm>
            <a:off x="11207750" y="5683250"/>
            <a:ext cx="38100" cy="38100"/>
          </a:xfrm>
          <a:prstGeom prst="ellipse">
            <a:avLst/>
          </a:prstGeom>
          <a:solidFill>
            <a:srgbClr val="ff1818"/>
          </a:solidFill>
          <a:ln>
            <a:noFill/>
          </a:ln>
        </p:spPr>
      </p:sp>
      <p:sp>
        <p:nvSpPr>
          <p:cNvPr id="77" name="Shape 77"/>
          <p:cNvSpPr txBox="1"/>
          <p:nvPr/>
        </p:nvSpPr>
        <p:spPr>
          <a:xfrm>
            <a:off x="11334750" y="5683250"/>
            <a:ext cx="38100" cy="38100"/>
          </a:xfrm>
          <a:prstGeom prst="ellipse">
            <a:avLst/>
          </a:prstGeom>
          <a:solidFill>
            <a:srgbClr val="ff1818"/>
          </a:solidFill>
          <a:ln>
            <a:noFill/>
          </a:ln>
        </p:spPr>
      </p:sp>
      <p:sp>
        <p:nvSpPr>
          <p:cNvPr id="78" name="Shape 78"/>
          <p:cNvSpPr txBox="1"/>
          <p:nvPr/>
        </p:nvSpPr>
        <p:spPr>
          <a:xfrm>
            <a:off x="10445750" y="5810250"/>
            <a:ext cx="38100" cy="38100"/>
          </a:xfrm>
          <a:prstGeom prst="ellipse">
            <a:avLst/>
          </a:prstGeom>
          <a:solidFill>
            <a:srgbClr val="ff1818"/>
          </a:solidFill>
          <a:ln>
            <a:noFill/>
          </a:ln>
        </p:spPr>
      </p:sp>
      <p:sp>
        <p:nvSpPr>
          <p:cNvPr id="79" name="Shape 79"/>
          <p:cNvSpPr txBox="1"/>
          <p:nvPr/>
        </p:nvSpPr>
        <p:spPr>
          <a:xfrm>
            <a:off x="10572750" y="5810250"/>
            <a:ext cx="38100" cy="38100"/>
          </a:xfrm>
          <a:prstGeom prst="ellipse">
            <a:avLst/>
          </a:prstGeom>
          <a:solidFill>
            <a:srgbClr val="ff1818"/>
          </a:solidFill>
          <a:ln>
            <a:noFill/>
          </a:ln>
        </p:spPr>
      </p:sp>
      <p:sp>
        <p:nvSpPr>
          <p:cNvPr id="80" name="Shape 80"/>
          <p:cNvSpPr txBox="1"/>
          <p:nvPr/>
        </p:nvSpPr>
        <p:spPr>
          <a:xfrm>
            <a:off x="10699750" y="5810250"/>
            <a:ext cx="38100" cy="38100"/>
          </a:xfrm>
          <a:prstGeom prst="ellipse">
            <a:avLst/>
          </a:prstGeom>
          <a:solidFill>
            <a:srgbClr val="ff1818"/>
          </a:solidFill>
          <a:ln>
            <a:noFill/>
          </a:ln>
        </p:spPr>
      </p:sp>
      <p:sp>
        <p:nvSpPr>
          <p:cNvPr id="81" name="Shape 81"/>
          <p:cNvSpPr txBox="1"/>
          <p:nvPr/>
        </p:nvSpPr>
        <p:spPr>
          <a:xfrm>
            <a:off x="10826750" y="5810250"/>
            <a:ext cx="38100" cy="38100"/>
          </a:xfrm>
          <a:prstGeom prst="ellipse">
            <a:avLst/>
          </a:prstGeom>
          <a:solidFill>
            <a:srgbClr val="ff1818"/>
          </a:solidFill>
          <a:ln>
            <a:noFill/>
          </a:ln>
        </p:spPr>
      </p:sp>
      <p:sp>
        <p:nvSpPr>
          <p:cNvPr id="82" name="Shape 82"/>
          <p:cNvSpPr txBox="1"/>
          <p:nvPr/>
        </p:nvSpPr>
        <p:spPr>
          <a:xfrm>
            <a:off x="10953750" y="5810250"/>
            <a:ext cx="38100" cy="38100"/>
          </a:xfrm>
          <a:prstGeom prst="ellipse">
            <a:avLst/>
          </a:prstGeom>
          <a:solidFill>
            <a:srgbClr val="ff1818"/>
          </a:solidFill>
          <a:ln>
            <a:noFill/>
          </a:ln>
        </p:spPr>
      </p:sp>
      <p:sp>
        <p:nvSpPr>
          <p:cNvPr id="83" name="Shape 83"/>
          <p:cNvSpPr txBox="1"/>
          <p:nvPr/>
        </p:nvSpPr>
        <p:spPr>
          <a:xfrm>
            <a:off x="11080750" y="5810250"/>
            <a:ext cx="38100" cy="38100"/>
          </a:xfrm>
          <a:prstGeom prst="ellipse">
            <a:avLst/>
          </a:prstGeom>
          <a:solidFill>
            <a:srgbClr val="ff1818"/>
          </a:solidFill>
          <a:ln>
            <a:noFill/>
          </a:ln>
        </p:spPr>
      </p:sp>
      <p:sp>
        <p:nvSpPr>
          <p:cNvPr id="84" name="Shape 84"/>
          <p:cNvSpPr txBox="1"/>
          <p:nvPr/>
        </p:nvSpPr>
        <p:spPr>
          <a:xfrm>
            <a:off x="11207750" y="5810250"/>
            <a:ext cx="38100" cy="38100"/>
          </a:xfrm>
          <a:prstGeom prst="ellipse">
            <a:avLst/>
          </a:prstGeom>
          <a:solidFill>
            <a:srgbClr val="ff1818"/>
          </a:solidFill>
          <a:ln>
            <a:noFill/>
          </a:ln>
        </p:spPr>
      </p:sp>
      <p:sp>
        <p:nvSpPr>
          <p:cNvPr id="85" name="Shape 85"/>
          <p:cNvSpPr txBox="1"/>
          <p:nvPr/>
        </p:nvSpPr>
        <p:spPr>
          <a:xfrm>
            <a:off x="11334750" y="5810250"/>
            <a:ext cx="38100" cy="38100"/>
          </a:xfrm>
          <a:prstGeom prst="ellipse">
            <a:avLst/>
          </a:prstGeom>
          <a:solidFill>
            <a:srgbClr val="ff1818"/>
          </a:solidFill>
          <a:ln>
            <a:noFill/>
          </a:ln>
        </p:spPr>
      </p:sp>
      <p:sp>
        <p:nvSpPr>
          <p:cNvPr id="86" name="Shape 86"/>
          <p:cNvSpPr txBox="1"/>
          <p:nvPr/>
        </p:nvSpPr>
        <p:spPr>
          <a:xfrm>
            <a:off x="6604000" y="5715000"/>
            <a:ext cx="177800" cy="762000"/>
          </a:xfrm>
          <a:prstGeom prst="rect">
            <a:avLst/>
          </a:prstGeom>
          <a:solidFill>
            <a:srgbClr val="eeeeee"/>
          </a:solidFill>
          <a:ln>
            <a:noFill/>
          </a:ln>
        </p:spPr>
      </p:sp>
      <p:sp>
        <p:nvSpPr>
          <p:cNvPr id="87" name="Shape 87"/>
          <p:cNvSpPr txBox="1"/>
          <p:nvPr/>
        </p:nvSpPr>
        <p:spPr>
          <a:xfrm>
            <a:off x="7023100" y="5556250"/>
            <a:ext cx="177800" cy="920750"/>
          </a:xfrm>
          <a:prstGeom prst="rect">
            <a:avLst/>
          </a:prstGeom>
          <a:solidFill>
            <a:srgbClr val="eeeeee"/>
          </a:solidFill>
          <a:ln>
            <a:noFill/>
          </a:ln>
        </p:spPr>
      </p:sp>
      <p:sp>
        <p:nvSpPr>
          <p:cNvPr id="88" name="Shape 88"/>
          <p:cNvSpPr txBox="1"/>
          <p:nvPr/>
        </p:nvSpPr>
        <p:spPr>
          <a:xfrm>
            <a:off x="7442200" y="5397500"/>
            <a:ext cx="177800" cy="1079500"/>
          </a:xfrm>
          <a:prstGeom prst="rect">
            <a:avLst/>
          </a:prstGeom>
          <a:solidFill>
            <a:srgbClr val="eeeeee"/>
          </a:solidFill>
          <a:ln>
            <a:noFill/>
          </a:ln>
        </p:spPr>
      </p:sp>
      <p:sp>
        <p:nvSpPr>
          <p:cNvPr id="89" name="Shape 89"/>
          <p:cNvSpPr txBox="1"/>
          <p:nvPr/>
        </p:nvSpPr>
        <p:spPr>
          <a:xfrm>
            <a:off x="7861300" y="5238750"/>
            <a:ext cx="177800" cy="1238250"/>
          </a:xfrm>
          <a:prstGeom prst="rect">
            <a:avLst/>
          </a:prstGeom>
          <a:solidFill>
            <a:srgbClr val="eeeeee"/>
          </a:solidFill>
          <a:ln>
            <a:noFill/>
          </a:ln>
        </p:spPr>
      </p:sp>
      <p:sp>
        <p:nvSpPr>
          <p:cNvPr id="90" name="Shape 90"/>
          <p:cNvSpPr txBox="1"/>
          <p:nvPr/>
        </p:nvSpPr>
        <p:spPr>
          <a:xfrm>
            <a:off x="8280400" y="5080000"/>
            <a:ext cx="177800" cy="1397000"/>
          </a:xfrm>
          <a:prstGeom prst="rect">
            <a:avLst/>
          </a:prstGeom>
          <a:solidFill>
            <a:srgbClr val="eeeeee"/>
          </a:solidFill>
          <a:ln>
            <a:noFill/>
          </a:ln>
        </p:spPr>
      </p:sp>
      <p:sp>
        <p:nvSpPr>
          <p:cNvPr id="91" name="Shape 91"/>
          <p:cNvSpPr txBox="1"/>
          <p:nvPr/>
        </p:nvSpPr>
        <p:spPr>
          <a:xfrm>
            <a:off x="8699500" y="4921250"/>
            <a:ext cx="177800" cy="1555750"/>
          </a:xfrm>
          <a:prstGeom prst="rect">
            <a:avLst/>
          </a:prstGeom>
          <a:solidFill>
            <a:srgbClr val="eeeeee"/>
          </a:solidFill>
          <a:ln>
            <a:noFill/>
          </a:ln>
        </p:spPr>
      </p:sp>
      <p:sp>
        <p:nvSpPr>
          <p:cNvPr id="92" name="Shape 92"/>
          <p:cNvSpPr txBox="1"/>
          <p:nvPr/>
        </p:nvSpPr>
        <p:spPr>
          <a:xfrm>
            <a:off x="9118600" y="4762500"/>
            <a:ext cx="177800" cy="1714500"/>
          </a:xfrm>
          <a:prstGeom prst="rect">
            <a:avLst/>
          </a:prstGeom>
          <a:solidFill>
            <a:srgbClr val="eeeeee"/>
          </a:solidFill>
          <a:ln>
            <a:noFill/>
          </a:ln>
        </p:spPr>
      </p:sp>
      <p:sp>
        <p:nvSpPr>
          <p:cNvPr id="93" name="Shape 93"/>
          <p:cNvSpPr txBox="1"/>
          <p:nvPr/>
        </p:nvSpPr>
        <p:spPr>
          <a:xfrm>
            <a:off x="9537700" y="4603750"/>
            <a:ext cx="177800" cy="1873250"/>
          </a:xfrm>
          <a:prstGeom prst="rect">
            <a:avLst/>
          </a:prstGeom>
          <a:solidFill>
            <a:srgbClr val="eeeeee"/>
          </a:solidFill>
          <a:ln>
            <a:noFill/>
          </a:ln>
        </p:spPr>
      </p:sp>
      <p:sp>
        <p:nvSpPr>
          <p:cNvPr id="94" name="Text 94"/>
          <p:cNvSpPr txBox="1"/>
          <p:nvPr/>
        </p:nvSpPr>
        <p:spPr>
          <a:xfrm>
            <a:off x="571500" y="920750"/>
            <a:ext cx="1905000" cy="254000"/>
          </a:xfrm>
          <a:prstGeom prst="rect">
            <a:avLst/>
          </a:prstGeom>
          <a:noFill/>
          <a:ln>
            <a:noFill/>
          </a:ln>
        </p:spPr>
        <p:txBody>
          <a:bodyPr wrap="square" anchor="t" lIns="12700" tIns="12700" rIns="12700" bIns="12700"/>
          <a:lstStyle/>
          <a:p>
            <a:pPr algn="l"/>
            <a:r>
              <a:rPr lang="ja-JP" sz="2000" b="1">
                <a:solidFill>
                  <a:srgbClr val="111111"/>
                </a:solidFill>
                <a:latin typeface="Yu Gothic"/>
                <a:ea typeface="Yu Gothic"/>
              </a:rPr>
              <a:t>株式会社三幸　御中</a:t>
            </a:r>
          </a:p>
        </p:txBody>
      </p:sp>
      <p:sp>
        <p:nvSpPr>
          <p:cNvPr id="95" name="Text 95"/>
          <p:cNvSpPr txBox="1"/>
          <p:nvPr/>
        </p:nvSpPr>
        <p:spPr>
          <a:xfrm>
            <a:off x="571500" y="1619250"/>
            <a:ext cx="6096000" cy="558800"/>
          </a:xfrm>
          <a:prstGeom prst="rect">
            <a:avLst/>
          </a:prstGeom>
          <a:noFill/>
          <a:ln>
            <a:noFill/>
          </a:ln>
        </p:spPr>
        <p:txBody>
          <a:bodyPr wrap="square" anchor="t" lIns="12700" tIns="12700" rIns="12700" bIns="12700"/>
          <a:lstStyle/>
          <a:p>
            <a:pPr algn="l"/>
            <a:r>
              <a:rPr lang="ja-JP" sz="5200" b="1">
                <a:solidFill>
                  <a:srgbClr val="111111"/>
                </a:solidFill>
                <a:latin typeface="Yu Gothic"/>
                <a:ea typeface="Yu Gothic"/>
              </a:rPr>
              <a:t>基幹管理システムの</a:t>
            </a:r>
          </a:p>
        </p:txBody>
      </p:sp>
      <p:sp>
        <p:nvSpPr>
          <p:cNvPr id="96" name="Text 96"/>
          <p:cNvSpPr txBox="1"/>
          <p:nvPr/>
        </p:nvSpPr>
        <p:spPr>
          <a:xfrm>
            <a:off x="571500" y="2254250"/>
            <a:ext cx="3810000" cy="558800"/>
          </a:xfrm>
          <a:prstGeom prst="rect">
            <a:avLst/>
          </a:prstGeom>
          <a:noFill/>
          <a:ln>
            <a:noFill/>
          </a:ln>
        </p:spPr>
        <p:txBody>
          <a:bodyPr wrap="square" anchor="t" lIns="12700" tIns="12700" rIns="12700" bIns="12700"/>
          <a:lstStyle/>
          <a:p>
            <a:pPr algn="l"/>
            <a:r>
              <a:rPr lang="ja-JP" sz="5200" b="1">
                <a:solidFill>
                  <a:srgbClr val="111111"/>
                </a:solidFill>
                <a:latin typeface="Yu Gothic"/>
                <a:ea typeface="Yu Gothic"/>
              </a:rPr>
              <a:t>ご提案資料</a:t>
            </a:r>
          </a:p>
        </p:txBody>
      </p:sp>
      <p:sp>
        <p:nvSpPr>
          <p:cNvPr id="97" name="Text 97"/>
          <p:cNvSpPr txBox="1"/>
          <p:nvPr/>
        </p:nvSpPr>
        <p:spPr>
          <a:xfrm>
            <a:off x="571500" y="3206750"/>
            <a:ext cx="6985000" cy="304800"/>
          </a:xfrm>
          <a:prstGeom prst="rect">
            <a:avLst/>
          </a:prstGeom>
          <a:noFill/>
          <a:ln>
            <a:noFill/>
          </a:ln>
        </p:spPr>
        <p:txBody>
          <a:bodyPr wrap="square" anchor="t" lIns="12700" tIns="12700" rIns="12700" bIns="12700"/>
          <a:lstStyle/>
          <a:p>
            <a:pPr algn="l"/>
            <a:r>
              <a:rPr lang="ja-JP" sz="2800" b="1">
                <a:solidFill>
                  <a:srgbClr val="ff1818"/>
                </a:solidFill>
                <a:latin typeface="Yu Gothic"/>
                <a:ea typeface="Yu Gothic"/>
              </a:rPr>
              <a:t>他社コンペ・社内稟議向け / モック改善版のご提案</a:t>
            </a:r>
          </a:p>
        </p:txBody>
      </p:sp>
      <p:sp>
        <p:nvSpPr>
          <p:cNvPr id="98" name="Shape 98"/>
          <p:cNvSpPr txBox="1"/>
          <p:nvPr/>
        </p:nvSpPr>
        <p:spPr>
          <a:xfrm>
            <a:off x="571500" y="4095750"/>
            <a:ext cx="5492750" cy="571500"/>
          </a:xfrm>
          <a:prstGeom prst="roundRect">
            <a:avLst/>
          </a:prstGeom>
          <a:solidFill>
            <a:srgbClr val="ffffff"/>
          </a:solidFill>
          <a:ln w="6350">
            <a:solidFill>
              <a:srgbClr val="dedede"/>
            </a:solidFill>
          </a:ln>
        </p:spPr>
      </p:sp>
      <p:sp>
        <p:nvSpPr>
          <p:cNvPr id="99" name="Text 99"/>
          <p:cNvSpPr txBox="1"/>
          <p:nvPr/>
        </p:nvSpPr>
        <p:spPr>
          <a:xfrm>
            <a:off x="800100" y="4273550"/>
            <a:ext cx="5080000" cy="177800"/>
          </a:xfrm>
          <a:prstGeom prst="rect">
            <a:avLst/>
          </a:prstGeom>
          <a:noFill/>
          <a:ln>
            <a:noFill/>
          </a:ln>
        </p:spPr>
        <p:txBody>
          <a:bodyPr wrap="square" anchor="t" lIns="12700" tIns="12700" rIns="12700" bIns="12700"/>
          <a:lstStyle/>
          <a:p>
            <a:pPr algn="l"/>
            <a:r>
              <a:rPr lang="ja-JP" sz="2000" b="1">
                <a:solidFill>
                  <a:srgbClr val="111111"/>
                </a:solidFill>
                <a:latin typeface="Yu Gothic"/>
                <a:ea typeface="Yu Gothic"/>
              </a:rPr>
              <a:t>改善版モック / 画面別要件 / 開発ロードマップ</a:t>
            </a:r>
          </a:p>
        </p:txBody>
      </p:sp>
      <p:sp>
        <p:nvSpPr>
          <p:cNvPr id="100" name="Text 100"/>
          <p:cNvSpPr txBox="1"/>
          <p:nvPr/>
        </p:nvSpPr>
        <p:spPr>
          <a:xfrm>
            <a:off x="571500" y="3746500"/>
            <a:ext cx="1651000" cy="228600"/>
          </a:xfrm>
          <a:prstGeom prst="rect">
            <a:avLst/>
          </a:prstGeom>
          <a:noFill/>
          <a:ln>
            <a:noFill/>
          </a:ln>
        </p:spPr>
        <p:txBody>
          <a:bodyPr wrap="square" anchor="t" lIns="12700" tIns="12700" rIns="12700" bIns="12700"/>
          <a:lstStyle/>
          <a:p>
            <a:pPr algn="l"/>
            <a:r>
              <a:rPr lang="ja-JP" sz="2200" b="1">
                <a:solidFill>
                  <a:srgbClr val="111111"/>
                </a:solidFill>
                <a:latin typeface="Yu Gothic"/>
                <a:ea typeface="Yu Gothic"/>
              </a:rPr>
              <a:t>2026年04月25日</a:t>
            </a:r>
          </a:p>
        </p:txBody>
      </p:sp>
      <p:sp>
        <p:nvSpPr>
          <p:cNvPr id="101" name="Text 101"/>
          <p:cNvSpPr txBox="1"/>
          <p:nvPr/>
        </p:nvSpPr>
        <p:spPr>
          <a:xfrm>
            <a:off x="8382000" y="5588000"/>
            <a:ext cx="2095500" cy="444500"/>
          </a:xfrm>
          <a:prstGeom prst="rect">
            <a:avLst/>
          </a:prstGeom>
          <a:noFill/>
          <a:ln>
            <a:noFill/>
          </a:ln>
        </p:spPr>
        <p:txBody>
          <a:bodyPr wrap="square" anchor="t" lIns="12700" tIns="12700" rIns="12700" bIns="12700"/>
          <a:lstStyle/>
          <a:p>
            <a:pPr algn="l"/>
            <a:r>
              <a:rPr lang="ja-JP" sz="4800" b="1">
                <a:solidFill>
                  <a:srgbClr val="111111"/>
                </a:solidFill>
                <a:latin typeface="Yu Gothic"/>
                <a:ea typeface="Yu Gothic"/>
              </a:rPr>
              <a:t>Field X</a:t>
            </a:r>
          </a:p>
        </p:txBody>
      </p:sp>
      <p:sp>
        <p:nvSpPr>
          <p:cNvPr id="102" name="Text 102"/>
          <p:cNvSpPr txBox="1"/>
          <p:nvPr/>
        </p:nvSpPr>
        <p:spPr>
          <a:xfrm>
            <a:off x="444500" y="6413500"/>
            <a:ext cx="4445000" cy="228600"/>
          </a:xfrm>
          <a:prstGeom prst="rect">
            <a:avLst/>
          </a:prstGeom>
          <a:noFill/>
          <a:ln>
            <a:noFill/>
          </a:ln>
        </p:spPr>
        <p:txBody>
          <a:bodyPr wrap="square" anchor="t" lIns="12700" tIns="12700" rIns="12700" bIns="12700"/>
          <a:lstStyle/>
          <a:p>
            <a:pPr algn="l"/>
            <a:r>
              <a:rPr lang="ja-JP" sz="1400" b="1">
                <a:solidFill>
                  <a:srgbClr val="888888"/>
                </a:solidFill>
                <a:latin typeface="Yu Gothic"/>
                <a:ea typeface="Yu Gothic"/>
              </a:rPr>
              <a:t>Copyright @Field X inc. All rights reserved.</a:t>
            </a:r>
          </a:p>
        </p:txBody>
      </p:sp>
      <p:sp>
        <p:nvSpPr>
          <p:cNvPr id="103" name="Shape 103"/>
          <p:cNvSpPr txBox="1"/>
          <p:nvPr/>
        </p:nvSpPr>
        <p:spPr>
          <a:xfrm>
            <a:off x="11874500" y="0"/>
            <a:ext cx="317500" cy="6858000"/>
          </a:xfrm>
          <a:prstGeom prst="rect">
            <a:avLst/>
          </a:prstGeom>
          <a:solidFill>
            <a:srgbClr val="ff1818"/>
          </a:solidFill>
          <a:ln>
            <a:noFill/>
          </a:ln>
        </p:spPr>
      </p:sp>
      <p:sp>
        <p:nvSpPr>
          <p:cNvPr id="104" name="Text 104"/>
          <p:cNvSpPr txBox="1"/>
          <p:nvPr/>
        </p:nvSpPr>
        <p:spPr>
          <a:xfrm>
            <a:off x="11925300" y="6413500"/>
            <a:ext cx="228600" cy="254000"/>
          </a:xfrm>
          <a:prstGeom prst="rect">
            <a:avLst/>
          </a:prstGeom>
          <a:noFill/>
          <a:ln>
            <a:noFill/>
          </a:ln>
        </p:spPr>
        <p:txBody>
          <a:bodyPr wrap="square" anchor="t" lIns="12700" tIns="12700" rIns="12700" bIns="12700"/>
          <a:lstStyle/>
          <a:p>
            <a:pPr algn="c"/>
            <a:r>
              <a:rPr lang="ja-JP" sz="2000" b="1">
                <a:solidFill>
                  <a:srgbClr val="ffffff"/>
                </a:solidFill>
                <a:latin typeface="Yu Gothic"/>
                <a:ea typeface="Yu Gothic"/>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444500"/>
            <a:ext cx="762000" cy="152400"/>
          </a:xfrm>
          <a:prstGeom prst="rect">
            <a:avLst/>
          </a:prstGeom>
          <a:noFill/>
          <a:ln>
            <a:noFill/>
          </a:ln>
        </p:spPr>
        <p:txBody>
          <a:bodyPr wrap="square" anchor="t" lIns="12700" tIns="12700" rIns="12700" bIns="12700"/>
          <a:lstStyle/>
          <a:p>
            <a:pPr algn="l"/>
            <a:r>
              <a:rPr lang="ja-JP" sz="1400" b="1">
                <a:solidFill>
                  <a:srgbClr val="ff1818"/>
                </a:solidFill>
                <a:latin typeface="Yu Gothic"/>
                <a:ea typeface="Yu Gothic"/>
              </a:rPr>
              <a:t>AGENDA</a:t>
            </a:r>
          </a:p>
        </p:txBody>
      </p:sp>
      <p:sp>
        <p:nvSpPr>
          <p:cNvPr id="3" name="Text 3"/>
          <p:cNvSpPr txBox="1"/>
          <p:nvPr/>
        </p:nvSpPr>
        <p:spPr>
          <a:xfrm>
            <a:off x="571500" y="666750"/>
            <a:ext cx="698500" cy="1905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目次</a:t>
            </a:r>
          </a:p>
        </p:txBody>
      </p:sp>
      <p:sp>
        <p:nvSpPr>
          <p:cNvPr id="4" name="Text 4"/>
          <p:cNvSpPr txBox="1"/>
          <p:nvPr/>
        </p:nvSpPr>
        <p:spPr>
          <a:xfrm>
            <a:off x="3333750" y="1809750"/>
            <a:ext cx="571500" cy="368300"/>
          </a:xfrm>
          <a:prstGeom prst="rect">
            <a:avLst/>
          </a:prstGeom>
          <a:noFill/>
          <a:ln>
            <a:noFill/>
          </a:ln>
        </p:spPr>
        <p:txBody>
          <a:bodyPr wrap="square" anchor="t" lIns="12700" tIns="12700" rIns="12700" bIns="12700"/>
          <a:lstStyle/>
          <a:p>
            <a:pPr algn="l"/>
            <a:r>
              <a:rPr lang="ja-JP" sz="4000" b="1">
                <a:solidFill>
                  <a:srgbClr val="ff1818"/>
                </a:solidFill>
                <a:latin typeface="Yu Gothic"/>
                <a:ea typeface="Yu Gothic"/>
              </a:rPr>
              <a:t>01</a:t>
            </a:r>
          </a:p>
        </p:txBody>
      </p:sp>
      <p:sp>
        <p:nvSpPr>
          <p:cNvPr id="5" name="Text 5"/>
          <p:cNvSpPr txBox="1"/>
          <p:nvPr/>
        </p:nvSpPr>
        <p:spPr>
          <a:xfrm>
            <a:off x="4381500" y="1866900"/>
            <a:ext cx="4127500" cy="266700"/>
          </a:xfrm>
          <a:prstGeom prst="rect">
            <a:avLst/>
          </a:prstGeom>
          <a:noFill/>
          <a:ln>
            <a:noFill/>
          </a:ln>
        </p:spPr>
        <p:txBody>
          <a:bodyPr wrap="square" anchor="t" lIns="12700" tIns="12700" rIns="12700" bIns="12700"/>
          <a:lstStyle/>
          <a:p>
            <a:pPr algn="l"/>
            <a:r>
              <a:rPr lang="ja-JP" sz="2600" b="1">
                <a:solidFill>
                  <a:srgbClr val="ff1818"/>
                </a:solidFill>
                <a:latin typeface="Yu Gothic"/>
                <a:ea typeface="Yu Gothic"/>
              </a:rPr>
              <a:t>これまでにお伺いしたこと</a:t>
            </a:r>
          </a:p>
        </p:txBody>
      </p:sp>
      <p:sp>
        <p:nvSpPr>
          <p:cNvPr id="6" name="Text 6"/>
          <p:cNvSpPr txBox="1"/>
          <p:nvPr/>
        </p:nvSpPr>
        <p:spPr>
          <a:xfrm>
            <a:off x="4413250" y="2241550"/>
            <a:ext cx="4572000" cy="203200"/>
          </a:xfrm>
          <a:prstGeom prst="rect">
            <a:avLst/>
          </a:prstGeom>
          <a:noFill/>
          <a:ln>
            <a:noFill/>
          </a:ln>
        </p:spPr>
        <p:txBody>
          <a:bodyPr wrap="square" anchor="t" lIns="12700" tIns="12700" rIns="12700" bIns="12700"/>
          <a:lstStyle/>
          <a:p>
            <a:pPr algn="l"/>
            <a:r>
              <a:rPr lang="ja-JP" sz="2000">
                <a:solidFill>
                  <a:srgbClr val="666666"/>
                </a:solidFill>
                <a:latin typeface="Yu Gothic"/>
                <a:ea typeface="Yu Gothic"/>
              </a:rPr>
              <a:t>社内稟議・他社比較に必要な前提整理</a:t>
            </a:r>
          </a:p>
        </p:txBody>
      </p:sp>
      <p:sp>
        <p:nvSpPr>
          <p:cNvPr id="7" name="Text 7"/>
          <p:cNvSpPr txBox="1"/>
          <p:nvPr/>
        </p:nvSpPr>
        <p:spPr>
          <a:xfrm>
            <a:off x="3333750" y="2984500"/>
            <a:ext cx="571500" cy="368300"/>
          </a:xfrm>
          <a:prstGeom prst="rect">
            <a:avLst/>
          </a:prstGeom>
          <a:noFill/>
          <a:ln>
            <a:noFill/>
          </a:ln>
        </p:spPr>
        <p:txBody>
          <a:bodyPr wrap="square" anchor="t" lIns="12700" tIns="12700" rIns="12700" bIns="12700"/>
          <a:lstStyle/>
          <a:p>
            <a:pPr algn="l"/>
            <a:r>
              <a:rPr lang="ja-JP" sz="4000" b="1">
                <a:solidFill>
                  <a:srgbClr val="ff1818"/>
                </a:solidFill>
                <a:latin typeface="Yu Gothic"/>
                <a:ea typeface="Yu Gothic"/>
              </a:rPr>
              <a:t>02</a:t>
            </a:r>
          </a:p>
        </p:txBody>
      </p:sp>
      <p:sp>
        <p:nvSpPr>
          <p:cNvPr id="8" name="Text 8"/>
          <p:cNvSpPr txBox="1"/>
          <p:nvPr/>
        </p:nvSpPr>
        <p:spPr>
          <a:xfrm>
            <a:off x="4381500" y="3041650"/>
            <a:ext cx="4127500" cy="266700"/>
          </a:xfrm>
          <a:prstGeom prst="rect">
            <a:avLst/>
          </a:prstGeom>
          <a:noFill/>
          <a:ln>
            <a:noFill/>
          </a:ln>
        </p:spPr>
        <p:txBody>
          <a:bodyPr wrap="square" anchor="t" lIns="12700" tIns="12700" rIns="12700" bIns="12700"/>
          <a:lstStyle/>
          <a:p>
            <a:pPr algn="l"/>
            <a:r>
              <a:rPr lang="ja-JP" sz="2600" b="1">
                <a:solidFill>
                  <a:srgbClr val="ff1818"/>
                </a:solidFill>
                <a:latin typeface="Yu Gothic"/>
                <a:ea typeface="Yu Gothic"/>
              </a:rPr>
              <a:t>ご提案の要旨・デモンストレーション</a:t>
            </a:r>
          </a:p>
        </p:txBody>
      </p:sp>
      <p:sp>
        <p:nvSpPr>
          <p:cNvPr id="9" name="Text 9"/>
          <p:cNvSpPr txBox="1"/>
          <p:nvPr/>
        </p:nvSpPr>
        <p:spPr>
          <a:xfrm>
            <a:off x="4413250" y="3416300"/>
            <a:ext cx="4572000" cy="203200"/>
          </a:xfrm>
          <a:prstGeom prst="rect">
            <a:avLst/>
          </a:prstGeom>
          <a:noFill/>
          <a:ln>
            <a:noFill/>
          </a:ln>
        </p:spPr>
        <p:txBody>
          <a:bodyPr wrap="square" anchor="t" lIns="12700" tIns="12700" rIns="12700" bIns="12700"/>
          <a:lstStyle/>
          <a:p>
            <a:pPr algn="l"/>
            <a:r>
              <a:rPr lang="ja-JP" sz="2000">
                <a:solidFill>
                  <a:srgbClr val="666666"/>
                </a:solidFill>
                <a:latin typeface="Yu Gothic"/>
                <a:ea typeface="Yu Gothic"/>
              </a:rPr>
              <a:t>改善版モック、画面別要件、将来のAI活用</a:t>
            </a:r>
          </a:p>
        </p:txBody>
      </p:sp>
      <p:sp>
        <p:nvSpPr>
          <p:cNvPr id="10" name="Text 10"/>
          <p:cNvSpPr txBox="1"/>
          <p:nvPr/>
        </p:nvSpPr>
        <p:spPr>
          <a:xfrm>
            <a:off x="3333750" y="4159250"/>
            <a:ext cx="571500" cy="368300"/>
          </a:xfrm>
          <a:prstGeom prst="rect">
            <a:avLst/>
          </a:prstGeom>
          <a:noFill/>
          <a:ln>
            <a:noFill/>
          </a:ln>
        </p:spPr>
        <p:txBody>
          <a:bodyPr wrap="square" anchor="t" lIns="12700" tIns="12700" rIns="12700" bIns="12700"/>
          <a:lstStyle/>
          <a:p>
            <a:pPr algn="l"/>
            <a:r>
              <a:rPr lang="ja-JP" sz="4000" b="1">
                <a:solidFill>
                  <a:srgbClr val="ff1818"/>
                </a:solidFill>
                <a:latin typeface="Yu Gothic"/>
                <a:ea typeface="Yu Gothic"/>
              </a:rPr>
              <a:t>03</a:t>
            </a:r>
          </a:p>
        </p:txBody>
      </p:sp>
      <p:sp>
        <p:nvSpPr>
          <p:cNvPr id="11" name="Text 11"/>
          <p:cNvSpPr txBox="1"/>
          <p:nvPr/>
        </p:nvSpPr>
        <p:spPr>
          <a:xfrm>
            <a:off x="4381500" y="4216400"/>
            <a:ext cx="4127500" cy="266700"/>
          </a:xfrm>
          <a:prstGeom prst="rect">
            <a:avLst/>
          </a:prstGeom>
          <a:noFill/>
          <a:ln>
            <a:noFill/>
          </a:ln>
        </p:spPr>
        <p:txBody>
          <a:bodyPr wrap="square" anchor="t" lIns="12700" tIns="12700" rIns="12700" bIns="12700"/>
          <a:lstStyle/>
          <a:p>
            <a:pPr algn="l"/>
            <a:r>
              <a:rPr lang="ja-JP" sz="2600" b="1">
                <a:solidFill>
                  <a:srgbClr val="ff1818"/>
                </a:solidFill>
                <a:latin typeface="Yu Gothic"/>
                <a:ea typeface="Yu Gothic"/>
              </a:rPr>
              <a:t>今後の進め方のイメージ</a:t>
            </a:r>
          </a:p>
        </p:txBody>
      </p:sp>
      <p:sp>
        <p:nvSpPr>
          <p:cNvPr id="12" name="Text 12"/>
          <p:cNvSpPr txBox="1"/>
          <p:nvPr/>
        </p:nvSpPr>
        <p:spPr>
          <a:xfrm>
            <a:off x="4413250" y="4591050"/>
            <a:ext cx="4572000" cy="203200"/>
          </a:xfrm>
          <a:prstGeom prst="rect">
            <a:avLst/>
          </a:prstGeom>
          <a:noFill/>
          <a:ln>
            <a:noFill/>
          </a:ln>
        </p:spPr>
        <p:txBody>
          <a:bodyPr wrap="square" anchor="t" lIns="12700" tIns="12700" rIns="12700" bIns="12700"/>
          <a:lstStyle/>
          <a:p>
            <a:pPr algn="l"/>
            <a:r>
              <a:rPr lang="ja-JP" sz="2000">
                <a:solidFill>
                  <a:srgbClr val="666666"/>
                </a:solidFill>
                <a:latin typeface="Yu Gothic"/>
                <a:ea typeface="Yu Gothic"/>
              </a:rPr>
              <a:t>要件定義から開発・現場導入・改善運用まで</a:t>
            </a:r>
          </a:p>
        </p:txBody>
      </p:sp>
      <p:sp>
        <p:nvSpPr>
          <p:cNvPr id="13" name="Text 13"/>
          <p:cNvSpPr txBox="1"/>
          <p:nvPr/>
        </p:nvSpPr>
        <p:spPr>
          <a:xfrm>
            <a:off x="444500" y="6413500"/>
            <a:ext cx="4445000" cy="228600"/>
          </a:xfrm>
          <a:prstGeom prst="rect">
            <a:avLst/>
          </a:prstGeom>
          <a:noFill/>
          <a:ln>
            <a:noFill/>
          </a:ln>
        </p:spPr>
        <p:txBody>
          <a:bodyPr wrap="square" anchor="t" lIns="12700" tIns="12700" rIns="12700" bIns="12700"/>
          <a:lstStyle/>
          <a:p>
            <a:pPr algn="l"/>
            <a:r>
              <a:rPr lang="ja-JP" sz="1400" b="1">
                <a:solidFill>
                  <a:srgbClr val="888888"/>
                </a:solidFill>
                <a:latin typeface="Yu Gothic"/>
                <a:ea typeface="Yu Gothic"/>
              </a:rPr>
              <a:t>Copyright @Field X inc. All rights reserved.</a:t>
            </a:r>
          </a:p>
        </p:txBody>
      </p:sp>
      <p:sp>
        <p:nvSpPr>
          <p:cNvPr id="14" name="Shape 14"/>
          <p:cNvSpPr txBox="1"/>
          <p:nvPr/>
        </p:nvSpPr>
        <p:spPr>
          <a:xfrm>
            <a:off x="11874500" y="0"/>
            <a:ext cx="317500" cy="6858000"/>
          </a:xfrm>
          <a:prstGeom prst="rect">
            <a:avLst/>
          </a:prstGeom>
          <a:solidFill>
            <a:srgbClr val="ff1818"/>
          </a:solidFill>
          <a:ln>
            <a:noFill/>
          </a:ln>
        </p:spPr>
      </p:sp>
      <p:sp>
        <p:nvSpPr>
          <p:cNvPr id="15" name="Text 15"/>
          <p:cNvSpPr txBox="1"/>
          <p:nvPr/>
        </p:nvSpPr>
        <p:spPr>
          <a:xfrm>
            <a:off x="11925300" y="6413500"/>
            <a:ext cx="228600" cy="254000"/>
          </a:xfrm>
          <a:prstGeom prst="rect">
            <a:avLst/>
          </a:prstGeom>
          <a:noFill/>
          <a:ln>
            <a:noFill/>
          </a:ln>
        </p:spPr>
        <p:txBody>
          <a:bodyPr wrap="square" anchor="t" lIns="12700" tIns="12700" rIns="12700" bIns="12700"/>
          <a:lstStyle/>
          <a:p>
            <a:pPr algn="c"/>
            <a:r>
              <a:rPr lang="ja-JP" sz="2000" b="1">
                <a:solidFill>
                  <a:srgbClr val="ffffff"/>
                </a:solidFill>
                <a:latin typeface="Yu Gothic"/>
                <a:ea typeface="Yu Gothic"/>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0" y="0"/>
            <a:ext cx="12192000" cy="6858000"/>
          </a:xfrm>
          <a:prstGeom prst="rect">
            <a:avLst/>
          </a:prstGeom>
          <a:solidFill>
            <a:srgbClr val="ff1818"/>
          </a:solidFill>
          <a:ln w="6350">
            <a:solidFill>
              <a:srgbClr val="ff1818"/>
            </a:solidFill>
          </a:ln>
        </p:spPr>
      </p:sp>
      <p:sp>
        <p:nvSpPr>
          <p:cNvPr id="3" name="Text 3"/>
          <p:cNvSpPr txBox="1"/>
          <p:nvPr/>
        </p:nvSpPr>
        <p:spPr>
          <a:xfrm>
            <a:off x="539750" y="2508250"/>
            <a:ext cx="1651000" cy="952500"/>
          </a:xfrm>
          <a:prstGeom prst="rect">
            <a:avLst/>
          </a:prstGeom>
          <a:noFill/>
          <a:ln>
            <a:noFill/>
          </a:ln>
        </p:spPr>
        <p:txBody>
          <a:bodyPr wrap="square" anchor="t" lIns="12700" tIns="12700" rIns="12700" bIns="12700"/>
          <a:lstStyle/>
          <a:p>
            <a:pPr algn="l"/>
            <a:r>
              <a:rPr lang="ja-JP" sz="11800" b="1">
                <a:solidFill>
                  <a:srgbClr val="ffa6a6"/>
                </a:solidFill>
                <a:latin typeface="Yu Gothic"/>
                <a:ea typeface="Yu Gothic"/>
              </a:rPr>
              <a:t>01</a:t>
            </a:r>
          </a:p>
        </p:txBody>
      </p:sp>
      <p:sp>
        <p:nvSpPr>
          <p:cNvPr id="4" name="Text 4"/>
          <p:cNvSpPr txBox="1"/>
          <p:nvPr/>
        </p:nvSpPr>
        <p:spPr>
          <a:xfrm>
            <a:off x="2413000" y="3206750"/>
            <a:ext cx="6350000" cy="419100"/>
          </a:xfrm>
          <a:prstGeom prst="rect">
            <a:avLst/>
          </a:prstGeom>
          <a:noFill/>
          <a:ln>
            <a:noFill/>
          </a:ln>
        </p:spPr>
        <p:txBody>
          <a:bodyPr wrap="square" anchor="t" lIns="12700" tIns="12700" rIns="12700" bIns="12700"/>
          <a:lstStyle/>
          <a:p>
            <a:pPr algn="l"/>
            <a:r>
              <a:rPr lang="ja-JP" sz="3800" b="1">
                <a:solidFill>
                  <a:srgbClr val="ffffff"/>
                </a:solidFill>
                <a:latin typeface="Yu Gothic"/>
                <a:ea typeface="Yu Gothic"/>
              </a:rPr>
              <a:t>これまでにお伺いしたこと</a:t>
            </a:r>
          </a:p>
        </p:txBody>
      </p:sp>
      <p:sp>
        <p:nvSpPr>
          <p:cNvPr id="5" name="Text 5"/>
          <p:cNvSpPr txBox="1"/>
          <p:nvPr/>
        </p:nvSpPr>
        <p:spPr>
          <a:xfrm>
            <a:off x="444500" y="6464300"/>
            <a:ext cx="4445000" cy="228600"/>
          </a:xfrm>
          <a:prstGeom prst="rect">
            <a:avLst/>
          </a:prstGeom>
          <a:noFill/>
          <a:ln>
            <a:noFill/>
          </a:ln>
        </p:spPr>
        <p:txBody>
          <a:bodyPr wrap="square" anchor="t" lIns="12700" tIns="12700" rIns="12700" bIns="12700"/>
          <a:lstStyle/>
          <a:p>
            <a:pPr algn="l"/>
            <a:r>
              <a:rPr lang="ja-JP" sz="1400" b="1">
                <a:solidFill>
                  <a:srgbClr val="ffdcdc"/>
                </a:solidFill>
                <a:latin typeface="Yu Gothic"/>
                <a:ea typeface="Yu Gothic"/>
              </a:rPr>
              <a:t>Copyright @Field X inc. All rights reserved.</a:t>
            </a:r>
          </a:p>
        </p:txBody>
      </p:sp>
      <p:sp>
        <p:nvSpPr>
          <p:cNvPr id="6" name="Text 6"/>
          <p:cNvSpPr txBox="1"/>
          <p:nvPr/>
        </p:nvSpPr>
        <p:spPr>
          <a:xfrm>
            <a:off x="11938000" y="6413500"/>
            <a:ext cx="215900" cy="241300"/>
          </a:xfrm>
          <a:prstGeom prst="rect">
            <a:avLst/>
          </a:prstGeom>
          <a:noFill/>
          <a:ln>
            <a:noFill/>
          </a:ln>
        </p:spPr>
        <p:txBody>
          <a:bodyPr wrap="square" anchor="t" lIns="12700" tIns="12700" rIns="12700" bIns="12700"/>
          <a:lstStyle/>
          <a:p>
            <a:pPr algn="l"/>
            <a:r>
              <a:rPr lang="ja-JP" sz="2000" b="1">
                <a:solidFill>
                  <a:srgbClr val="ffffff"/>
                </a:solidFill>
                <a:latin typeface="Yu Gothic"/>
                <a:ea typeface="Yu Gothic"/>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20700" y="368300"/>
            <a:ext cx="1397000" cy="177800"/>
          </a:xfrm>
          <a:prstGeom prst="rect">
            <a:avLst/>
          </a:prstGeom>
          <a:noFill/>
          <a:ln>
            <a:noFill/>
          </a:ln>
        </p:spPr>
        <p:txBody>
          <a:bodyPr wrap="square" anchor="t" lIns="12700" tIns="12700" rIns="12700" bIns="12700"/>
          <a:lstStyle/>
          <a:p>
            <a:pPr algn="l"/>
            <a:r>
              <a:rPr lang="ja-JP" sz="1500" b="1">
                <a:solidFill>
                  <a:srgbClr val="ff1818"/>
                </a:solidFill>
                <a:latin typeface="Yu Gothic"/>
                <a:ea typeface="Yu Gothic"/>
              </a:rPr>
              <a:t>Chapter1</a:t>
            </a:r>
          </a:p>
        </p:txBody>
      </p:sp>
      <p:sp>
        <p:nvSpPr>
          <p:cNvPr id="3" name="Text 3"/>
          <p:cNvSpPr txBox="1"/>
          <p:nvPr/>
        </p:nvSpPr>
        <p:spPr>
          <a:xfrm>
            <a:off x="520700" y="596900"/>
            <a:ext cx="7302500" cy="368300"/>
          </a:xfrm>
          <a:prstGeom prst="rect">
            <a:avLst/>
          </a:prstGeom>
          <a:noFill/>
          <a:ln>
            <a:noFill/>
          </a:ln>
        </p:spPr>
        <p:txBody>
          <a:bodyPr wrap="square" anchor="t" lIns="12700" tIns="12700" rIns="12700" bIns="12700"/>
          <a:lstStyle/>
          <a:p>
            <a:pPr algn="l"/>
            <a:r>
              <a:rPr lang="ja-JP" sz="3000" b="1">
                <a:solidFill>
                  <a:srgbClr val="111111"/>
                </a:solidFill>
                <a:latin typeface="Yu Gothic"/>
                <a:ea typeface="Yu Gothic"/>
              </a:rPr>
              <a:t>本資料の位置づけ</a:t>
            </a:r>
          </a:p>
        </p:txBody>
      </p:sp>
      <p:sp>
        <p:nvSpPr>
          <p:cNvPr id="4" name="Shape 4"/>
          <p:cNvSpPr txBox="1"/>
          <p:nvPr/>
        </p:nvSpPr>
        <p:spPr>
          <a:xfrm>
            <a:off x="603250" y="1301750"/>
            <a:ext cx="4826000" cy="368300"/>
          </a:xfrm>
          <a:prstGeom prst="roundRect">
            <a:avLst/>
          </a:prstGeom>
          <a:solidFill>
            <a:srgbClr val="ff1818"/>
          </a:solidFill>
          <a:ln w="6350">
            <a:solidFill>
              <a:srgbClr val="ff1818"/>
            </a:solidFill>
          </a:ln>
        </p:spPr>
        <p:txBody>
          <a:bodyPr wrap="square" anchor="ctr" lIns="38100" tIns="38100" rIns="38100" bIns="38100"/>
          <a:lstStyle/>
          <a:p>
            <a:pPr algn="c"/>
            <a:r>
              <a:rPr lang="ja-JP" sz="2000" b="1">
                <a:solidFill>
                  <a:srgbClr val="ffffff"/>
                </a:solidFill>
                <a:latin typeface="Yu Gothic"/>
                <a:ea typeface="Yu Gothic"/>
              </a:rPr>
              <a:t>今回の目的</a:t>
            </a:r>
          </a:p>
        </p:txBody>
      </p:sp>
      <p:sp>
        <p:nvSpPr>
          <p:cNvPr id="5" name="Shape 5"/>
          <p:cNvSpPr txBox="1"/>
          <p:nvPr/>
        </p:nvSpPr>
        <p:spPr>
          <a:xfrm>
            <a:off x="6127750" y="1301750"/>
            <a:ext cx="4826000" cy="368300"/>
          </a:xfrm>
          <a:prstGeom prst="roundRect">
            <a:avLst/>
          </a:prstGeom>
          <a:solidFill>
            <a:srgbClr val="ff1818"/>
          </a:solidFill>
          <a:ln w="6350">
            <a:solidFill>
              <a:srgbClr val="ff1818"/>
            </a:solidFill>
          </a:ln>
        </p:spPr>
        <p:txBody>
          <a:bodyPr wrap="square" anchor="ctr" lIns="38100" tIns="38100" rIns="38100" bIns="38100"/>
          <a:lstStyle/>
          <a:p>
            <a:pPr algn="c"/>
            <a:r>
              <a:rPr lang="ja-JP" sz="2000" b="1">
                <a:solidFill>
                  <a:srgbClr val="ffffff"/>
                </a:solidFill>
                <a:latin typeface="Yu Gothic"/>
                <a:ea typeface="Yu Gothic"/>
              </a:rPr>
              <a:t>判断いただきたいこと</a:t>
            </a:r>
          </a:p>
        </p:txBody>
      </p:sp>
      <p:sp>
        <p:nvSpPr>
          <p:cNvPr id="6" name="Text 6"/>
          <p:cNvSpPr txBox="1"/>
          <p:nvPr/>
        </p:nvSpPr>
        <p:spPr>
          <a:xfrm>
            <a:off x="711200" y="2000250"/>
            <a:ext cx="4953000" cy="1333500"/>
          </a:xfrm>
          <a:prstGeom prst="rect">
            <a:avLst/>
          </a:prstGeom>
          <a:noFill/>
          <a:ln>
            <a:noFill/>
          </a:ln>
        </p:spPr>
        <p:txBody>
          <a:bodyPr wrap="square" anchor="t" lIns="12700" tIns="12700" rIns="12700" bIns="12700"/>
          <a:lstStyle/>
          <a:p>
            <a:pPr algn="l"/>
            <a:r>
              <a:rPr lang="ja-JP" sz="2000" b="1">
                <a:solidFill>
                  <a:srgbClr val="111111"/>
                </a:solidFill>
                <a:latin typeface="Yu Gothic"/>
                <a:ea typeface="Yu Gothic"/>
              </a:rPr>
              <a:t>・担当者様に確認いただいたモックを、社内稟議・他社コンペで比較しやすい資料に整理します。</a:t>
            </a:r>
          </a:p>
          <a:p>
            <a:pPr algn="l"/>
            <a:r>
              <a:rPr lang="ja-JP" sz="2000" b="1">
                <a:solidFill>
                  <a:srgbClr val="111111"/>
                </a:solidFill>
                <a:latin typeface="Yu Gothic"/>
                <a:ea typeface="Yu Gothic"/>
              </a:rPr>
              <a:t>・本資料では開発範囲・機能・進め方・将来展開を中心に説明します。</a:t>
            </a:r>
          </a:p>
          <a:p>
            <a:pPr algn="l"/>
            <a:r>
              <a:rPr lang="ja-JP" sz="2000" b="1">
                <a:solidFill>
                  <a:srgbClr val="111111"/>
                </a:solidFill>
                <a:latin typeface="Yu Gothic"/>
                <a:ea typeface="Yu Gothic"/>
              </a:rPr>
              <a:t>・今回のご意見を反映し、画面単位で要件と機能が分かる改善版モックとして提出します。</a:t>
            </a:r>
          </a:p>
        </p:txBody>
      </p:sp>
      <p:sp>
        <p:nvSpPr>
          <p:cNvPr id="7" name="Text 7"/>
          <p:cNvSpPr txBox="1"/>
          <p:nvPr/>
        </p:nvSpPr>
        <p:spPr>
          <a:xfrm>
            <a:off x="6235700" y="2000250"/>
            <a:ext cx="4762500" cy="1333500"/>
          </a:xfrm>
          <a:prstGeom prst="rect">
            <a:avLst/>
          </a:prstGeom>
          <a:noFill/>
          <a:ln>
            <a:noFill/>
          </a:ln>
        </p:spPr>
        <p:txBody>
          <a:bodyPr wrap="square" anchor="t" lIns="12700" tIns="12700" rIns="12700" bIns="12700"/>
          <a:lstStyle/>
          <a:p>
            <a:pPr algn="l"/>
            <a:r>
              <a:rPr lang="ja-JP" sz="2000" b="1">
                <a:solidFill>
                  <a:srgbClr val="111111"/>
                </a:solidFill>
                <a:latin typeface="Yu Gothic"/>
                <a:ea typeface="Yu Gothic"/>
              </a:rPr>
              <a:t>・基幹管理システムを、既存業務に合わせたカスタム開発で進める妥当性。</a:t>
            </a:r>
          </a:p>
          <a:p>
            <a:pPr algn="l"/>
            <a:r>
              <a:rPr lang="ja-JP" sz="2000" b="1">
                <a:solidFill>
                  <a:srgbClr val="111111"/>
                </a:solidFill>
                <a:latin typeface="Yu Gothic"/>
                <a:ea typeface="Yu Gothic"/>
              </a:rPr>
              <a:t>・初期開発で優先する画面・帳票・ワークフローの範囲。</a:t>
            </a:r>
          </a:p>
          <a:p>
            <a:pPr algn="l"/>
            <a:r>
              <a:rPr lang="ja-JP" sz="2000" b="1">
                <a:solidFill>
                  <a:srgbClr val="111111"/>
                </a:solidFill>
                <a:latin typeface="Yu Gothic"/>
                <a:ea typeface="Yu Gothic"/>
              </a:rPr>
              <a:t>・将来的なAI音声対応、営業支援AI、契約書自動作成、社内FAQ検索への拡張方針。</a:t>
            </a:r>
          </a:p>
        </p:txBody>
      </p:sp>
      <p:sp>
        <p:nvSpPr>
          <p:cNvPr id="8" name="Shape 8"/>
          <p:cNvSpPr txBox="1"/>
          <p:nvPr/>
        </p:nvSpPr>
        <p:spPr>
          <a:xfrm>
            <a:off x="730250" y="4445000"/>
            <a:ext cx="3175000" cy="1555750"/>
          </a:xfrm>
          <a:prstGeom prst="roundRect">
            <a:avLst/>
          </a:prstGeom>
          <a:solidFill>
            <a:srgbClr val="ffffff"/>
          </a:solidFill>
          <a:ln w="6350">
            <a:solidFill>
              <a:srgbClr val="dedede"/>
            </a:solidFill>
          </a:ln>
        </p:spPr>
      </p:sp>
      <p:sp>
        <p:nvSpPr>
          <p:cNvPr id="9" name="Shape 9"/>
          <p:cNvSpPr txBox="1"/>
          <p:nvPr/>
        </p:nvSpPr>
        <p:spPr>
          <a:xfrm>
            <a:off x="730250" y="4445000"/>
            <a:ext cx="3175000" cy="63500"/>
          </a:xfrm>
          <a:prstGeom prst="rect">
            <a:avLst/>
          </a:prstGeom>
          <a:solidFill>
            <a:srgbClr val="ff1818"/>
          </a:solidFill>
          <a:ln w="6350">
            <a:solidFill>
              <a:srgbClr val="ff1818"/>
            </a:solidFill>
          </a:ln>
        </p:spPr>
      </p:sp>
      <p:sp>
        <p:nvSpPr>
          <p:cNvPr id="10" name="Text 10"/>
          <p:cNvSpPr txBox="1"/>
          <p:nvPr/>
        </p:nvSpPr>
        <p:spPr>
          <a:xfrm>
            <a:off x="920750" y="4673600"/>
            <a:ext cx="2794000" cy="241300"/>
          </a:xfrm>
          <a:prstGeom prst="rect">
            <a:avLst/>
          </a:prstGeom>
          <a:noFill/>
          <a:ln>
            <a:noFill/>
          </a:ln>
        </p:spPr>
        <p:txBody>
          <a:bodyPr wrap="square" anchor="t" lIns="12700" tIns="12700" rIns="12700" bIns="12700"/>
          <a:lstStyle/>
          <a:p>
            <a:pPr algn="l"/>
            <a:r>
              <a:rPr lang="ja-JP" sz="2000" b="1">
                <a:solidFill>
                  <a:srgbClr val="111111"/>
                </a:solidFill>
                <a:latin typeface="Yu Gothic"/>
                <a:ea typeface="Yu Gothic"/>
              </a:rPr>
              <a:t>提出物</a:t>
            </a:r>
          </a:p>
        </p:txBody>
      </p:sp>
      <p:sp>
        <p:nvSpPr>
          <p:cNvPr id="11" name="Shape 11"/>
          <p:cNvSpPr txBox="1"/>
          <p:nvPr/>
        </p:nvSpPr>
        <p:spPr>
          <a:xfrm>
            <a:off x="920750" y="5029200"/>
            <a:ext cx="2794000" cy="19050"/>
          </a:xfrm>
          <a:prstGeom prst="rect">
            <a:avLst/>
          </a:prstGeom>
          <a:solidFill>
            <a:srgbClr val="dedede"/>
          </a:solidFill>
          <a:ln w="6350">
            <a:solidFill>
              <a:srgbClr val="dedede"/>
            </a:solidFill>
          </a:ln>
        </p:spPr>
      </p:sp>
      <p:sp>
        <p:nvSpPr>
          <p:cNvPr id="12" name="Text 12"/>
          <p:cNvSpPr txBox="1"/>
          <p:nvPr/>
        </p:nvSpPr>
        <p:spPr>
          <a:xfrm>
            <a:off x="920750" y="5219700"/>
            <a:ext cx="2794000" cy="635000"/>
          </a:xfrm>
          <a:prstGeom prst="rect">
            <a:avLst/>
          </a:prstGeom>
          <a:noFill/>
          <a:ln>
            <a:noFill/>
          </a:ln>
        </p:spPr>
        <p:txBody>
          <a:bodyPr wrap="square" anchor="t" lIns="12700" tIns="12700" rIns="12700" bIns="12700"/>
          <a:lstStyle/>
          <a:p>
            <a:pPr algn="l"/>
            <a:r>
              <a:rPr lang="ja-JP" sz="1600">
                <a:solidFill>
                  <a:srgbClr val="333333"/>
                </a:solidFill>
                <a:latin typeface="Yu Gothic"/>
                <a:ea typeface="Yu Gothic"/>
              </a:rPr>
              <a:t>改善版モック</a:t>
            </a:r>
          </a:p>
          <a:p>
            <a:pPr algn="l"/>
            <a:r>
              <a:rPr lang="ja-JP" sz="1600">
                <a:solidFill>
                  <a:srgbClr val="333333"/>
                </a:solidFill>
                <a:latin typeface="Yu Gothic"/>
                <a:ea typeface="Yu Gothic"/>
              </a:rPr>
              <a:t>画面別要件資料</a:t>
            </a:r>
          </a:p>
          <a:p>
            <a:pPr algn="l"/>
            <a:r>
              <a:rPr lang="ja-JP" sz="1600">
                <a:solidFill>
                  <a:srgbClr val="333333"/>
                </a:solidFill>
                <a:latin typeface="Yu Gothic"/>
                <a:ea typeface="Yu Gothic"/>
              </a:rPr>
              <a:t>開発の進め方</a:t>
            </a:r>
          </a:p>
        </p:txBody>
      </p:sp>
      <p:sp>
        <p:nvSpPr>
          <p:cNvPr id="13" name="Shape 13"/>
          <p:cNvSpPr txBox="1"/>
          <p:nvPr/>
        </p:nvSpPr>
        <p:spPr>
          <a:xfrm>
            <a:off x="4286250" y="4445000"/>
            <a:ext cx="3175000" cy="1555750"/>
          </a:xfrm>
          <a:prstGeom prst="roundRect">
            <a:avLst/>
          </a:prstGeom>
          <a:solidFill>
            <a:srgbClr val="ffffff"/>
          </a:solidFill>
          <a:ln w="6350">
            <a:solidFill>
              <a:srgbClr val="dedede"/>
            </a:solidFill>
          </a:ln>
        </p:spPr>
      </p:sp>
      <p:sp>
        <p:nvSpPr>
          <p:cNvPr id="14" name="Shape 14"/>
          <p:cNvSpPr txBox="1"/>
          <p:nvPr/>
        </p:nvSpPr>
        <p:spPr>
          <a:xfrm>
            <a:off x="4286250" y="4445000"/>
            <a:ext cx="3175000" cy="63500"/>
          </a:xfrm>
          <a:prstGeom prst="rect">
            <a:avLst/>
          </a:prstGeom>
          <a:solidFill>
            <a:srgbClr val="ff1818"/>
          </a:solidFill>
          <a:ln w="6350">
            <a:solidFill>
              <a:srgbClr val="ff1818"/>
            </a:solidFill>
          </a:ln>
        </p:spPr>
      </p:sp>
      <p:sp>
        <p:nvSpPr>
          <p:cNvPr id="15" name="Text 15"/>
          <p:cNvSpPr txBox="1"/>
          <p:nvPr/>
        </p:nvSpPr>
        <p:spPr>
          <a:xfrm>
            <a:off x="4476750" y="4673600"/>
            <a:ext cx="2794000" cy="241300"/>
          </a:xfrm>
          <a:prstGeom prst="rect">
            <a:avLst/>
          </a:prstGeom>
          <a:noFill/>
          <a:ln>
            <a:noFill/>
          </a:ln>
        </p:spPr>
        <p:txBody>
          <a:bodyPr wrap="square" anchor="t" lIns="12700" tIns="12700" rIns="12700" bIns="12700"/>
          <a:lstStyle/>
          <a:p>
            <a:pPr algn="l"/>
            <a:r>
              <a:rPr lang="ja-JP" sz="2000" b="1">
                <a:solidFill>
                  <a:srgbClr val="111111"/>
                </a:solidFill>
                <a:latin typeface="Yu Gothic"/>
                <a:ea typeface="Yu Gothic"/>
              </a:rPr>
              <a:t>社内稟議での使い方</a:t>
            </a:r>
          </a:p>
        </p:txBody>
      </p:sp>
      <p:sp>
        <p:nvSpPr>
          <p:cNvPr id="16" name="Shape 16"/>
          <p:cNvSpPr txBox="1"/>
          <p:nvPr/>
        </p:nvSpPr>
        <p:spPr>
          <a:xfrm>
            <a:off x="4476750" y="5029200"/>
            <a:ext cx="2794000" cy="19050"/>
          </a:xfrm>
          <a:prstGeom prst="rect">
            <a:avLst/>
          </a:prstGeom>
          <a:solidFill>
            <a:srgbClr val="dedede"/>
          </a:solidFill>
          <a:ln w="6350">
            <a:solidFill>
              <a:srgbClr val="dedede"/>
            </a:solidFill>
          </a:ln>
        </p:spPr>
      </p:sp>
      <p:sp>
        <p:nvSpPr>
          <p:cNvPr id="17" name="Text 17"/>
          <p:cNvSpPr txBox="1"/>
          <p:nvPr/>
        </p:nvSpPr>
        <p:spPr>
          <a:xfrm>
            <a:off x="4476750" y="5219700"/>
            <a:ext cx="2794000" cy="635000"/>
          </a:xfrm>
          <a:prstGeom prst="rect">
            <a:avLst/>
          </a:prstGeom>
          <a:noFill/>
          <a:ln>
            <a:noFill/>
          </a:ln>
        </p:spPr>
        <p:txBody>
          <a:bodyPr wrap="square" anchor="t" lIns="12700" tIns="12700" rIns="12700" bIns="12700"/>
          <a:lstStyle/>
          <a:p>
            <a:pPr algn="l"/>
            <a:r>
              <a:rPr lang="ja-JP" sz="1600">
                <a:solidFill>
                  <a:srgbClr val="333333"/>
                </a:solidFill>
                <a:latin typeface="Yu Gothic"/>
                <a:ea typeface="Yu Gothic"/>
              </a:rPr>
              <a:t>比較観点を整理</a:t>
            </a:r>
          </a:p>
          <a:p>
            <a:pPr algn="l"/>
            <a:r>
              <a:rPr lang="ja-JP" sz="1600">
                <a:solidFill>
                  <a:srgbClr val="333333"/>
                </a:solidFill>
                <a:latin typeface="Yu Gothic"/>
                <a:ea typeface="Yu Gothic"/>
              </a:rPr>
              <a:t>機能範囲を明確化</a:t>
            </a:r>
          </a:p>
          <a:p>
            <a:pPr algn="l"/>
            <a:r>
              <a:rPr lang="ja-JP" sz="1600">
                <a:solidFill>
                  <a:srgbClr val="333333"/>
                </a:solidFill>
                <a:latin typeface="Yu Gothic"/>
                <a:ea typeface="Yu Gothic"/>
              </a:rPr>
              <a:t>導入後の展開を説明</a:t>
            </a:r>
          </a:p>
        </p:txBody>
      </p:sp>
      <p:sp>
        <p:nvSpPr>
          <p:cNvPr id="18" name="Shape 18"/>
          <p:cNvSpPr txBox="1"/>
          <p:nvPr/>
        </p:nvSpPr>
        <p:spPr>
          <a:xfrm>
            <a:off x="7842250" y="4445000"/>
            <a:ext cx="3175000" cy="1555750"/>
          </a:xfrm>
          <a:prstGeom prst="roundRect">
            <a:avLst/>
          </a:prstGeom>
          <a:solidFill>
            <a:srgbClr val="ffffff"/>
          </a:solidFill>
          <a:ln w="6350">
            <a:solidFill>
              <a:srgbClr val="dedede"/>
            </a:solidFill>
          </a:ln>
        </p:spPr>
      </p:sp>
      <p:sp>
        <p:nvSpPr>
          <p:cNvPr id="19" name="Shape 19"/>
          <p:cNvSpPr txBox="1"/>
          <p:nvPr/>
        </p:nvSpPr>
        <p:spPr>
          <a:xfrm>
            <a:off x="7842250" y="4445000"/>
            <a:ext cx="3175000" cy="63500"/>
          </a:xfrm>
          <a:prstGeom prst="rect">
            <a:avLst/>
          </a:prstGeom>
          <a:solidFill>
            <a:srgbClr val="ff1818"/>
          </a:solidFill>
          <a:ln w="6350">
            <a:solidFill>
              <a:srgbClr val="ff1818"/>
            </a:solidFill>
          </a:ln>
        </p:spPr>
      </p:sp>
      <p:sp>
        <p:nvSpPr>
          <p:cNvPr id="20" name="Text 20"/>
          <p:cNvSpPr txBox="1"/>
          <p:nvPr/>
        </p:nvSpPr>
        <p:spPr>
          <a:xfrm>
            <a:off x="8032750" y="4673600"/>
            <a:ext cx="2794000" cy="241300"/>
          </a:xfrm>
          <a:prstGeom prst="rect">
            <a:avLst/>
          </a:prstGeom>
          <a:noFill/>
          <a:ln>
            <a:noFill/>
          </a:ln>
        </p:spPr>
        <p:txBody>
          <a:bodyPr wrap="square" anchor="t" lIns="12700" tIns="12700" rIns="12700" bIns="12700"/>
          <a:lstStyle/>
          <a:p>
            <a:pPr algn="l"/>
            <a:r>
              <a:rPr lang="ja-JP" sz="2000" b="1">
                <a:solidFill>
                  <a:srgbClr val="111111"/>
                </a:solidFill>
                <a:latin typeface="Yu Gothic"/>
                <a:ea typeface="Yu Gothic"/>
              </a:rPr>
              <a:t>次の確認事項</a:t>
            </a:r>
          </a:p>
        </p:txBody>
      </p:sp>
      <p:sp>
        <p:nvSpPr>
          <p:cNvPr id="21" name="Shape 21"/>
          <p:cNvSpPr txBox="1"/>
          <p:nvPr/>
        </p:nvSpPr>
        <p:spPr>
          <a:xfrm>
            <a:off x="8032750" y="5029200"/>
            <a:ext cx="2794000" cy="19050"/>
          </a:xfrm>
          <a:prstGeom prst="rect">
            <a:avLst/>
          </a:prstGeom>
          <a:solidFill>
            <a:srgbClr val="dedede"/>
          </a:solidFill>
          <a:ln w="6350">
            <a:solidFill>
              <a:srgbClr val="dedede"/>
            </a:solidFill>
          </a:ln>
        </p:spPr>
      </p:sp>
      <p:sp>
        <p:nvSpPr>
          <p:cNvPr id="22" name="Text 22"/>
          <p:cNvSpPr txBox="1"/>
          <p:nvPr/>
        </p:nvSpPr>
        <p:spPr>
          <a:xfrm>
            <a:off x="8032750" y="5219700"/>
            <a:ext cx="2794000" cy="635000"/>
          </a:xfrm>
          <a:prstGeom prst="rect">
            <a:avLst/>
          </a:prstGeom>
          <a:noFill/>
          <a:ln>
            <a:noFill/>
          </a:ln>
        </p:spPr>
        <p:txBody>
          <a:bodyPr wrap="square" anchor="t" lIns="12700" tIns="12700" rIns="12700" bIns="12700"/>
          <a:lstStyle/>
          <a:p>
            <a:pPr algn="l"/>
            <a:r>
              <a:rPr lang="ja-JP" sz="1600">
                <a:solidFill>
                  <a:srgbClr val="333333"/>
                </a:solidFill>
                <a:latin typeface="Yu Gothic"/>
                <a:ea typeface="Yu Gothic"/>
              </a:rPr>
              <a:t>優先機能</a:t>
            </a:r>
          </a:p>
          <a:p>
            <a:pPr algn="l"/>
            <a:r>
              <a:rPr lang="ja-JP" sz="1600">
                <a:solidFill>
                  <a:srgbClr val="333333"/>
                </a:solidFill>
                <a:latin typeface="Yu Gothic"/>
                <a:ea typeface="Yu Gothic"/>
              </a:rPr>
              <a:t>権限・帳票</a:t>
            </a:r>
          </a:p>
          <a:p>
            <a:pPr algn="l"/>
            <a:r>
              <a:rPr lang="ja-JP" sz="1600">
                <a:solidFill>
                  <a:srgbClr val="333333"/>
                </a:solidFill>
                <a:latin typeface="Yu Gothic"/>
                <a:ea typeface="Yu Gothic"/>
              </a:rPr>
              <a:t>既存データ移行</a:t>
            </a:r>
          </a:p>
        </p:txBody>
      </p:sp>
      <p:sp>
        <p:nvSpPr>
          <p:cNvPr id="23" name="Text 23"/>
          <p:cNvSpPr txBox="1"/>
          <p:nvPr/>
        </p:nvSpPr>
        <p:spPr>
          <a:xfrm>
            <a:off x="444500" y="6413500"/>
            <a:ext cx="4445000" cy="228600"/>
          </a:xfrm>
          <a:prstGeom prst="rect">
            <a:avLst/>
          </a:prstGeom>
          <a:noFill/>
          <a:ln>
            <a:noFill/>
          </a:ln>
        </p:spPr>
        <p:txBody>
          <a:bodyPr wrap="square" anchor="t" lIns="12700" tIns="12700" rIns="12700" bIns="12700"/>
          <a:lstStyle/>
          <a:p>
            <a:pPr algn="l"/>
            <a:r>
              <a:rPr lang="ja-JP" sz="1400" b="1">
                <a:solidFill>
                  <a:srgbClr val="888888"/>
                </a:solidFill>
                <a:latin typeface="Yu Gothic"/>
                <a:ea typeface="Yu Gothic"/>
              </a:rPr>
              <a:t>Copyright @Field X inc. All rights reserved.</a:t>
            </a:r>
          </a:p>
        </p:txBody>
      </p:sp>
      <p:sp>
        <p:nvSpPr>
          <p:cNvPr id="24" name="Shape 24"/>
          <p:cNvSpPr txBox="1"/>
          <p:nvPr/>
        </p:nvSpPr>
        <p:spPr>
          <a:xfrm>
            <a:off x="11874500" y="0"/>
            <a:ext cx="317500" cy="6858000"/>
          </a:xfrm>
          <a:prstGeom prst="rect">
            <a:avLst/>
          </a:prstGeom>
          <a:solidFill>
            <a:srgbClr val="ff1818"/>
          </a:solidFill>
          <a:ln>
            <a:noFill/>
          </a:ln>
        </p:spPr>
      </p:sp>
      <p:sp>
        <p:nvSpPr>
          <p:cNvPr id="25" name="Text 25"/>
          <p:cNvSpPr txBox="1"/>
          <p:nvPr/>
        </p:nvSpPr>
        <p:spPr>
          <a:xfrm>
            <a:off x="11925300" y="6413500"/>
            <a:ext cx="228600" cy="254000"/>
          </a:xfrm>
          <a:prstGeom prst="rect">
            <a:avLst/>
          </a:prstGeom>
          <a:noFill/>
          <a:ln>
            <a:noFill/>
          </a:ln>
        </p:spPr>
        <p:txBody>
          <a:bodyPr wrap="square" anchor="t" lIns="12700" tIns="12700" rIns="12700" bIns="12700"/>
          <a:lstStyle/>
          <a:p>
            <a:pPr algn="c"/>
            <a:r>
              <a:rPr lang="ja-JP" sz="2000" b="1">
                <a:solidFill>
                  <a:srgbClr val="ffffff"/>
                </a:solidFill>
                <a:latin typeface="Yu Gothic"/>
                <a:ea typeface="Yu Gothic"/>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20700" y="368300"/>
            <a:ext cx="1397000" cy="177800"/>
          </a:xfrm>
          <a:prstGeom prst="rect">
            <a:avLst/>
          </a:prstGeom>
          <a:noFill/>
          <a:ln>
            <a:noFill/>
          </a:ln>
        </p:spPr>
        <p:txBody>
          <a:bodyPr wrap="square" anchor="t" lIns="12700" tIns="12700" rIns="12700" bIns="12700"/>
          <a:lstStyle/>
          <a:p>
            <a:pPr algn="l"/>
            <a:r>
              <a:rPr lang="ja-JP" sz="1500" b="1">
                <a:solidFill>
                  <a:srgbClr val="ff1818"/>
                </a:solidFill>
                <a:latin typeface="Yu Gothic"/>
                <a:ea typeface="Yu Gothic"/>
              </a:rPr>
              <a:t>Chapter1</a:t>
            </a:r>
          </a:p>
        </p:txBody>
      </p:sp>
      <p:sp>
        <p:nvSpPr>
          <p:cNvPr id="3" name="Text 3"/>
          <p:cNvSpPr txBox="1"/>
          <p:nvPr/>
        </p:nvSpPr>
        <p:spPr>
          <a:xfrm>
            <a:off x="520700" y="596900"/>
            <a:ext cx="7302500" cy="368300"/>
          </a:xfrm>
          <a:prstGeom prst="rect">
            <a:avLst/>
          </a:prstGeom>
          <a:noFill/>
          <a:ln>
            <a:noFill/>
          </a:ln>
        </p:spPr>
        <p:txBody>
          <a:bodyPr wrap="square" anchor="t" lIns="12700" tIns="12700" rIns="12700" bIns="12700"/>
          <a:lstStyle/>
          <a:p>
            <a:pPr algn="l"/>
            <a:r>
              <a:rPr lang="ja-JP" sz="3000" b="1">
                <a:solidFill>
                  <a:srgbClr val="111111"/>
                </a:solidFill>
                <a:latin typeface="Yu Gothic"/>
                <a:ea typeface="Yu Gothic"/>
              </a:rPr>
              <a:t>これまでにお伺いしたこと</a:t>
            </a:r>
          </a:p>
        </p:txBody>
      </p:sp>
      <p:sp>
        <p:nvSpPr>
          <p:cNvPr id="4" name="Shape 4"/>
          <p:cNvSpPr txBox="1"/>
          <p:nvPr/>
        </p:nvSpPr>
        <p:spPr>
          <a:xfrm>
            <a:off x="571500" y="1460500"/>
            <a:ext cx="2317750" cy="3302000"/>
          </a:xfrm>
          <a:prstGeom prst="roundRect">
            <a:avLst/>
          </a:prstGeom>
          <a:solidFill>
            <a:srgbClr val="ffffff"/>
          </a:solidFill>
          <a:ln w="6350">
            <a:solidFill>
              <a:srgbClr val="dedede"/>
            </a:solidFill>
          </a:ln>
        </p:spPr>
      </p:sp>
      <p:sp>
        <p:nvSpPr>
          <p:cNvPr id="5" name="Shape 5"/>
          <p:cNvSpPr txBox="1"/>
          <p:nvPr/>
        </p:nvSpPr>
        <p:spPr>
          <a:xfrm>
            <a:off x="571500" y="1460500"/>
            <a:ext cx="2317750" cy="63500"/>
          </a:xfrm>
          <a:prstGeom prst="rect">
            <a:avLst/>
          </a:prstGeom>
          <a:solidFill>
            <a:srgbClr val="ff1818"/>
          </a:solidFill>
          <a:ln w="6350">
            <a:solidFill>
              <a:srgbClr val="ff1818"/>
            </a:solidFill>
          </a:ln>
        </p:spPr>
      </p:sp>
      <p:sp>
        <p:nvSpPr>
          <p:cNvPr id="6" name="Text 6"/>
          <p:cNvSpPr txBox="1"/>
          <p:nvPr/>
        </p:nvSpPr>
        <p:spPr>
          <a:xfrm>
            <a:off x="762000" y="1689100"/>
            <a:ext cx="1936750" cy="241300"/>
          </a:xfrm>
          <a:prstGeom prst="rect">
            <a:avLst/>
          </a:prstGeom>
          <a:noFill/>
          <a:ln>
            <a:noFill/>
          </a:ln>
        </p:spPr>
        <p:txBody>
          <a:bodyPr wrap="square" anchor="t" lIns="12700" tIns="12700" rIns="12700" bIns="12700"/>
          <a:lstStyle/>
          <a:p>
            <a:pPr algn="l"/>
            <a:r>
              <a:rPr lang="ja-JP" sz="2000" b="1">
                <a:solidFill>
                  <a:srgbClr val="111111"/>
                </a:solidFill>
                <a:latin typeface="Yu Gothic"/>
                <a:ea typeface="Yu Gothic"/>
              </a:rPr>
              <a:t>基幹システム切り替え</a:t>
            </a:r>
          </a:p>
        </p:txBody>
      </p:sp>
      <p:sp>
        <p:nvSpPr>
          <p:cNvPr id="7" name="Shape 7"/>
          <p:cNvSpPr txBox="1"/>
          <p:nvPr/>
        </p:nvSpPr>
        <p:spPr>
          <a:xfrm>
            <a:off x="762000" y="2044700"/>
            <a:ext cx="1936750" cy="19050"/>
          </a:xfrm>
          <a:prstGeom prst="rect">
            <a:avLst/>
          </a:prstGeom>
          <a:solidFill>
            <a:srgbClr val="dedede"/>
          </a:solidFill>
          <a:ln w="6350">
            <a:solidFill>
              <a:srgbClr val="dedede"/>
            </a:solidFill>
          </a:ln>
        </p:spPr>
      </p:sp>
      <p:sp>
        <p:nvSpPr>
          <p:cNvPr id="8" name="Text 8"/>
          <p:cNvSpPr txBox="1"/>
          <p:nvPr/>
        </p:nvSpPr>
        <p:spPr>
          <a:xfrm>
            <a:off x="762000" y="2235200"/>
            <a:ext cx="1936750" cy="2381250"/>
          </a:xfrm>
          <a:prstGeom prst="rect">
            <a:avLst/>
          </a:prstGeom>
          <a:noFill/>
          <a:ln>
            <a:noFill/>
          </a:ln>
        </p:spPr>
        <p:txBody>
          <a:bodyPr wrap="square" anchor="t" lIns="12700" tIns="12700" rIns="12700" bIns="12700"/>
          <a:lstStyle/>
          <a:p>
            <a:pPr algn="l"/>
            <a:r>
              <a:rPr lang="ja-JP" sz="1600">
                <a:solidFill>
                  <a:srgbClr val="333333"/>
                </a:solidFill>
                <a:latin typeface="Yu Gothic"/>
                <a:ea typeface="Yu Gothic"/>
              </a:rPr>
              <a:t>既存システムのサポート終了を見据え、今年中を目途に切り替え検討が必要。</a:t>
            </a:r>
          </a:p>
        </p:txBody>
      </p:sp>
      <p:sp>
        <p:nvSpPr>
          <p:cNvPr id="9" name="Shape 9"/>
          <p:cNvSpPr txBox="1"/>
          <p:nvPr/>
        </p:nvSpPr>
        <p:spPr>
          <a:xfrm>
            <a:off x="3302000" y="1460500"/>
            <a:ext cx="2317750" cy="3302000"/>
          </a:xfrm>
          <a:prstGeom prst="roundRect">
            <a:avLst/>
          </a:prstGeom>
          <a:solidFill>
            <a:srgbClr val="ffffff"/>
          </a:solidFill>
          <a:ln w="6350">
            <a:solidFill>
              <a:srgbClr val="dedede"/>
            </a:solidFill>
          </a:ln>
        </p:spPr>
      </p:sp>
      <p:sp>
        <p:nvSpPr>
          <p:cNvPr id="10" name="Shape 10"/>
          <p:cNvSpPr txBox="1"/>
          <p:nvPr/>
        </p:nvSpPr>
        <p:spPr>
          <a:xfrm>
            <a:off x="3302000" y="1460500"/>
            <a:ext cx="2317750" cy="63500"/>
          </a:xfrm>
          <a:prstGeom prst="rect">
            <a:avLst/>
          </a:prstGeom>
          <a:solidFill>
            <a:srgbClr val="ff1818"/>
          </a:solidFill>
          <a:ln w="6350">
            <a:solidFill>
              <a:srgbClr val="ff1818"/>
            </a:solidFill>
          </a:ln>
        </p:spPr>
      </p:sp>
      <p:sp>
        <p:nvSpPr>
          <p:cNvPr id="11" name="Text 11"/>
          <p:cNvSpPr txBox="1"/>
          <p:nvPr/>
        </p:nvSpPr>
        <p:spPr>
          <a:xfrm>
            <a:off x="3492500" y="1689100"/>
            <a:ext cx="1936750" cy="241300"/>
          </a:xfrm>
          <a:prstGeom prst="rect">
            <a:avLst/>
          </a:prstGeom>
          <a:noFill/>
          <a:ln>
            <a:noFill/>
          </a:ln>
        </p:spPr>
        <p:txBody>
          <a:bodyPr wrap="square" anchor="t" lIns="12700" tIns="12700" rIns="12700" bIns="12700"/>
          <a:lstStyle/>
          <a:p>
            <a:pPr algn="l"/>
            <a:r>
              <a:rPr lang="ja-JP" sz="2000" b="1">
                <a:solidFill>
                  <a:srgbClr val="111111"/>
                </a:solidFill>
                <a:latin typeface="Yu Gothic"/>
                <a:ea typeface="Yu Gothic"/>
              </a:rPr>
              <a:t>現場定着への配慮</a:t>
            </a:r>
          </a:p>
        </p:txBody>
      </p:sp>
      <p:sp>
        <p:nvSpPr>
          <p:cNvPr id="12" name="Shape 12"/>
          <p:cNvSpPr txBox="1"/>
          <p:nvPr/>
        </p:nvSpPr>
        <p:spPr>
          <a:xfrm>
            <a:off x="3492500" y="2044700"/>
            <a:ext cx="1936750" cy="19050"/>
          </a:xfrm>
          <a:prstGeom prst="rect">
            <a:avLst/>
          </a:prstGeom>
          <a:solidFill>
            <a:srgbClr val="dedede"/>
          </a:solidFill>
          <a:ln w="6350">
            <a:solidFill>
              <a:srgbClr val="dedede"/>
            </a:solidFill>
          </a:ln>
        </p:spPr>
      </p:sp>
      <p:sp>
        <p:nvSpPr>
          <p:cNvPr id="13" name="Text 13"/>
          <p:cNvSpPr txBox="1"/>
          <p:nvPr/>
        </p:nvSpPr>
        <p:spPr>
          <a:xfrm>
            <a:off x="3492500" y="2235200"/>
            <a:ext cx="1936750" cy="2381250"/>
          </a:xfrm>
          <a:prstGeom prst="rect">
            <a:avLst/>
          </a:prstGeom>
          <a:noFill/>
          <a:ln>
            <a:noFill/>
          </a:ln>
        </p:spPr>
        <p:txBody>
          <a:bodyPr wrap="square" anchor="t" lIns="12700" tIns="12700" rIns="12700" bIns="12700"/>
          <a:lstStyle/>
          <a:p>
            <a:pPr algn="l"/>
            <a:r>
              <a:rPr lang="ja-JP" sz="1600">
                <a:solidFill>
                  <a:srgbClr val="333333"/>
                </a:solidFill>
                <a:latin typeface="Yu Gothic"/>
                <a:ea typeface="Yu Gothic"/>
              </a:rPr>
              <a:t>IT活用への慣れに差があるため、日常業務に自然に入る画面設計が重要。</a:t>
            </a:r>
          </a:p>
        </p:txBody>
      </p:sp>
      <p:sp>
        <p:nvSpPr>
          <p:cNvPr id="14" name="Shape 14"/>
          <p:cNvSpPr txBox="1"/>
          <p:nvPr/>
        </p:nvSpPr>
        <p:spPr>
          <a:xfrm>
            <a:off x="6032500" y="1460500"/>
            <a:ext cx="2317750" cy="3302000"/>
          </a:xfrm>
          <a:prstGeom prst="roundRect">
            <a:avLst/>
          </a:prstGeom>
          <a:solidFill>
            <a:srgbClr val="ffffff"/>
          </a:solidFill>
          <a:ln w="6350">
            <a:solidFill>
              <a:srgbClr val="dedede"/>
            </a:solidFill>
          </a:ln>
        </p:spPr>
      </p:sp>
      <p:sp>
        <p:nvSpPr>
          <p:cNvPr id="15" name="Shape 15"/>
          <p:cNvSpPr txBox="1"/>
          <p:nvPr/>
        </p:nvSpPr>
        <p:spPr>
          <a:xfrm>
            <a:off x="6032500" y="1460500"/>
            <a:ext cx="2317750" cy="63500"/>
          </a:xfrm>
          <a:prstGeom prst="rect">
            <a:avLst/>
          </a:prstGeom>
          <a:solidFill>
            <a:srgbClr val="ff1818"/>
          </a:solidFill>
          <a:ln w="6350">
            <a:solidFill>
              <a:srgbClr val="ff1818"/>
            </a:solidFill>
          </a:ln>
        </p:spPr>
      </p:sp>
      <p:sp>
        <p:nvSpPr>
          <p:cNvPr id="16" name="Text 16"/>
          <p:cNvSpPr txBox="1"/>
          <p:nvPr/>
        </p:nvSpPr>
        <p:spPr>
          <a:xfrm>
            <a:off x="6223000" y="1689100"/>
            <a:ext cx="1936750" cy="241300"/>
          </a:xfrm>
          <a:prstGeom prst="rect">
            <a:avLst/>
          </a:prstGeom>
          <a:noFill/>
          <a:ln>
            <a:noFill/>
          </a:ln>
        </p:spPr>
        <p:txBody>
          <a:bodyPr wrap="square" anchor="t" lIns="12700" tIns="12700" rIns="12700" bIns="12700"/>
          <a:lstStyle/>
          <a:p>
            <a:pPr algn="l"/>
            <a:r>
              <a:rPr lang="ja-JP" sz="2000" b="1">
                <a:solidFill>
                  <a:srgbClr val="111111"/>
                </a:solidFill>
                <a:latin typeface="Yu Gothic"/>
                <a:ea typeface="Yu Gothic"/>
              </a:rPr>
              <a:t>日常業務の負荷</a:t>
            </a:r>
          </a:p>
        </p:txBody>
      </p:sp>
      <p:sp>
        <p:nvSpPr>
          <p:cNvPr id="17" name="Shape 17"/>
          <p:cNvSpPr txBox="1"/>
          <p:nvPr/>
        </p:nvSpPr>
        <p:spPr>
          <a:xfrm>
            <a:off x="6223000" y="2044700"/>
            <a:ext cx="1936750" cy="19050"/>
          </a:xfrm>
          <a:prstGeom prst="rect">
            <a:avLst/>
          </a:prstGeom>
          <a:solidFill>
            <a:srgbClr val="dedede"/>
          </a:solidFill>
          <a:ln w="6350">
            <a:solidFill>
              <a:srgbClr val="dedede"/>
            </a:solidFill>
          </a:ln>
        </p:spPr>
      </p:sp>
      <p:sp>
        <p:nvSpPr>
          <p:cNvPr id="18" name="Text 18"/>
          <p:cNvSpPr txBox="1"/>
          <p:nvPr/>
        </p:nvSpPr>
        <p:spPr>
          <a:xfrm>
            <a:off x="6223000" y="2235200"/>
            <a:ext cx="1936750" cy="2381250"/>
          </a:xfrm>
          <a:prstGeom prst="rect">
            <a:avLst/>
          </a:prstGeom>
          <a:noFill/>
          <a:ln>
            <a:noFill/>
          </a:ln>
        </p:spPr>
        <p:txBody>
          <a:bodyPr wrap="square" anchor="t" lIns="12700" tIns="12700" rIns="12700" bIns="12700"/>
          <a:lstStyle/>
          <a:p>
            <a:pPr algn="l"/>
            <a:r>
              <a:rPr lang="ja-JP" sz="1600">
                <a:solidFill>
                  <a:srgbClr val="333333"/>
                </a:solidFill>
                <a:latin typeface="Yu Gothic"/>
                <a:ea typeface="Yu Gothic"/>
              </a:rPr>
              <a:t>退去修繕対応、契約書作成、請求・インボイス対応などの工数が大きい。</a:t>
            </a:r>
          </a:p>
        </p:txBody>
      </p:sp>
      <p:sp>
        <p:nvSpPr>
          <p:cNvPr id="19" name="Shape 19"/>
          <p:cNvSpPr txBox="1"/>
          <p:nvPr/>
        </p:nvSpPr>
        <p:spPr>
          <a:xfrm>
            <a:off x="8763000" y="1460500"/>
            <a:ext cx="2317750" cy="3302000"/>
          </a:xfrm>
          <a:prstGeom prst="roundRect">
            <a:avLst/>
          </a:prstGeom>
          <a:solidFill>
            <a:srgbClr val="ffffff"/>
          </a:solidFill>
          <a:ln w="6350">
            <a:solidFill>
              <a:srgbClr val="dedede"/>
            </a:solidFill>
          </a:ln>
        </p:spPr>
      </p:sp>
      <p:sp>
        <p:nvSpPr>
          <p:cNvPr id="20" name="Shape 20"/>
          <p:cNvSpPr txBox="1"/>
          <p:nvPr/>
        </p:nvSpPr>
        <p:spPr>
          <a:xfrm>
            <a:off x="8763000" y="1460500"/>
            <a:ext cx="2317750" cy="63500"/>
          </a:xfrm>
          <a:prstGeom prst="rect">
            <a:avLst/>
          </a:prstGeom>
          <a:solidFill>
            <a:srgbClr val="ff1818"/>
          </a:solidFill>
          <a:ln w="6350">
            <a:solidFill>
              <a:srgbClr val="ff1818"/>
            </a:solidFill>
          </a:ln>
        </p:spPr>
      </p:sp>
      <p:sp>
        <p:nvSpPr>
          <p:cNvPr id="21" name="Text 21"/>
          <p:cNvSpPr txBox="1"/>
          <p:nvPr/>
        </p:nvSpPr>
        <p:spPr>
          <a:xfrm>
            <a:off x="8953500" y="1689100"/>
            <a:ext cx="1936750" cy="241300"/>
          </a:xfrm>
          <a:prstGeom prst="rect">
            <a:avLst/>
          </a:prstGeom>
          <a:noFill/>
          <a:ln>
            <a:noFill/>
          </a:ln>
        </p:spPr>
        <p:txBody>
          <a:bodyPr wrap="square" anchor="t" lIns="12700" tIns="12700" rIns="12700" bIns="12700"/>
          <a:lstStyle/>
          <a:p>
            <a:pPr algn="l"/>
            <a:r>
              <a:rPr lang="ja-JP" sz="2000" b="1">
                <a:solidFill>
                  <a:srgbClr val="111111"/>
                </a:solidFill>
                <a:latin typeface="Yu Gothic"/>
                <a:ea typeface="Yu Gothic"/>
              </a:rPr>
              <a:t>データ活用の余地</a:t>
            </a:r>
          </a:p>
        </p:txBody>
      </p:sp>
      <p:sp>
        <p:nvSpPr>
          <p:cNvPr id="22" name="Shape 22"/>
          <p:cNvSpPr txBox="1"/>
          <p:nvPr/>
        </p:nvSpPr>
        <p:spPr>
          <a:xfrm>
            <a:off x="8953500" y="2044700"/>
            <a:ext cx="1936750" cy="19050"/>
          </a:xfrm>
          <a:prstGeom prst="rect">
            <a:avLst/>
          </a:prstGeom>
          <a:solidFill>
            <a:srgbClr val="dedede"/>
          </a:solidFill>
          <a:ln w="6350">
            <a:solidFill>
              <a:srgbClr val="dedede"/>
            </a:solidFill>
          </a:ln>
        </p:spPr>
      </p:sp>
      <p:sp>
        <p:nvSpPr>
          <p:cNvPr id="23" name="Text 23"/>
          <p:cNvSpPr txBox="1"/>
          <p:nvPr/>
        </p:nvSpPr>
        <p:spPr>
          <a:xfrm>
            <a:off x="8953500" y="2235200"/>
            <a:ext cx="1936750" cy="2381250"/>
          </a:xfrm>
          <a:prstGeom prst="rect">
            <a:avLst/>
          </a:prstGeom>
          <a:noFill/>
          <a:ln>
            <a:noFill/>
          </a:ln>
        </p:spPr>
        <p:txBody>
          <a:bodyPr wrap="square" anchor="t" lIns="12700" tIns="12700" rIns="12700" bIns="12700"/>
          <a:lstStyle/>
          <a:p>
            <a:pPr algn="l"/>
            <a:r>
              <a:rPr lang="ja-JP" sz="1600">
                <a:solidFill>
                  <a:srgbClr val="333333"/>
                </a:solidFill>
                <a:latin typeface="Yu Gothic"/>
                <a:ea typeface="Yu Gothic"/>
              </a:rPr>
              <a:t>顧客・物件・契約・対応履歴を横断して見られる状態を作ることで判断の質を高める。</a:t>
            </a:r>
          </a:p>
        </p:txBody>
      </p:sp>
      <p:sp>
        <p:nvSpPr>
          <p:cNvPr id="24" name="Shape 24"/>
          <p:cNvSpPr txBox="1"/>
          <p:nvPr/>
        </p:nvSpPr>
        <p:spPr>
          <a:xfrm>
            <a:off x="635000" y="5302250"/>
            <a:ext cx="10541000" cy="736600"/>
          </a:xfrm>
          <a:prstGeom prst="roundRect">
            <a:avLst/>
          </a:prstGeom>
          <a:solidFill>
            <a:srgbClr val="ffeaea"/>
          </a:solidFill>
          <a:ln w="12700">
            <a:solidFill>
              <a:srgbClr val="ff1818"/>
            </a:solidFill>
          </a:ln>
        </p:spPr>
      </p:sp>
      <p:sp>
        <p:nvSpPr>
          <p:cNvPr id="25" name="Text 25"/>
          <p:cNvSpPr txBox="1"/>
          <p:nvPr/>
        </p:nvSpPr>
        <p:spPr>
          <a:xfrm>
            <a:off x="838200" y="5473700"/>
            <a:ext cx="10160000" cy="266700"/>
          </a:xfrm>
          <a:prstGeom prst="rect">
            <a:avLst/>
          </a:prstGeom>
          <a:noFill/>
          <a:ln>
            <a:noFill/>
          </a:ln>
        </p:spPr>
        <p:txBody>
          <a:bodyPr wrap="square" anchor="t" lIns="12700" tIns="12700" rIns="12700" bIns="12700"/>
          <a:lstStyle/>
          <a:p>
            <a:pPr algn="l"/>
            <a:r>
              <a:rPr lang="ja-JP" sz="2200" b="1">
                <a:solidFill>
                  <a:srgbClr val="111111"/>
                </a:solidFill>
                <a:latin typeface="Yu Gothic"/>
                <a:ea typeface="Yu Gothic"/>
              </a:rPr>
              <a:t>本提案では、単なる画面開発ではなく「基幹業務の整理」と「今後AIを載せられる土台づくり」を同時に進めます。</a:t>
            </a:r>
          </a:p>
        </p:txBody>
      </p:sp>
      <p:sp>
        <p:nvSpPr>
          <p:cNvPr id="26" name="Text 26"/>
          <p:cNvSpPr txBox="1"/>
          <p:nvPr/>
        </p:nvSpPr>
        <p:spPr>
          <a:xfrm>
            <a:off x="444500" y="6413500"/>
            <a:ext cx="4445000" cy="228600"/>
          </a:xfrm>
          <a:prstGeom prst="rect">
            <a:avLst/>
          </a:prstGeom>
          <a:noFill/>
          <a:ln>
            <a:noFill/>
          </a:ln>
        </p:spPr>
        <p:txBody>
          <a:bodyPr wrap="square" anchor="t" lIns="12700" tIns="12700" rIns="12700" bIns="12700"/>
          <a:lstStyle/>
          <a:p>
            <a:pPr algn="l"/>
            <a:r>
              <a:rPr lang="ja-JP" sz="1400" b="1">
                <a:solidFill>
                  <a:srgbClr val="888888"/>
                </a:solidFill>
                <a:latin typeface="Yu Gothic"/>
                <a:ea typeface="Yu Gothic"/>
              </a:rPr>
              <a:t>Copyright @Field X inc. All rights reserved.</a:t>
            </a:r>
          </a:p>
        </p:txBody>
      </p:sp>
      <p:sp>
        <p:nvSpPr>
          <p:cNvPr id="27" name="Shape 27"/>
          <p:cNvSpPr txBox="1"/>
          <p:nvPr/>
        </p:nvSpPr>
        <p:spPr>
          <a:xfrm>
            <a:off x="11874500" y="0"/>
            <a:ext cx="317500" cy="6858000"/>
          </a:xfrm>
          <a:prstGeom prst="rect">
            <a:avLst/>
          </a:prstGeom>
          <a:solidFill>
            <a:srgbClr val="ff1818"/>
          </a:solidFill>
          <a:ln>
            <a:noFill/>
          </a:ln>
        </p:spPr>
      </p:sp>
      <p:sp>
        <p:nvSpPr>
          <p:cNvPr id="28" name="Text 28"/>
          <p:cNvSpPr txBox="1"/>
          <p:nvPr/>
        </p:nvSpPr>
        <p:spPr>
          <a:xfrm>
            <a:off x="11925300" y="6413500"/>
            <a:ext cx="228600" cy="254000"/>
          </a:xfrm>
          <a:prstGeom prst="rect">
            <a:avLst/>
          </a:prstGeom>
          <a:noFill/>
          <a:ln>
            <a:noFill/>
          </a:ln>
        </p:spPr>
        <p:txBody>
          <a:bodyPr wrap="square" anchor="t" lIns="12700" tIns="12700" rIns="12700" bIns="12700"/>
          <a:lstStyle/>
          <a:p>
            <a:pPr algn="c"/>
            <a:r>
              <a:rPr lang="ja-JP" sz="2000" b="1">
                <a:solidFill>
                  <a:srgbClr val="ffffff"/>
                </a:solidFill>
                <a:latin typeface="Yu Gothic"/>
                <a:ea typeface="Yu Gothic"/>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0" y="0"/>
            <a:ext cx="12192000" cy="6858000"/>
          </a:xfrm>
          <a:prstGeom prst="rect">
            <a:avLst/>
          </a:prstGeom>
          <a:solidFill>
            <a:srgbClr val="ff1818"/>
          </a:solidFill>
          <a:ln w="6350">
            <a:solidFill>
              <a:srgbClr val="ff1818"/>
            </a:solidFill>
          </a:ln>
        </p:spPr>
      </p:sp>
      <p:sp>
        <p:nvSpPr>
          <p:cNvPr id="3" name="Text 3"/>
          <p:cNvSpPr txBox="1"/>
          <p:nvPr/>
        </p:nvSpPr>
        <p:spPr>
          <a:xfrm>
            <a:off x="539750" y="2508250"/>
            <a:ext cx="1651000" cy="952500"/>
          </a:xfrm>
          <a:prstGeom prst="rect">
            <a:avLst/>
          </a:prstGeom>
          <a:noFill/>
          <a:ln>
            <a:noFill/>
          </a:ln>
        </p:spPr>
        <p:txBody>
          <a:bodyPr wrap="square" anchor="t" lIns="12700" tIns="12700" rIns="12700" bIns="12700"/>
          <a:lstStyle/>
          <a:p>
            <a:pPr algn="l"/>
            <a:r>
              <a:rPr lang="ja-JP" sz="11800" b="1">
                <a:solidFill>
                  <a:srgbClr val="ffa6a6"/>
                </a:solidFill>
                <a:latin typeface="Yu Gothic"/>
                <a:ea typeface="Yu Gothic"/>
              </a:rPr>
              <a:t>02</a:t>
            </a:r>
          </a:p>
        </p:txBody>
      </p:sp>
      <p:sp>
        <p:nvSpPr>
          <p:cNvPr id="4" name="Text 4"/>
          <p:cNvSpPr txBox="1"/>
          <p:nvPr/>
        </p:nvSpPr>
        <p:spPr>
          <a:xfrm>
            <a:off x="2413000" y="3206750"/>
            <a:ext cx="6350000" cy="419100"/>
          </a:xfrm>
          <a:prstGeom prst="rect">
            <a:avLst/>
          </a:prstGeom>
          <a:noFill/>
          <a:ln>
            <a:noFill/>
          </a:ln>
        </p:spPr>
        <p:txBody>
          <a:bodyPr wrap="square" anchor="t" lIns="12700" tIns="12700" rIns="12700" bIns="12700"/>
          <a:lstStyle/>
          <a:p>
            <a:pPr algn="l"/>
            <a:r>
              <a:rPr lang="ja-JP" sz="3800" b="1">
                <a:solidFill>
                  <a:srgbClr val="ffffff"/>
                </a:solidFill>
                <a:latin typeface="Yu Gothic"/>
                <a:ea typeface="Yu Gothic"/>
              </a:rPr>
              <a:t>ご提案の要旨・デモンストレーション</a:t>
            </a:r>
          </a:p>
        </p:txBody>
      </p:sp>
      <p:sp>
        <p:nvSpPr>
          <p:cNvPr id="5" name="Text 5"/>
          <p:cNvSpPr txBox="1"/>
          <p:nvPr/>
        </p:nvSpPr>
        <p:spPr>
          <a:xfrm>
            <a:off x="444500" y="6464300"/>
            <a:ext cx="4445000" cy="228600"/>
          </a:xfrm>
          <a:prstGeom prst="rect">
            <a:avLst/>
          </a:prstGeom>
          <a:noFill/>
          <a:ln>
            <a:noFill/>
          </a:ln>
        </p:spPr>
        <p:txBody>
          <a:bodyPr wrap="square" anchor="t" lIns="12700" tIns="12700" rIns="12700" bIns="12700"/>
          <a:lstStyle/>
          <a:p>
            <a:pPr algn="l"/>
            <a:r>
              <a:rPr lang="ja-JP" sz="1400" b="1">
                <a:solidFill>
                  <a:srgbClr val="ffdcdc"/>
                </a:solidFill>
                <a:latin typeface="Yu Gothic"/>
                <a:ea typeface="Yu Gothic"/>
              </a:rPr>
              <a:t>Copyright @Field X inc. All rights reserved.</a:t>
            </a:r>
          </a:p>
        </p:txBody>
      </p:sp>
      <p:sp>
        <p:nvSpPr>
          <p:cNvPr id="6" name="Text 6"/>
          <p:cNvSpPr txBox="1"/>
          <p:nvPr/>
        </p:nvSpPr>
        <p:spPr>
          <a:xfrm>
            <a:off x="11938000" y="6413500"/>
            <a:ext cx="215900" cy="241300"/>
          </a:xfrm>
          <a:prstGeom prst="rect">
            <a:avLst/>
          </a:prstGeom>
          <a:noFill/>
          <a:ln>
            <a:noFill/>
          </a:ln>
        </p:spPr>
        <p:txBody>
          <a:bodyPr wrap="square" anchor="t" lIns="12700" tIns="12700" rIns="12700" bIns="12700"/>
          <a:lstStyle/>
          <a:p>
            <a:pPr algn="l"/>
            <a:r>
              <a:rPr lang="ja-JP" sz="2000" b="1">
                <a:solidFill>
                  <a:srgbClr val="ffffff"/>
                </a:solidFill>
                <a:latin typeface="Yu Gothic"/>
                <a:ea typeface="Yu Gothic"/>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0" y="0"/>
            <a:ext cx="876300" cy="6858000"/>
          </a:xfrm>
          <a:prstGeom prst="rect">
            <a:avLst/>
          </a:prstGeom>
          <a:solidFill>
            <a:srgbClr val="ff1818"/>
          </a:solidFill>
          <a:ln w="6350">
            <a:solidFill>
              <a:srgbClr val="ff1818"/>
            </a:solidFill>
          </a:ln>
        </p:spPr>
      </p:sp>
      <p:sp>
        <p:nvSpPr>
          <p:cNvPr id="3" name="Text 3"/>
          <p:cNvSpPr txBox="1"/>
          <p:nvPr/>
        </p:nvSpPr>
        <p:spPr>
          <a:xfrm>
            <a:off x="209550" y="355600"/>
            <a:ext cx="457200" cy="152400"/>
          </a:xfrm>
          <a:prstGeom prst="rect">
            <a:avLst/>
          </a:prstGeom>
          <a:noFill/>
          <a:ln>
            <a:noFill/>
          </a:ln>
        </p:spPr>
        <p:txBody>
          <a:bodyPr wrap="square" anchor="t" lIns="12700" tIns="12700" rIns="12700" bIns="12700"/>
          <a:lstStyle/>
          <a:p>
            <a:pPr algn="c"/>
            <a:r>
              <a:rPr lang="ja-JP" sz="1400" b="1">
                <a:solidFill>
                  <a:srgbClr val="ffffff"/>
                </a:solidFill>
                <a:latin typeface="Yu Gothic"/>
                <a:ea typeface="Yu Gothic"/>
              </a:rPr>
              <a:t>Chapter</a:t>
            </a:r>
          </a:p>
        </p:txBody>
      </p:sp>
      <p:sp>
        <p:nvSpPr>
          <p:cNvPr id="4" name="Text 4"/>
          <p:cNvSpPr txBox="1"/>
          <p:nvPr/>
        </p:nvSpPr>
        <p:spPr>
          <a:xfrm>
            <a:off x="114300" y="609600"/>
            <a:ext cx="647700" cy="444500"/>
          </a:xfrm>
          <a:prstGeom prst="rect">
            <a:avLst/>
          </a:prstGeom>
          <a:noFill/>
          <a:ln>
            <a:noFill/>
          </a:ln>
        </p:spPr>
        <p:txBody>
          <a:bodyPr wrap="square" anchor="t" lIns="12700" tIns="12700" rIns="12700" bIns="12700"/>
          <a:lstStyle/>
          <a:p>
            <a:pPr algn="c"/>
            <a:r>
              <a:rPr lang="ja-JP" sz="5600" b="1">
                <a:solidFill>
                  <a:srgbClr val="ffffff"/>
                </a:solidFill>
                <a:latin typeface="Yu Gothic"/>
                <a:ea typeface="Yu Gothic"/>
              </a:rPr>
              <a:t>02</a:t>
            </a:r>
          </a:p>
        </p:txBody>
      </p:sp>
      <p:sp>
        <p:nvSpPr>
          <p:cNvPr id="5" name="Shape 5"/>
          <p:cNvSpPr txBox="1"/>
          <p:nvPr/>
        </p:nvSpPr>
        <p:spPr>
          <a:xfrm>
            <a:off x="209550" y="1193800"/>
            <a:ext cx="457200" cy="31750"/>
          </a:xfrm>
          <a:prstGeom prst="rect">
            <a:avLst/>
          </a:prstGeom>
          <a:solidFill>
            <a:srgbClr val="ffffff"/>
          </a:solidFill>
          <a:ln w="6350">
            <a:solidFill>
              <a:srgbClr val="ffffff"/>
            </a:solidFill>
          </a:ln>
        </p:spPr>
      </p:sp>
      <p:sp>
        <p:nvSpPr>
          <p:cNvPr id="6" name="Text 6"/>
          <p:cNvSpPr txBox="1"/>
          <p:nvPr/>
        </p:nvSpPr>
        <p:spPr>
          <a:xfrm>
            <a:off x="254000" y="6413500"/>
            <a:ext cx="342900" cy="215900"/>
          </a:xfrm>
          <a:prstGeom prst="rect">
            <a:avLst/>
          </a:prstGeom>
          <a:noFill/>
          <a:ln>
            <a:noFill/>
          </a:ln>
        </p:spPr>
        <p:txBody>
          <a:bodyPr wrap="square" anchor="t" lIns="12700" tIns="12700" rIns="12700" bIns="12700"/>
          <a:lstStyle/>
          <a:p>
            <a:pPr algn="c"/>
            <a:r>
              <a:rPr lang="ja-JP" sz="2200" b="1">
                <a:solidFill>
                  <a:srgbClr val="ffffff"/>
                </a:solidFill>
                <a:latin typeface="Yu Gothic"/>
                <a:ea typeface="Yu Gothic"/>
              </a:rPr>
              <a:t>7</a:t>
            </a:r>
          </a:p>
        </p:txBody>
      </p:sp>
      <p:sp>
        <p:nvSpPr>
          <p:cNvPr id="7" name="Shape 7"/>
          <p:cNvSpPr txBox="1"/>
          <p:nvPr/>
        </p:nvSpPr>
        <p:spPr>
          <a:xfrm>
            <a:off x="1174750" y="469900"/>
            <a:ext cx="952500" cy="88900"/>
          </a:xfrm>
          <a:prstGeom prst="rect">
            <a:avLst/>
          </a:prstGeom>
          <a:solidFill>
            <a:srgbClr val="ff1818"/>
          </a:solidFill>
          <a:ln w="6350">
            <a:solidFill>
              <a:srgbClr val="ff1818"/>
            </a:solidFill>
          </a:ln>
        </p:spPr>
      </p:sp>
      <p:sp>
        <p:nvSpPr>
          <p:cNvPr id="8" name="Text 8"/>
          <p:cNvSpPr txBox="1"/>
          <p:nvPr/>
        </p:nvSpPr>
        <p:spPr>
          <a:xfrm>
            <a:off x="1174750" y="711200"/>
            <a:ext cx="7937500" cy="342900"/>
          </a:xfrm>
          <a:prstGeom prst="rect">
            <a:avLst/>
          </a:prstGeom>
          <a:noFill/>
          <a:ln>
            <a:noFill/>
          </a:ln>
        </p:spPr>
        <p:txBody>
          <a:bodyPr wrap="square" anchor="t" lIns="12700" tIns="12700" rIns="12700" bIns="12700"/>
          <a:lstStyle/>
          <a:p>
            <a:pPr algn="l"/>
            <a:r>
              <a:rPr lang="ja-JP" sz="3200" b="1">
                <a:solidFill>
                  <a:srgbClr val="111111"/>
                </a:solidFill>
                <a:latin typeface="Yu Gothic"/>
                <a:ea typeface="Yu Gothic"/>
              </a:rPr>
              <a:t>ご提案の要旨</a:t>
            </a:r>
          </a:p>
        </p:txBody>
      </p:sp>
      <p:sp>
        <p:nvSpPr>
          <p:cNvPr id="9" name="Text 9"/>
          <p:cNvSpPr txBox="1"/>
          <p:nvPr/>
        </p:nvSpPr>
        <p:spPr>
          <a:xfrm>
            <a:off x="1174750" y="1104900"/>
            <a:ext cx="3810000" cy="152400"/>
          </a:xfrm>
          <a:prstGeom prst="rect">
            <a:avLst/>
          </a:prstGeom>
          <a:noFill/>
          <a:ln>
            <a:noFill/>
          </a:ln>
        </p:spPr>
        <p:txBody>
          <a:bodyPr wrap="square" anchor="t" lIns="12700" tIns="12700" rIns="12700" bIns="12700"/>
          <a:lstStyle/>
          <a:p>
            <a:pPr algn="l"/>
            <a:r>
              <a:rPr lang="ja-JP" sz="1500" b="1">
                <a:solidFill>
                  <a:srgbClr val="666666"/>
                </a:solidFill>
                <a:latin typeface="Yu Gothic"/>
                <a:ea typeface="Yu Gothic"/>
              </a:rPr>
              <a:t>Chapter2</a:t>
            </a:r>
          </a:p>
        </p:txBody>
      </p:sp>
      <p:sp>
        <p:nvSpPr>
          <p:cNvPr id="10" name="Text 10"/>
          <p:cNvSpPr txBox="1"/>
          <p:nvPr/>
        </p:nvSpPr>
        <p:spPr>
          <a:xfrm>
            <a:off x="1365250" y="6464300"/>
            <a:ext cx="4445000" cy="190500"/>
          </a:xfrm>
          <a:prstGeom prst="rect">
            <a:avLst/>
          </a:prstGeom>
          <a:noFill/>
          <a:ln>
            <a:noFill/>
          </a:ln>
        </p:spPr>
        <p:txBody>
          <a:bodyPr wrap="square" anchor="t" lIns="12700" tIns="12700" rIns="12700" bIns="12700"/>
          <a:lstStyle/>
          <a:p>
            <a:pPr algn="l"/>
            <a:r>
              <a:rPr lang="ja-JP" sz="1200" b="1">
                <a:solidFill>
                  <a:srgbClr val="999999"/>
                </a:solidFill>
                <a:latin typeface="Yu Gothic"/>
                <a:ea typeface="Yu Gothic"/>
              </a:rPr>
              <a:t>Copyright @Field X inc. All rights reserved.</a:t>
            </a:r>
          </a:p>
        </p:txBody>
      </p:sp>
      <p:sp>
        <p:nvSpPr>
          <p:cNvPr id="11" name="Shape 11"/>
          <p:cNvSpPr txBox="1"/>
          <p:nvPr/>
        </p:nvSpPr>
        <p:spPr>
          <a:xfrm>
            <a:off x="1492250" y="1492250"/>
            <a:ext cx="9461500" cy="412750"/>
          </a:xfrm>
          <a:prstGeom prst="roundRect">
            <a:avLst/>
          </a:prstGeom>
          <a:solidFill>
            <a:srgbClr val="ff1818"/>
          </a:solidFill>
          <a:ln w="6350">
            <a:solidFill>
              <a:srgbClr val="ff1818"/>
            </a:solidFill>
          </a:ln>
        </p:spPr>
        <p:txBody>
          <a:bodyPr wrap="square" anchor="ctr" lIns="38100" tIns="38100" rIns="38100" bIns="38100"/>
          <a:lstStyle/>
          <a:p>
            <a:pPr algn="c"/>
            <a:r>
              <a:rPr lang="ja-JP" sz="2000" b="1">
                <a:solidFill>
                  <a:srgbClr val="ffffff"/>
                </a:solidFill>
                <a:latin typeface="Yu Gothic"/>
                <a:ea typeface="Yu Gothic"/>
              </a:rPr>
              <a:t>基幹管理・期日管理・対応履歴を一体化し、現場の運用負荷を下げる</a:t>
            </a:r>
          </a:p>
        </p:txBody>
      </p:sp>
      <p:sp>
        <p:nvSpPr>
          <p:cNvPr id="12" name="Shape 12"/>
          <p:cNvSpPr txBox="1"/>
          <p:nvPr/>
        </p:nvSpPr>
        <p:spPr>
          <a:xfrm>
            <a:off x="1174750" y="2286000"/>
            <a:ext cx="3016250" cy="2571750"/>
          </a:xfrm>
          <a:prstGeom prst="roundRect">
            <a:avLst/>
          </a:prstGeom>
          <a:solidFill>
            <a:srgbClr val="ffffff"/>
          </a:solidFill>
          <a:ln w="6350">
            <a:solidFill>
              <a:srgbClr val="dedede"/>
            </a:solidFill>
          </a:ln>
        </p:spPr>
      </p:sp>
      <p:sp>
        <p:nvSpPr>
          <p:cNvPr id="13" name="Shape 13"/>
          <p:cNvSpPr txBox="1"/>
          <p:nvPr/>
        </p:nvSpPr>
        <p:spPr>
          <a:xfrm>
            <a:off x="1377950" y="2489200"/>
            <a:ext cx="622300" cy="622300"/>
          </a:xfrm>
          <a:prstGeom prst="ellipse">
            <a:avLst/>
          </a:prstGeom>
          <a:solidFill>
            <a:srgbClr val="ff1818"/>
          </a:solidFill>
          <a:ln w="6350">
            <a:solidFill>
              <a:srgbClr val="ff1818"/>
            </a:solidFill>
          </a:ln>
        </p:spPr>
      </p:sp>
      <p:sp>
        <p:nvSpPr>
          <p:cNvPr id="14" name="Text 14"/>
          <p:cNvSpPr txBox="1"/>
          <p:nvPr/>
        </p:nvSpPr>
        <p:spPr>
          <a:xfrm>
            <a:off x="1498600" y="2679700"/>
            <a:ext cx="381000" cy="228600"/>
          </a:xfrm>
          <a:prstGeom prst="rect">
            <a:avLst/>
          </a:prstGeom>
          <a:noFill/>
          <a:ln>
            <a:noFill/>
          </a:ln>
        </p:spPr>
        <p:txBody>
          <a:bodyPr wrap="square" anchor="t" lIns="12700" tIns="12700" rIns="12700" bIns="12700"/>
          <a:lstStyle/>
          <a:p>
            <a:pPr algn="c"/>
            <a:r>
              <a:rPr lang="ja-JP" sz="2800" b="1">
                <a:solidFill>
                  <a:srgbClr val="ffffff"/>
                </a:solidFill>
                <a:latin typeface="Yu Gothic"/>
                <a:ea typeface="Yu Gothic"/>
              </a:rPr>
              <a:t>01</a:t>
            </a:r>
          </a:p>
        </p:txBody>
      </p:sp>
      <p:sp>
        <p:nvSpPr>
          <p:cNvPr id="15" name="Text 15"/>
          <p:cNvSpPr txBox="1"/>
          <p:nvPr/>
        </p:nvSpPr>
        <p:spPr>
          <a:xfrm>
            <a:off x="2139950" y="2540000"/>
            <a:ext cx="1841500" cy="241300"/>
          </a:xfrm>
          <a:prstGeom prst="rect">
            <a:avLst/>
          </a:prstGeom>
          <a:noFill/>
          <a:ln>
            <a:noFill/>
          </a:ln>
        </p:spPr>
        <p:txBody>
          <a:bodyPr wrap="square" anchor="t" lIns="12700" tIns="12700" rIns="12700" bIns="12700"/>
          <a:lstStyle/>
          <a:p>
            <a:pPr algn="l"/>
            <a:r>
              <a:rPr lang="ja-JP" sz="2100" b="1">
                <a:solidFill>
                  <a:srgbClr val="111111"/>
                </a:solidFill>
                <a:latin typeface="Yu Gothic"/>
                <a:ea typeface="Yu Gothic"/>
              </a:rPr>
              <a:t>現状の課題感</a:t>
            </a:r>
          </a:p>
        </p:txBody>
      </p:sp>
      <p:sp>
        <p:nvSpPr>
          <p:cNvPr id="16" name="Shape 16"/>
          <p:cNvSpPr txBox="1"/>
          <p:nvPr/>
        </p:nvSpPr>
        <p:spPr>
          <a:xfrm>
            <a:off x="1377950" y="3257550"/>
            <a:ext cx="2609850" cy="19050"/>
          </a:xfrm>
          <a:prstGeom prst="rect">
            <a:avLst/>
          </a:prstGeom>
          <a:solidFill>
            <a:srgbClr val="dedede"/>
          </a:solidFill>
          <a:ln w="6350">
            <a:solidFill>
              <a:srgbClr val="dedede"/>
            </a:solidFill>
          </a:ln>
        </p:spPr>
      </p:sp>
      <p:sp>
        <p:nvSpPr>
          <p:cNvPr id="17" name="Text 17"/>
          <p:cNvSpPr txBox="1"/>
          <p:nvPr/>
        </p:nvSpPr>
        <p:spPr>
          <a:xfrm>
            <a:off x="1416050" y="3505200"/>
            <a:ext cx="2533650" cy="1206500"/>
          </a:xfrm>
          <a:prstGeom prst="rect">
            <a:avLst/>
          </a:prstGeom>
          <a:noFill/>
          <a:ln>
            <a:noFill/>
          </a:ln>
        </p:spPr>
        <p:txBody>
          <a:bodyPr wrap="square" anchor="t" lIns="12700" tIns="12700" rIns="12700" bIns="12700"/>
          <a:lstStyle/>
          <a:p>
            <a:pPr algn="l"/>
            <a:r>
              <a:rPr lang="ja-JP" sz="1600">
                <a:solidFill>
                  <a:srgbClr val="333333"/>
                </a:solidFill>
                <a:latin typeface="Yu Gothic"/>
                <a:ea typeface="Yu Gothic"/>
              </a:rPr>
              <a:t>基幹システム切り替え、退去修繕、契約書作成、請求対応など、日常業務の負荷が高い状態です。</a:t>
            </a:r>
          </a:p>
        </p:txBody>
      </p:sp>
      <p:sp>
        <p:nvSpPr>
          <p:cNvPr id="18" name="Shape 18"/>
          <p:cNvSpPr txBox="1"/>
          <p:nvPr/>
        </p:nvSpPr>
        <p:spPr>
          <a:xfrm>
            <a:off x="4603750" y="2286000"/>
            <a:ext cx="3016250" cy="2571750"/>
          </a:xfrm>
          <a:prstGeom prst="roundRect">
            <a:avLst/>
          </a:prstGeom>
          <a:solidFill>
            <a:srgbClr val="ffffff"/>
          </a:solidFill>
          <a:ln w="6350">
            <a:solidFill>
              <a:srgbClr val="dedede"/>
            </a:solidFill>
          </a:ln>
        </p:spPr>
      </p:sp>
      <p:sp>
        <p:nvSpPr>
          <p:cNvPr id="19" name="Shape 19"/>
          <p:cNvSpPr txBox="1"/>
          <p:nvPr/>
        </p:nvSpPr>
        <p:spPr>
          <a:xfrm>
            <a:off x="4806950" y="2489200"/>
            <a:ext cx="622300" cy="622300"/>
          </a:xfrm>
          <a:prstGeom prst="ellipse">
            <a:avLst/>
          </a:prstGeom>
          <a:solidFill>
            <a:srgbClr val="ff1818"/>
          </a:solidFill>
          <a:ln w="6350">
            <a:solidFill>
              <a:srgbClr val="ff1818"/>
            </a:solidFill>
          </a:ln>
        </p:spPr>
      </p:sp>
      <p:sp>
        <p:nvSpPr>
          <p:cNvPr id="20" name="Text 20"/>
          <p:cNvSpPr txBox="1"/>
          <p:nvPr/>
        </p:nvSpPr>
        <p:spPr>
          <a:xfrm>
            <a:off x="4927600" y="2679700"/>
            <a:ext cx="381000" cy="228600"/>
          </a:xfrm>
          <a:prstGeom prst="rect">
            <a:avLst/>
          </a:prstGeom>
          <a:noFill/>
          <a:ln>
            <a:noFill/>
          </a:ln>
        </p:spPr>
        <p:txBody>
          <a:bodyPr wrap="square" anchor="t" lIns="12700" tIns="12700" rIns="12700" bIns="12700"/>
          <a:lstStyle/>
          <a:p>
            <a:pPr algn="c"/>
            <a:r>
              <a:rPr lang="ja-JP" sz="2800" b="1">
                <a:solidFill>
                  <a:srgbClr val="ffffff"/>
                </a:solidFill>
                <a:latin typeface="Yu Gothic"/>
                <a:ea typeface="Yu Gothic"/>
              </a:rPr>
              <a:t>02</a:t>
            </a:r>
          </a:p>
        </p:txBody>
      </p:sp>
      <p:sp>
        <p:nvSpPr>
          <p:cNvPr id="21" name="Text 21"/>
          <p:cNvSpPr txBox="1"/>
          <p:nvPr/>
        </p:nvSpPr>
        <p:spPr>
          <a:xfrm>
            <a:off x="5568950" y="2540000"/>
            <a:ext cx="1841500" cy="241300"/>
          </a:xfrm>
          <a:prstGeom prst="rect">
            <a:avLst/>
          </a:prstGeom>
          <a:noFill/>
          <a:ln>
            <a:noFill/>
          </a:ln>
        </p:spPr>
        <p:txBody>
          <a:bodyPr wrap="square" anchor="t" lIns="12700" tIns="12700" rIns="12700" bIns="12700"/>
          <a:lstStyle/>
          <a:p>
            <a:pPr algn="l"/>
            <a:r>
              <a:rPr lang="ja-JP" sz="2100" b="1">
                <a:solidFill>
                  <a:srgbClr val="111111"/>
                </a:solidFill>
                <a:latin typeface="Yu Gothic"/>
                <a:ea typeface="Yu Gothic"/>
              </a:rPr>
              <a:t>今回実現すること</a:t>
            </a:r>
          </a:p>
        </p:txBody>
      </p:sp>
      <p:sp>
        <p:nvSpPr>
          <p:cNvPr id="22" name="Shape 22"/>
          <p:cNvSpPr txBox="1"/>
          <p:nvPr/>
        </p:nvSpPr>
        <p:spPr>
          <a:xfrm>
            <a:off x="4806950" y="3257550"/>
            <a:ext cx="2609850" cy="19050"/>
          </a:xfrm>
          <a:prstGeom prst="rect">
            <a:avLst/>
          </a:prstGeom>
          <a:solidFill>
            <a:srgbClr val="dedede"/>
          </a:solidFill>
          <a:ln w="6350">
            <a:solidFill>
              <a:srgbClr val="dedede"/>
            </a:solidFill>
          </a:ln>
        </p:spPr>
      </p:sp>
      <p:sp>
        <p:nvSpPr>
          <p:cNvPr id="23" name="Text 23"/>
          <p:cNvSpPr txBox="1"/>
          <p:nvPr/>
        </p:nvSpPr>
        <p:spPr>
          <a:xfrm>
            <a:off x="4845050" y="3505200"/>
            <a:ext cx="2533650" cy="1206500"/>
          </a:xfrm>
          <a:prstGeom prst="rect">
            <a:avLst/>
          </a:prstGeom>
          <a:noFill/>
          <a:ln>
            <a:noFill/>
          </a:ln>
        </p:spPr>
        <p:txBody>
          <a:bodyPr wrap="square" anchor="t" lIns="12700" tIns="12700" rIns="12700" bIns="12700"/>
          <a:lstStyle/>
          <a:p>
            <a:pPr algn="l"/>
            <a:r>
              <a:rPr lang="ja-JP" sz="1600">
                <a:solidFill>
                  <a:srgbClr val="333333"/>
                </a:solidFill>
                <a:latin typeface="Yu Gothic"/>
                <a:ea typeface="Yu Gothic"/>
              </a:rPr>
              <a:t>期限、担当、状態、関連書類を一画面で確認できる基幹管理システムとして整理します。</a:t>
            </a:r>
          </a:p>
        </p:txBody>
      </p:sp>
      <p:sp>
        <p:nvSpPr>
          <p:cNvPr id="24" name="Shape 24"/>
          <p:cNvSpPr txBox="1"/>
          <p:nvPr/>
        </p:nvSpPr>
        <p:spPr>
          <a:xfrm>
            <a:off x="8032750" y="2286000"/>
            <a:ext cx="3016250" cy="2571750"/>
          </a:xfrm>
          <a:prstGeom prst="roundRect">
            <a:avLst/>
          </a:prstGeom>
          <a:solidFill>
            <a:srgbClr val="ffffff"/>
          </a:solidFill>
          <a:ln w="6350">
            <a:solidFill>
              <a:srgbClr val="dedede"/>
            </a:solidFill>
          </a:ln>
        </p:spPr>
      </p:sp>
      <p:sp>
        <p:nvSpPr>
          <p:cNvPr id="25" name="Shape 25"/>
          <p:cNvSpPr txBox="1"/>
          <p:nvPr/>
        </p:nvSpPr>
        <p:spPr>
          <a:xfrm>
            <a:off x="8235950" y="2489200"/>
            <a:ext cx="622300" cy="622300"/>
          </a:xfrm>
          <a:prstGeom prst="ellipse">
            <a:avLst/>
          </a:prstGeom>
          <a:solidFill>
            <a:srgbClr val="ff1818"/>
          </a:solidFill>
          <a:ln w="6350">
            <a:solidFill>
              <a:srgbClr val="ff1818"/>
            </a:solidFill>
          </a:ln>
        </p:spPr>
      </p:sp>
      <p:sp>
        <p:nvSpPr>
          <p:cNvPr id="26" name="Text 26"/>
          <p:cNvSpPr txBox="1"/>
          <p:nvPr/>
        </p:nvSpPr>
        <p:spPr>
          <a:xfrm>
            <a:off x="8356600" y="2679700"/>
            <a:ext cx="381000" cy="228600"/>
          </a:xfrm>
          <a:prstGeom prst="rect">
            <a:avLst/>
          </a:prstGeom>
          <a:noFill/>
          <a:ln>
            <a:noFill/>
          </a:ln>
        </p:spPr>
        <p:txBody>
          <a:bodyPr wrap="square" anchor="t" lIns="12700" tIns="12700" rIns="12700" bIns="12700"/>
          <a:lstStyle/>
          <a:p>
            <a:pPr algn="c"/>
            <a:r>
              <a:rPr lang="ja-JP" sz="2800" b="1">
                <a:solidFill>
                  <a:srgbClr val="ffffff"/>
                </a:solidFill>
                <a:latin typeface="Yu Gothic"/>
                <a:ea typeface="Yu Gothic"/>
              </a:rPr>
              <a:t>03</a:t>
            </a:r>
          </a:p>
        </p:txBody>
      </p:sp>
      <p:sp>
        <p:nvSpPr>
          <p:cNvPr id="27" name="Text 27"/>
          <p:cNvSpPr txBox="1"/>
          <p:nvPr/>
        </p:nvSpPr>
        <p:spPr>
          <a:xfrm>
            <a:off x="8997950" y="2540000"/>
            <a:ext cx="1841500" cy="241300"/>
          </a:xfrm>
          <a:prstGeom prst="rect">
            <a:avLst/>
          </a:prstGeom>
          <a:noFill/>
          <a:ln>
            <a:noFill/>
          </a:ln>
        </p:spPr>
        <p:txBody>
          <a:bodyPr wrap="square" anchor="t" lIns="12700" tIns="12700" rIns="12700" bIns="12700"/>
          <a:lstStyle/>
          <a:p>
            <a:pPr algn="l"/>
            <a:r>
              <a:rPr lang="ja-JP" sz="2100" b="1">
                <a:solidFill>
                  <a:srgbClr val="111111"/>
                </a:solidFill>
                <a:latin typeface="Yu Gothic"/>
                <a:ea typeface="Yu Gothic"/>
              </a:rPr>
              <a:t>将来拡張</a:t>
            </a:r>
          </a:p>
        </p:txBody>
      </p:sp>
      <p:sp>
        <p:nvSpPr>
          <p:cNvPr id="28" name="Shape 28"/>
          <p:cNvSpPr txBox="1"/>
          <p:nvPr/>
        </p:nvSpPr>
        <p:spPr>
          <a:xfrm>
            <a:off x="8235950" y="3257550"/>
            <a:ext cx="2609850" cy="19050"/>
          </a:xfrm>
          <a:prstGeom prst="rect">
            <a:avLst/>
          </a:prstGeom>
          <a:solidFill>
            <a:srgbClr val="dedede"/>
          </a:solidFill>
          <a:ln w="6350">
            <a:solidFill>
              <a:srgbClr val="dedede"/>
            </a:solidFill>
          </a:ln>
        </p:spPr>
      </p:sp>
      <p:sp>
        <p:nvSpPr>
          <p:cNvPr id="29" name="Text 29"/>
          <p:cNvSpPr txBox="1"/>
          <p:nvPr/>
        </p:nvSpPr>
        <p:spPr>
          <a:xfrm>
            <a:off x="8274050" y="3505200"/>
            <a:ext cx="2533650" cy="1206500"/>
          </a:xfrm>
          <a:prstGeom prst="rect">
            <a:avLst/>
          </a:prstGeom>
          <a:noFill/>
          <a:ln>
            <a:noFill/>
          </a:ln>
        </p:spPr>
        <p:txBody>
          <a:bodyPr wrap="square" anchor="t" lIns="12700" tIns="12700" rIns="12700" bIns="12700"/>
          <a:lstStyle/>
          <a:p>
            <a:pPr algn="l"/>
            <a:r>
              <a:rPr lang="ja-JP" sz="1600">
                <a:solidFill>
                  <a:srgbClr val="333333"/>
                </a:solidFill>
                <a:latin typeface="Yu Gothic"/>
                <a:ea typeface="Yu Gothic"/>
              </a:rPr>
              <a:t>AI音声対応、営業支援AI、契約書自動作成、社内FAQ検索へ段階的に広げます。</a:t>
            </a:r>
          </a:p>
        </p:txBody>
      </p:sp>
      <p:sp>
        <p:nvSpPr>
          <p:cNvPr id="30" name="Shape 30"/>
          <p:cNvSpPr txBox="1"/>
          <p:nvPr/>
        </p:nvSpPr>
        <p:spPr>
          <a:xfrm>
            <a:off x="1174750" y="5397500"/>
            <a:ext cx="10096500" cy="952500"/>
          </a:xfrm>
          <a:prstGeom prst="roundRect">
            <a:avLst/>
          </a:prstGeom>
          <a:solidFill>
            <a:srgbClr val="ffeaea"/>
          </a:solidFill>
          <a:ln w="12700">
            <a:solidFill>
              <a:srgbClr val="ff1818"/>
            </a:solidFill>
          </a:ln>
        </p:spPr>
      </p:sp>
      <p:sp>
        <p:nvSpPr>
          <p:cNvPr id="31" name="Shape 31"/>
          <p:cNvSpPr txBox="1"/>
          <p:nvPr/>
        </p:nvSpPr>
        <p:spPr>
          <a:xfrm>
            <a:off x="1416050" y="5600700"/>
            <a:ext cx="698500" cy="698500"/>
          </a:xfrm>
          <a:prstGeom prst="ellipse">
            <a:avLst/>
          </a:prstGeom>
          <a:solidFill>
            <a:srgbClr val="ff1818"/>
          </a:solidFill>
          <a:ln w="6350">
            <a:solidFill>
              <a:srgbClr val="ff1818"/>
            </a:solidFill>
          </a:ln>
        </p:spPr>
      </p:sp>
      <p:sp>
        <p:nvSpPr>
          <p:cNvPr id="32" name="Text 32"/>
          <p:cNvSpPr txBox="1"/>
          <p:nvPr/>
        </p:nvSpPr>
        <p:spPr>
          <a:xfrm>
            <a:off x="1631950" y="5765800"/>
            <a:ext cx="266700" cy="292100"/>
          </a:xfrm>
          <a:prstGeom prst="rect">
            <a:avLst/>
          </a:prstGeom>
          <a:noFill/>
          <a:ln>
            <a:noFill/>
          </a:ln>
        </p:spPr>
        <p:txBody>
          <a:bodyPr wrap="square" anchor="t" lIns="12700" tIns="12700" rIns="12700" bIns="12700"/>
          <a:lstStyle/>
          <a:p>
            <a:pPr algn="c"/>
            <a:r>
              <a:rPr lang="ja-JP" sz="4000" b="1">
                <a:solidFill>
                  <a:srgbClr val="ffffff"/>
                </a:solidFill>
                <a:latin typeface="Yu Gothic"/>
                <a:ea typeface="Yu Gothic"/>
              </a:rPr>
              <a:t>!</a:t>
            </a:r>
          </a:p>
        </p:txBody>
      </p:sp>
      <p:sp>
        <p:nvSpPr>
          <p:cNvPr id="33" name="Text 33"/>
          <p:cNvSpPr txBox="1"/>
          <p:nvPr/>
        </p:nvSpPr>
        <p:spPr>
          <a:xfrm>
            <a:off x="2349500" y="5588000"/>
            <a:ext cx="4318000" cy="228600"/>
          </a:xfrm>
          <a:prstGeom prst="rect">
            <a:avLst/>
          </a:prstGeom>
          <a:noFill/>
          <a:ln>
            <a:noFill/>
          </a:ln>
        </p:spPr>
        <p:txBody>
          <a:bodyPr wrap="square" anchor="t" lIns="12700" tIns="12700" rIns="12700" bIns="12700"/>
          <a:lstStyle/>
          <a:p>
            <a:pPr algn="l"/>
            <a:r>
              <a:rPr lang="ja-JP" sz="2300" b="1">
                <a:solidFill>
                  <a:srgbClr val="111111"/>
                </a:solidFill>
                <a:latin typeface="Yu Gothic"/>
                <a:ea typeface="Yu Gothic"/>
              </a:rPr>
              <a:t>社内稟議で伝えるポイント</a:t>
            </a:r>
          </a:p>
        </p:txBody>
      </p:sp>
      <p:sp>
        <p:nvSpPr>
          <p:cNvPr id="34" name="Text 34"/>
          <p:cNvSpPr txBox="1"/>
          <p:nvPr/>
        </p:nvSpPr>
        <p:spPr>
          <a:xfrm>
            <a:off x="2349500" y="5918200"/>
            <a:ext cx="4826000" cy="266700"/>
          </a:xfrm>
          <a:prstGeom prst="rect">
            <a:avLst/>
          </a:prstGeom>
          <a:noFill/>
          <a:ln>
            <a:noFill/>
          </a:ln>
        </p:spPr>
        <p:txBody>
          <a:bodyPr wrap="square" anchor="t" lIns="12700" tIns="12700" rIns="12700" bIns="12700"/>
          <a:lstStyle/>
          <a:p>
            <a:pPr algn="l"/>
            <a:r>
              <a:rPr lang="ja-JP" sz="1600">
                <a:solidFill>
                  <a:srgbClr val="666666"/>
                </a:solidFill>
                <a:latin typeface="Yu Gothic"/>
                <a:ea typeface="Yu Gothic"/>
              </a:rPr>
              <a:t>画面・要件・進め方を一式で見せ、他社比較で判断しやすい資料にします。</a:t>
            </a:r>
          </a:p>
        </p:txBody>
      </p:sp>
      <p:sp>
        <p:nvSpPr>
          <p:cNvPr id="35" name="Shape 35"/>
          <p:cNvSpPr txBox="1"/>
          <p:nvPr/>
        </p:nvSpPr>
        <p:spPr>
          <a:xfrm>
            <a:off x="7016750" y="5740400"/>
            <a:ext cx="1111250" cy="368300"/>
          </a:xfrm>
          <a:prstGeom prst="roundRect">
            <a:avLst/>
          </a:prstGeom>
          <a:solidFill>
            <a:srgbClr val="ffd9d9"/>
          </a:solidFill>
          <a:ln w="6350">
            <a:solidFill>
              <a:srgbClr val="ffd9d9"/>
            </a:solidFill>
          </a:ln>
        </p:spPr>
        <p:txBody>
          <a:bodyPr wrap="square" anchor="ctr" lIns="76200" tIns="76200" rIns="76200" bIns="76200"/>
          <a:lstStyle/>
          <a:p>
            <a:pPr algn="c"/>
            <a:r>
              <a:rPr lang="ja-JP" sz="1800" b="1">
                <a:solidFill>
                  <a:srgbClr val="ff1818"/>
                </a:solidFill>
                <a:latin typeface="Yu Gothic"/>
                <a:ea typeface="Yu Gothic"/>
              </a:rPr>
              <a:t>画面</a:t>
            </a:r>
          </a:p>
        </p:txBody>
      </p:sp>
      <p:sp>
        <p:nvSpPr>
          <p:cNvPr id="36" name="Shape 36"/>
          <p:cNvSpPr txBox="1"/>
          <p:nvPr/>
        </p:nvSpPr>
        <p:spPr>
          <a:xfrm>
            <a:off x="8382000" y="5740400"/>
            <a:ext cx="1111250" cy="368300"/>
          </a:xfrm>
          <a:prstGeom prst="roundRect">
            <a:avLst/>
          </a:prstGeom>
          <a:solidFill>
            <a:srgbClr val="ffd9d9"/>
          </a:solidFill>
          <a:ln w="6350">
            <a:solidFill>
              <a:srgbClr val="ffd9d9"/>
            </a:solidFill>
          </a:ln>
        </p:spPr>
        <p:txBody>
          <a:bodyPr wrap="square" anchor="ctr" lIns="76200" tIns="76200" rIns="76200" bIns="76200"/>
          <a:lstStyle/>
          <a:p>
            <a:pPr algn="c"/>
            <a:r>
              <a:rPr lang="ja-JP" sz="1800" b="1">
                <a:solidFill>
                  <a:srgbClr val="ff1818"/>
                </a:solidFill>
                <a:latin typeface="Yu Gothic"/>
                <a:ea typeface="Yu Gothic"/>
              </a:rPr>
              <a:t>要件</a:t>
            </a:r>
          </a:p>
        </p:txBody>
      </p:sp>
      <p:sp>
        <p:nvSpPr>
          <p:cNvPr id="37" name="Shape 37"/>
          <p:cNvSpPr txBox="1"/>
          <p:nvPr/>
        </p:nvSpPr>
        <p:spPr>
          <a:xfrm>
            <a:off x="9747250" y="5740400"/>
            <a:ext cx="1111250" cy="368300"/>
          </a:xfrm>
          <a:prstGeom prst="roundRect">
            <a:avLst/>
          </a:prstGeom>
          <a:solidFill>
            <a:srgbClr val="ffd9d9"/>
          </a:solidFill>
          <a:ln w="6350">
            <a:solidFill>
              <a:srgbClr val="ffd9d9"/>
            </a:solidFill>
          </a:ln>
        </p:spPr>
        <p:txBody>
          <a:bodyPr wrap="square" anchor="ctr" lIns="76200" tIns="76200" rIns="76200" bIns="76200"/>
          <a:lstStyle/>
          <a:p>
            <a:pPr algn="c"/>
            <a:r>
              <a:rPr lang="ja-JP" sz="1800" b="1">
                <a:solidFill>
                  <a:srgbClr val="ff1818"/>
                </a:solidFill>
                <a:latin typeface="Yu Gothic"/>
                <a:ea typeface="Yu Gothic"/>
              </a:rPr>
              <a:t>進め方</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0" y="0"/>
            <a:ext cx="876300" cy="6858000"/>
          </a:xfrm>
          <a:prstGeom prst="rect">
            <a:avLst/>
          </a:prstGeom>
          <a:solidFill>
            <a:srgbClr val="ff1818"/>
          </a:solidFill>
          <a:ln w="6350">
            <a:solidFill>
              <a:srgbClr val="ff1818"/>
            </a:solidFill>
          </a:ln>
        </p:spPr>
      </p:sp>
      <p:sp>
        <p:nvSpPr>
          <p:cNvPr id="3" name="Text 3"/>
          <p:cNvSpPr txBox="1"/>
          <p:nvPr/>
        </p:nvSpPr>
        <p:spPr>
          <a:xfrm>
            <a:off x="209550" y="355600"/>
            <a:ext cx="457200" cy="152400"/>
          </a:xfrm>
          <a:prstGeom prst="rect">
            <a:avLst/>
          </a:prstGeom>
          <a:noFill/>
          <a:ln>
            <a:noFill/>
          </a:ln>
        </p:spPr>
        <p:txBody>
          <a:bodyPr wrap="square" anchor="t" lIns="12700" tIns="12700" rIns="12700" bIns="12700"/>
          <a:lstStyle/>
          <a:p>
            <a:pPr algn="c"/>
            <a:r>
              <a:rPr lang="ja-JP" sz="1400" b="1">
                <a:solidFill>
                  <a:srgbClr val="ffffff"/>
                </a:solidFill>
                <a:latin typeface="Yu Gothic"/>
                <a:ea typeface="Yu Gothic"/>
              </a:rPr>
              <a:t>Chapter</a:t>
            </a:r>
          </a:p>
        </p:txBody>
      </p:sp>
      <p:sp>
        <p:nvSpPr>
          <p:cNvPr id="4" name="Text 4"/>
          <p:cNvSpPr txBox="1"/>
          <p:nvPr/>
        </p:nvSpPr>
        <p:spPr>
          <a:xfrm>
            <a:off x="114300" y="609600"/>
            <a:ext cx="647700" cy="444500"/>
          </a:xfrm>
          <a:prstGeom prst="rect">
            <a:avLst/>
          </a:prstGeom>
          <a:noFill/>
          <a:ln>
            <a:noFill/>
          </a:ln>
        </p:spPr>
        <p:txBody>
          <a:bodyPr wrap="square" anchor="t" lIns="12700" tIns="12700" rIns="12700" bIns="12700"/>
          <a:lstStyle/>
          <a:p>
            <a:pPr algn="c"/>
            <a:r>
              <a:rPr lang="ja-JP" sz="5600" b="1">
                <a:solidFill>
                  <a:srgbClr val="ffffff"/>
                </a:solidFill>
                <a:latin typeface="Yu Gothic"/>
                <a:ea typeface="Yu Gothic"/>
              </a:rPr>
              <a:t>02</a:t>
            </a:r>
          </a:p>
        </p:txBody>
      </p:sp>
      <p:sp>
        <p:nvSpPr>
          <p:cNvPr id="5" name="Shape 5"/>
          <p:cNvSpPr txBox="1"/>
          <p:nvPr/>
        </p:nvSpPr>
        <p:spPr>
          <a:xfrm>
            <a:off x="209550" y="1193800"/>
            <a:ext cx="457200" cy="31750"/>
          </a:xfrm>
          <a:prstGeom prst="rect">
            <a:avLst/>
          </a:prstGeom>
          <a:solidFill>
            <a:srgbClr val="ffffff"/>
          </a:solidFill>
          <a:ln w="6350">
            <a:solidFill>
              <a:srgbClr val="ffffff"/>
            </a:solidFill>
          </a:ln>
        </p:spPr>
      </p:sp>
      <p:sp>
        <p:nvSpPr>
          <p:cNvPr id="6" name="Text 6"/>
          <p:cNvSpPr txBox="1"/>
          <p:nvPr/>
        </p:nvSpPr>
        <p:spPr>
          <a:xfrm>
            <a:off x="254000" y="6413500"/>
            <a:ext cx="342900" cy="215900"/>
          </a:xfrm>
          <a:prstGeom prst="rect">
            <a:avLst/>
          </a:prstGeom>
          <a:noFill/>
          <a:ln>
            <a:noFill/>
          </a:ln>
        </p:spPr>
        <p:txBody>
          <a:bodyPr wrap="square" anchor="t" lIns="12700" tIns="12700" rIns="12700" bIns="12700"/>
          <a:lstStyle/>
          <a:p>
            <a:pPr algn="c"/>
            <a:r>
              <a:rPr lang="ja-JP" sz="2200" b="1">
                <a:solidFill>
                  <a:srgbClr val="ffffff"/>
                </a:solidFill>
                <a:latin typeface="Yu Gothic"/>
                <a:ea typeface="Yu Gothic"/>
              </a:rPr>
              <a:t>8</a:t>
            </a:r>
          </a:p>
        </p:txBody>
      </p:sp>
      <p:sp>
        <p:nvSpPr>
          <p:cNvPr id="7" name="Shape 7"/>
          <p:cNvSpPr txBox="1"/>
          <p:nvPr/>
        </p:nvSpPr>
        <p:spPr>
          <a:xfrm>
            <a:off x="1174750" y="469900"/>
            <a:ext cx="952500" cy="88900"/>
          </a:xfrm>
          <a:prstGeom prst="rect">
            <a:avLst/>
          </a:prstGeom>
          <a:solidFill>
            <a:srgbClr val="ff1818"/>
          </a:solidFill>
          <a:ln w="6350">
            <a:solidFill>
              <a:srgbClr val="ff1818"/>
            </a:solidFill>
          </a:ln>
        </p:spPr>
      </p:sp>
      <p:sp>
        <p:nvSpPr>
          <p:cNvPr id="8" name="Text 8"/>
          <p:cNvSpPr txBox="1"/>
          <p:nvPr/>
        </p:nvSpPr>
        <p:spPr>
          <a:xfrm>
            <a:off x="1174750" y="711200"/>
            <a:ext cx="7937500" cy="342900"/>
          </a:xfrm>
          <a:prstGeom prst="rect">
            <a:avLst/>
          </a:prstGeom>
          <a:noFill/>
          <a:ln>
            <a:noFill/>
          </a:ln>
        </p:spPr>
        <p:txBody>
          <a:bodyPr wrap="square" anchor="t" lIns="12700" tIns="12700" rIns="12700" bIns="12700"/>
          <a:lstStyle/>
          <a:p>
            <a:pPr algn="l"/>
            <a:r>
              <a:rPr lang="ja-JP" sz="3200" b="1">
                <a:solidFill>
                  <a:srgbClr val="111111"/>
                </a:solidFill>
                <a:latin typeface="Yu Gothic"/>
                <a:ea typeface="Yu Gothic"/>
              </a:rPr>
              <a:t>改善版モックで提示する全体像</a:t>
            </a:r>
          </a:p>
        </p:txBody>
      </p:sp>
      <p:sp>
        <p:nvSpPr>
          <p:cNvPr id="9" name="Text 9"/>
          <p:cNvSpPr txBox="1"/>
          <p:nvPr/>
        </p:nvSpPr>
        <p:spPr>
          <a:xfrm>
            <a:off x="1174750" y="1104900"/>
            <a:ext cx="3810000" cy="152400"/>
          </a:xfrm>
          <a:prstGeom prst="rect">
            <a:avLst/>
          </a:prstGeom>
          <a:noFill/>
          <a:ln>
            <a:noFill/>
          </a:ln>
        </p:spPr>
        <p:txBody>
          <a:bodyPr wrap="square" anchor="t" lIns="12700" tIns="12700" rIns="12700" bIns="12700"/>
          <a:lstStyle/>
          <a:p>
            <a:pPr algn="l"/>
            <a:r>
              <a:rPr lang="ja-JP" sz="1500" b="1">
                <a:solidFill>
                  <a:srgbClr val="666666"/>
                </a:solidFill>
                <a:latin typeface="Yu Gothic"/>
                <a:ea typeface="Yu Gothic"/>
              </a:rPr>
              <a:t>Chapter2</a:t>
            </a:r>
          </a:p>
        </p:txBody>
      </p:sp>
      <p:sp>
        <p:nvSpPr>
          <p:cNvPr id="10" name="Text 10"/>
          <p:cNvSpPr txBox="1"/>
          <p:nvPr/>
        </p:nvSpPr>
        <p:spPr>
          <a:xfrm>
            <a:off x="1365250" y="6464300"/>
            <a:ext cx="4445000" cy="190500"/>
          </a:xfrm>
          <a:prstGeom prst="rect">
            <a:avLst/>
          </a:prstGeom>
          <a:noFill/>
          <a:ln>
            <a:noFill/>
          </a:ln>
        </p:spPr>
        <p:txBody>
          <a:bodyPr wrap="square" anchor="t" lIns="12700" tIns="12700" rIns="12700" bIns="12700"/>
          <a:lstStyle/>
          <a:p>
            <a:pPr algn="l"/>
            <a:r>
              <a:rPr lang="ja-JP" sz="1200" b="1">
                <a:solidFill>
                  <a:srgbClr val="999999"/>
                </a:solidFill>
                <a:latin typeface="Yu Gothic"/>
                <a:ea typeface="Yu Gothic"/>
              </a:rPr>
              <a:t>Copyright @Field X inc. All rights reserved.</a:t>
            </a:r>
          </a:p>
        </p:txBody>
      </p:sp>
      <p:sp>
        <p:nvSpPr>
          <p:cNvPr id="11" name="Shape 11"/>
          <p:cNvSpPr txBox="1"/>
          <p:nvPr/>
        </p:nvSpPr>
        <p:spPr>
          <a:xfrm>
            <a:off x="1174750" y="1555750"/>
            <a:ext cx="8191500" cy="4476750"/>
          </a:xfrm>
          <a:prstGeom prst="roundRect">
            <a:avLst/>
          </a:prstGeom>
          <a:solidFill>
            <a:srgbClr val="ffffff"/>
          </a:solidFill>
          <a:ln w="12700">
            <a:solidFill>
              <a:srgbClr val="dedede"/>
            </a:solidFill>
          </a:ln>
        </p:spPr>
      </p:sp>
      <p:sp>
        <p:nvSpPr>
          <p:cNvPr id="12" name="Shape 12"/>
          <p:cNvSpPr txBox="1"/>
          <p:nvPr/>
        </p:nvSpPr>
        <p:spPr>
          <a:xfrm>
            <a:off x="1174750" y="1555750"/>
            <a:ext cx="1301750" cy="4476750"/>
          </a:xfrm>
          <a:prstGeom prst="rect">
            <a:avLst/>
          </a:prstGeom>
          <a:solidFill>
            <a:srgbClr val="15151b"/>
          </a:solidFill>
          <a:ln w="6350">
            <a:solidFill>
              <a:srgbClr val="15151b"/>
            </a:solidFill>
          </a:ln>
        </p:spPr>
      </p:sp>
      <p:sp>
        <p:nvSpPr>
          <p:cNvPr id="13" name="Shape 13"/>
          <p:cNvSpPr txBox="1"/>
          <p:nvPr/>
        </p:nvSpPr>
        <p:spPr>
          <a:xfrm>
            <a:off x="1377950" y="1771650"/>
            <a:ext cx="266700" cy="266700"/>
          </a:xfrm>
          <a:prstGeom prst="ellipse">
            <a:avLst/>
          </a:prstGeom>
          <a:solidFill>
            <a:srgbClr val="ff1818"/>
          </a:solidFill>
          <a:ln w="6350">
            <a:solidFill>
              <a:srgbClr val="ff1818"/>
            </a:solidFill>
          </a:ln>
        </p:spPr>
      </p:sp>
      <p:sp>
        <p:nvSpPr>
          <p:cNvPr id="14" name="Text 14"/>
          <p:cNvSpPr txBox="1"/>
          <p:nvPr/>
        </p:nvSpPr>
        <p:spPr>
          <a:xfrm>
            <a:off x="1720850" y="1778000"/>
            <a:ext cx="609600" cy="215900"/>
          </a:xfrm>
          <a:prstGeom prst="rect">
            <a:avLst/>
          </a:prstGeom>
          <a:noFill/>
          <a:ln>
            <a:noFill/>
          </a:ln>
        </p:spPr>
        <p:txBody>
          <a:bodyPr wrap="square" anchor="t" lIns="12700" tIns="12700" rIns="12700" bIns="12700"/>
          <a:lstStyle/>
          <a:p>
            <a:pPr algn="l"/>
            <a:r>
              <a:rPr lang="ja-JP" sz="2200" b="1">
                <a:solidFill>
                  <a:srgbClr val="ffffff"/>
                </a:solidFill>
                <a:latin typeface="Yu Gothic"/>
                <a:ea typeface="Yu Gothic"/>
              </a:rPr>
              <a:t>Field X</a:t>
            </a:r>
          </a:p>
        </p:txBody>
      </p:sp>
      <p:sp>
        <p:nvSpPr>
          <p:cNvPr id="15" name="Shape 15"/>
          <p:cNvSpPr txBox="1"/>
          <p:nvPr/>
        </p:nvSpPr>
        <p:spPr>
          <a:xfrm>
            <a:off x="2476500" y="1555750"/>
            <a:ext cx="6889750" cy="533400"/>
          </a:xfrm>
          <a:prstGeom prst="rect">
            <a:avLst/>
          </a:prstGeom>
          <a:solidFill>
            <a:srgbClr val="fcfcfc"/>
          </a:solidFill>
          <a:ln w="6350">
            <a:solidFill>
              <a:srgbClr val="dedede"/>
            </a:solidFill>
          </a:ln>
        </p:spPr>
      </p:sp>
      <p:sp>
        <p:nvSpPr>
          <p:cNvPr id="16" name="Text 16"/>
          <p:cNvSpPr txBox="1"/>
          <p:nvPr/>
        </p:nvSpPr>
        <p:spPr>
          <a:xfrm>
            <a:off x="2730500" y="1733550"/>
            <a:ext cx="4445000" cy="203200"/>
          </a:xfrm>
          <a:prstGeom prst="rect">
            <a:avLst/>
          </a:prstGeom>
          <a:noFill/>
          <a:ln>
            <a:noFill/>
          </a:ln>
        </p:spPr>
        <p:txBody>
          <a:bodyPr wrap="square" anchor="t" lIns="12700" tIns="12700" rIns="12700" bIns="12700"/>
          <a:lstStyle/>
          <a:p>
            <a:pPr algn="l"/>
            <a:r>
              <a:rPr lang="ja-JP" sz="1900" b="1">
                <a:solidFill>
                  <a:srgbClr val="111111"/>
                </a:solidFill>
                <a:latin typeface="Yu Gothic"/>
                <a:ea typeface="Yu Gothic"/>
              </a:rPr>
              <a:t>基幹管理ダッシュボード</a:t>
            </a:r>
          </a:p>
        </p:txBody>
      </p:sp>
      <p:sp>
        <p:nvSpPr>
          <p:cNvPr id="17" name="Text 17"/>
          <p:cNvSpPr txBox="1"/>
          <p:nvPr/>
        </p:nvSpPr>
        <p:spPr>
          <a:xfrm>
            <a:off x="8210550" y="1746250"/>
            <a:ext cx="603250" cy="152400"/>
          </a:xfrm>
          <a:prstGeom prst="rect">
            <a:avLst/>
          </a:prstGeom>
          <a:noFill/>
          <a:ln>
            <a:noFill/>
          </a:ln>
        </p:spPr>
        <p:txBody>
          <a:bodyPr wrap="square" anchor="t" lIns="12700" tIns="12700" rIns="12700" bIns="12700"/>
          <a:lstStyle/>
          <a:p>
            <a:pPr algn="l"/>
            <a:r>
              <a:rPr lang="ja-JP" sz="1400">
                <a:solidFill>
                  <a:srgbClr val="666666"/>
                </a:solidFill>
                <a:latin typeface="Yu Gothic"/>
                <a:ea typeface="Yu Gothic"/>
              </a:rPr>
              <a:t>担当者</a:t>
            </a:r>
          </a:p>
        </p:txBody>
      </p:sp>
      <p:sp>
        <p:nvSpPr>
          <p:cNvPr id="18" name="Shape 18"/>
          <p:cNvSpPr txBox="1"/>
          <p:nvPr/>
        </p:nvSpPr>
        <p:spPr>
          <a:xfrm>
            <a:off x="1327150" y="2266950"/>
            <a:ext cx="1003300" cy="279400"/>
          </a:xfrm>
          <a:prstGeom prst="roundRect">
            <a:avLst/>
          </a:prstGeom>
          <a:solidFill>
            <a:srgbClr val="ff1818"/>
          </a:solidFill>
          <a:ln w="6350">
            <a:solidFill>
              <a:srgbClr val="ff1818"/>
            </a:solidFill>
          </a:ln>
        </p:spPr>
        <p:txBody>
          <a:bodyPr wrap="square" anchor="ctr" lIns="76200" tIns="76200" rIns="76200" bIns="76200"/>
          <a:lstStyle/>
          <a:p>
            <a:pPr algn="c"/>
            <a:r>
              <a:rPr lang="ja-JP" sz="1500" b="1">
                <a:solidFill>
                  <a:srgbClr val="ffffff"/>
                </a:solidFill>
                <a:latin typeface="Yu Gothic"/>
                <a:ea typeface="Yu Gothic"/>
              </a:rPr>
              <a:t>総合</a:t>
            </a:r>
          </a:p>
        </p:txBody>
      </p:sp>
      <p:sp>
        <p:nvSpPr>
          <p:cNvPr id="19" name="Shape 19"/>
          <p:cNvSpPr txBox="1"/>
          <p:nvPr/>
        </p:nvSpPr>
        <p:spPr>
          <a:xfrm>
            <a:off x="1327150" y="266700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物件</a:t>
            </a:r>
          </a:p>
        </p:txBody>
      </p:sp>
      <p:sp>
        <p:nvSpPr>
          <p:cNvPr id="20" name="Shape 20"/>
          <p:cNvSpPr txBox="1"/>
          <p:nvPr/>
        </p:nvSpPr>
        <p:spPr>
          <a:xfrm>
            <a:off x="1327150" y="306705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契約</a:t>
            </a:r>
          </a:p>
        </p:txBody>
      </p:sp>
      <p:sp>
        <p:nvSpPr>
          <p:cNvPr id="21" name="Shape 21"/>
          <p:cNvSpPr txBox="1"/>
          <p:nvPr/>
        </p:nvSpPr>
        <p:spPr>
          <a:xfrm>
            <a:off x="1327150" y="346710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修繕</a:t>
            </a:r>
          </a:p>
        </p:txBody>
      </p:sp>
      <p:sp>
        <p:nvSpPr>
          <p:cNvPr id="22" name="Shape 22"/>
          <p:cNvSpPr txBox="1"/>
          <p:nvPr/>
        </p:nvSpPr>
        <p:spPr>
          <a:xfrm>
            <a:off x="1327150" y="386715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書類</a:t>
            </a:r>
          </a:p>
        </p:txBody>
      </p:sp>
      <p:sp>
        <p:nvSpPr>
          <p:cNvPr id="23" name="Shape 23"/>
          <p:cNvSpPr txBox="1"/>
          <p:nvPr/>
        </p:nvSpPr>
        <p:spPr>
          <a:xfrm>
            <a:off x="1327150" y="426720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検索</a:t>
            </a:r>
          </a:p>
        </p:txBody>
      </p:sp>
      <p:sp>
        <p:nvSpPr>
          <p:cNvPr id="24" name="Shape 24"/>
          <p:cNvSpPr txBox="1"/>
          <p:nvPr/>
        </p:nvSpPr>
        <p:spPr>
          <a:xfrm>
            <a:off x="1377950" y="5448300"/>
            <a:ext cx="838200" cy="19050"/>
          </a:xfrm>
          <a:prstGeom prst="rect">
            <a:avLst/>
          </a:prstGeom>
          <a:solidFill>
            <a:srgbClr val="4c4c53"/>
          </a:solidFill>
          <a:ln w="6350">
            <a:solidFill>
              <a:srgbClr val="4c4c53"/>
            </a:solidFill>
          </a:ln>
        </p:spPr>
      </p:sp>
      <p:sp>
        <p:nvSpPr>
          <p:cNvPr id="25" name="Shape 25"/>
          <p:cNvSpPr txBox="1"/>
          <p:nvPr/>
        </p:nvSpPr>
        <p:spPr>
          <a:xfrm>
            <a:off x="1403350" y="5626100"/>
            <a:ext cx="215900" cy="215900"/>
          </a:xfrm>
          <a:prstGeom prst="ellipse">
            <a:avLst/>
          </a:prstGeom>
          <a:solidFill>
            <a:srgbClr val="f1f1f1"/>
          </a:solidFill>
          <a:ln w="6350">
            <a:solidFill>
              <a:srgbClr val="f1f1f1"/>
            </a:solidFill>
          </a:ln>
        </p:spPr>
      </p:sp>
      <p:sp>
        <p:nvSpPr>
          <p:cNvPr id="26" name="Text 26"/>
          <p:cNvSpPr txBox="1"/>
          <p:nvPr/>
        </p:nvSpPr>
        <p:spPr>
          <a:xfrm>
            <a:off x="1720850" y="5651500"/>
            <a:ext cx="508000" cy="139700"/>
          </a:xfrm>
          <a:prstGeom prst="rect">
            <a:avLst/>
          </a:prstGeom>
          <a:noFill/>
          <a:ln>
            <a:noFill/>
          </a:ln>
        </p:spPr>
        <p:txBody>
          <a:bodyPr wrap="square" anchor="t" lIns="12700" tIns="12700" rIns="12700" bIns="12700"/>
          <a:lstStyle/>
          <a:p>
            <a:pPr algn="l"/>
            <a:r>
              <a:rPr lang="ja-JP" sz="1300">
                <a:solidFill>
                  <a:srgbClr val="d0d0d0"/>
                </a:solidFill>
                <a:latin typeface="Yu Gothic"/>
                <a:ea typeface="Yu Gothic"/>
              </a:rPr>
              <a:t>設定</a:t>
            </a:r>
          </a:p>
        </p:txBody>
      </p:sp>
      <p:sp>
        <p:nvSpPr>
          <p:cNvPr id="27" name="Shape 27"/>
          <p:cNvSpPr txBox="1"/>
          <p:nvPr/>
        </p:nvSpPr>
        <p:spPr>
          <a:xfrm>
            <a:off x="2749550" y="2305050"/>
            <a:ext cx="1206500" cy="685800"/>
          </a:xfrm>
          <a:prstGeom prst="roundRect">
            <a:avLst/>
          </a:prstGeom>
          <a:solidFill>
            <a:srgbClr val="ffffff"/>
          </a:solidFill>
          <a:ln w="6350">
            <a:solidFill>
              <a:srgbClr val="dedede"/>
            </a:solidFill>
          </a:ln>
        </p:spPr>
      </p:sp>
      <p:sp>
        <p:nvSpPr>
          <p:cNvPr id="28" name="Text 28"/>
          <p:cNvSpPr txBox="1"/>
          <p:nvPr/>
        </p:nvSpPr>
        <p:spPr>
          <a:xfrm>
            <a:off x="2851150" y="2419350"/>
            <a:ext cx="1003300" cy="139700"/>
          </a:xfrm>
          <a:prstGeom prst="rect">
            <a:avLst/>
          </a:prstGeom>
          <a:noFill/>
          <a:ln>
            <a:noFill/>
          </a:ln>
        </p:spPr>
        <p:txBody>
          <a:bodyPr wrap="square" anchor="t" lIns="12700" tIns="12700" rIns="12700" bIns="12700"/>
          <a:lstStyle/>
          <a:p>
            <a:pPr algn="l"/>
            <a:r>
              <a:rPr lang="ja-JP" sz="1300" b="1">
                <a:solidFill>
                  <a:srgbClr val="666666"/>
                </a:solidFill>
                <a:latin typeface="Yu Gothic"/>
                <a:ea typeface="Yu Gothic"/>
              </a:rPr>
              <a:t>本日期限</a:t>
            </a:r>
          </a:p>
        </p:txBody>
      </p:sp>
      <p:sp>
        <p:nvSpPr>
          <p:cNvPr id="29" name="Text 29"/>
          <p:cNvSpPr txBox="1"/>
          <p:nvPr/>
        </p:nvSpPr>
        <p:spPr>
          <a:xfrm>
            <a:off x="2876550" y="2609850"/>
            <a:ext cx="444500" cy="266700"/>
          </a:xfrm>
          <a:prstGeom prst="rect">
            <a:avLst/>
          </a:prstGeom>
          <a:noFill/>
          <a:ln>
            <a:noFill/>
          </a:ln>
        </p:spPr>
        <p:txBody>
          <a:bodyPr wrap="square" anchor="t" lIns="12700" tIns="12700" rIns="12700" bIns="12700"/>
          <a:lstStyle/>
          <a:p>
            <a:pPr algn="l"/>
            <a:r>
              <a:rPr lang="ja-JP" sz="3100" b="1">
                <a:solidFill>
                  <a:srgbClr val="111111"/>
                </a:solidFill>
                <a:latin typeface="Yu Gothic"/>
                <a:ea typeface="Yu Gothic"/>
              </a:rPr>
              <a:t>12</a:t>
            </a:r>
          </a:p>
        </p:txBody>
      </p:sp>
      <p:sp>
        <p:nvSpPr>
          <p:cNvPr id="30" name="Shape 30"/>
          <p:cNvSpPr txBox="1"/>
          <p:nvPr/>
        </p:nvSpPr>
        <p:spPr>
          <a:xfrm>
            <a:off x="3409950" y="2813050"/>
            <a:ext cx="393700" cy="25400"/>
          </a:xfrm>
          <a:prstGeom prst="rect">
            <a:avLst/>
          </a:prstGeom>
          <a:solidFill>
            <a:srgbClr val="c9c9c9"/>
          </a:solidFill>
          <a:ln>
            <a:noFill/>
          </a:ln>
        </p:spPr>
      </p:sp>
      <p:sp>
        <p:nvSpPr>
          <p:cNvPr id="31" name="Shape 31"/>
          <p:cNvSpPr txBox="1"/>
          <p:nvPr/>
        </p:nvSpPr>
        <p:spPr>
          <a:xfrm>
            <a:off x="4038600" y="2305050"/>
            <a:ext cx="1206500" cy="685800"/>
          </a:xfrm>
          <a:prstGeom prst="roundRect">
            <a:avLst/>
          </a:prstGeom>
          <a:solidFill>
            <a:srgbClr val="ffffff"/>
          </a:solidFill>
          <a:ln w="6350">
            <a:solidFill>
              <a:srgbClr val="dedede"/>
            </a:solidFill>
          </a:ln>
        </p:spPr>
      </p:sp>
      <p:sp>
        <p:nvSpPr>
          <p:cNvPr id="32" name="Text 32"/>
          <p:cNvSpPr txBox="1"/>
          <p:nvPr/>
        </p:nvSpPr>
        <p:spPr>
          <a:xfrm>
            <a:off x="4140200" y="2419350"/>
            <a:ext cx="1003300" cy="139700"/>
          </a:xfrm>
          <a:prstGeom prst="rect">
            <a:avLst/>
          </a:prstGeom>
          <a:noFill/>
          <a:ln>
            <a:noFill/>
          </a:ln>
        </p:spPr>
        <p:txBody>
          <a:bodyPr wrap="square" anchor="t" lIns="12700" tIns="12700" rIns="12700" bIns="12700"/>
          <a:lstStyle/>
          <a:p>
            <a:pPr algn="l"/>
            <a:r>
              <a:rPr lang="ja-JP" sz="1300" b="1">
                <a:solidFill>
                  <a:srgbClr val="666666"/>
                </a:solidFill>
                <a:latin typeface="Yu Gothic"/>
                <a:ea typeface="Yu Gothic"/>
              </a:rPr>
              <a:t>要確認</a:t>
            </a:r>
          </a:p>
        </p:txBody>
      </p:sp>
      <p:sp>
        <p:nvSpPr>
          <p:cNvPr id="33" name="Text 33"/>
          <p:cNvSpPr txBox="1"/>
          <p:nvPr/>
        </p:nvSpPr>
        <p:spPr>
          <a:xfrm>
            <a:off x="4165600" y="2609850"/>
            <a:ext cx="444500" cy="266700"/>
          </a:xfrm>
          <a:prstGeom prst="rect">
            <a:avLst/>
          </a:prstGeom>
          <a:noFill/>
          <a:ln>
            <a:noFill/>
          </a:ln>
        </p:spPr>
        <p:txBody>
          <a:bodyPr wrap="square" anchor="t" lIns="12700" tIns="12700" rIns="12700" bIns="12700"/>
          <a:lstStyle/>
          <a:p>
            <a:pPr algn="l"/>
            <a:r>
              <a:rPr lang="ja-JP" sz="3100" b="1">
                <a:solidFill>
                  <a:srgbClr val="111111"/>
                </a:solidFill>
                <a:latin typeface="Yu Gothic"/>
                <a:ea typeface="Yu Gothic"/>
              </a:rPr>
              <a:t>7</a:t>
            </a:r>
          </a:p>
        </p:txBody>
      </p:sp>
      <p:sp>
        <p:nvSpPr>
          <p:cNvPr id="34" name="Shape 34"/>
          <p:cNvSpPr txBox="1"/>
          <p:nvPr/>
        </p:nvSpPr>
        <p:spPr>
          <a:xfrm>
            <a:off x="4699000" y="2813050"/>
            <a:ext cx="393700" cy="25400"/>
          </a:xfrm>
          <a:prstGeom prst="rect">
            <a:avLst/>
          </a:prstGeom>
          <a:solidFill>
            <a:srgbClr val="c9c9c9"/>
          </a:solidFill>
          <a:ln>
            <a:noFill/>
          </a:ln>
        </p:spPr>
      </p:sp>
      <p:sp>
        <p:nvSpPr>
          <p:cNvPr id="35" name="Shape 35"/>
          <p:cNvSpPr txBox="1"/>
          <p:nvPr/>
        </p:nvSpPr>
        <p:spPr>
          <a:xfrm>
            <a:off x="5327650" y="2305050"/>
            <a:ext cx="1206500" cy="685800"/>
          </a:xfrm>
          <a:prstGeom prst="roundRect">
            <a:avLst/>
          </a:prstGeom>
          <a:solidFill>
            <a:srgbClr val="ffffff"/>
          </a:solidFill>
          <a:ln w="6350">
            <a:solidFill>
              <a:srgbClr val="dedede"/>
            </a:solidFill>
          </a:ln>
        </p:spPr>
      </p:sp>
      <p:sp>
        <p:nvSpPr>
          <p:cNvPr id="36" name="Text 36"/>
          <p:cNvSpPr txBox="1"/>
          <p:nvPr/>
        </p:nvSpPr>
        <p:spPr>
          <a:xfrm>
            <a:off x="5429250" y="2419350"/>
            <a:ext cx="1003300" cy="139700"/>
          </a:xfrm>
          <a:prstGeom prst="rect">
            <a:avLst/>
          </a:prstGeom>
          <a:noFill/>
          <a:ln>
            <a:noFill/>
          </a:ln>
        </p:spPr>
        <p:txBody>
          <a:bodyPr wrap="square" anchor="t" lIns="12700" tIns="12700" rIns="12700" bIns="12700"/>
          <a:lstStyle/>
          <a:p>
            <a:pPr algn="l"/>
            <a:r>
              <a:rPr lang="ja-JP" sz="1300" b="1">
                <a:solidFill>
                  <a:srgbClr val="666666"/>
                </a:solidFill>
                <a:latin typeface="Yu Gothic"/>
                <a:ea typeface="Yu Gothic"/>
              </a:rPr>
              <a:t>遅延リスク</a:t>
            </a:r>
          </a:p>
        </p:txBody>
      </p:sp>
      <p:sp>
        <p:nvSpPr>
          <p:cNvPr id="37" name="Text 37"/>
          <p:cNvSpPr txBox="1"/>
          <p:nvPr/>
        </p:nvSpPr>
        <p:spPr>
          <a:xfrm>
            <a:off x="5454650" y="2609850"/>
            <a:ext cx="444500" cy="266700"/>
          </a:xfrm>
          <a:prstGeom prst="rect">
            <a:avLst/>
          </a:prstGeom>
          <a:noFill/>
          <a:ln>
            <a:noFill/>
          </a:ln>
        </p:spPr>
        <p:txBody>
          <a:bodyPr wrap="square" anchor="t" lIns="12700" tIns="12700" rIns="12700" bIns="12700"/>
          <a:lstStyle/>
          <a:p>
            <a:pPr algn="l"/>
            <a:r>
              <a:rPr lang="ja-JP" sz="3100" b="1">
                <a:solidFill>
                  <a:srgbClr val="ff1818"/>
                </a:solidFill>
                <a:latin typeface="Yu Gothic"/>
                <a:ea typeface="Yu Gothic"/>
              </a:rPr>
              <a:t>3</a:t>
            </a:r>
          </a:p>
        </p:txBody>
      </p:sp>
      <p:sp>
        <p:nvSpPr>
          <p:cNvPr id="38" name="Shape 38"/>
          <p:cNvSpPr txBox="1"/>
          <p:nvPr/>
        </p:nvSpPr>
        <p:spPr>
          <a:xfrm>
            <a:off x="5988050" y="2813050"/>
            <a:ext cx="393700" cy="25400"/>
          </a:xfrm>
          <a:prstGeom prst="rect">
            <a:avLst/>
          </a:prstGeom>
          <a:solidFill>
            <a:srgbClr val="ff1818"/>
          </a:solidFill>
          <a:ln>
            <a:noFill/>
          </a:ln>
        </p:spPr>
      </p:sp>
      <p:sp>
        <p:nvSpPr>
          <p:cNvPr id="39" name="Shape 39"/>
          <p:cNvSpPr txBox="1"/>
          <p:nvPr/>
        </p:nvSpPr>
        <p:spPr>
          <a:xfrm>
            <a:off x="6616700" y="2305050"/>
            <a:ext cx="1206500" cy="685800"/>
          </a:xfrm>
          <a:prstGeom prst="roundRect">
            <a:avLst/>
          </a:prstGeom>
          <a:solidFill>
            <a:srgbClr val="ffffff"/>
          </a:solidFill>
          <a:ln w="6350">
            <a:solidFill>
              <a:srgbClr val="dedede"/>
            </a:solidFill>
          </a:ln>
        </p:spPr>
      </p:sp>
      <p:sp>
        <p:nvSpPr>
          <p:cNvPr id="40" name="Text 40"/>
          <p:cNvSpPr txBox="1"/>
          <p:nvPr/>
        </p:nvSpPr>
        <p:spPr>
          <a:xfrm>
            <a:off x="6718300" y="2419350"/>
            <a:ext cx="1003300" cy="139700"/>
          </a:xfrm>
          <a:prstGeom prst="rect">
            <a:avLst/>
          </a:prstGeom>
          <a:noFill/>
          <a:ln>
            <a:noFill/>
          </a:ln>
        </p:spPr>
        <p:txBody>
          <a:bodyPr wrap="square" anchor="t" lIns="12700" tIns="12700" rIns="12700" bIns="12700"/>
          <a:lstStyle/>
          <a:p>
            <a:pPr algn="l"/>
            <a:r>
              <a:rPr lang="ja-JP" sz="1300" b="1">
                <a:solidFill>
                  <a:srgbClr val="666666"/>
                </a:solidFill>
                <a:latin typeface="Yu Gothic"/>
                <a:ea typeface="Yu Gothic"/>
              </a:rPr>
              <a:t>完了</a:t>
            </a:r>
          </a:p>
        </p:txBody>
      </p:sp>
      <p:sp>
        <p:nvSpPr>
          <p:cNvPr id="41" name="Text 41"/>
          <p:cNvSpPr txBox="1"/>
          <p:nvPr/>
        </p:nvSpPr>
        <p:spPr>
          <a:xfrm>
            <a:off x="6743700" y="2609850"/>
            <a:ext cx="444500" cy="266700"/>
          </a:xfrm>
          <a:prstGeom prst="rect">
            <a:avLst/>
          </a:prstGeom>
          <a:noFill/>
          <a:ln>
            <a:noFill/>
          </a:ln>
        </p:spPr>
        <p:txBody>
          <a:bodyPr wrap="square" anchor="t" lIns="12700" tIns="12700" rIns="12700" bIns="12700"/>
          <a:lstStyle/>
          <a:p>
            <a:pPr algn="l"/>
            <a:r>
              <a:rPr lang="ja-JP" sz="3100" b="1">
                <a:solidFill>
                  <a:srgbClr val="111111"/>
                </a:solidFill>
                <a:latin typeface="Yu Gothic"/>
                <a:ea typeface="Yu Gothic"/>
              </a:rPr>
              <a:t>28</a:t>
            </a:r>
          </a:p>
        </p:txBody>
      </p:sp>
      <p:sp>
        <p:nvSpPr>
          <p:cNvPr id="42" name="Shape 42"/>
          <p:cNvSpPr txBox="1"/>
          <p:nvPr/>
        </p:nvSpPr>
        <p:spPr>
          <a:xfrm>
            <a:off x="7277100" y="2813050"/>
            <a:ext cx="393700" cy="25400"/>
          </a:xfrm>
          <a:prstGeom prst="rect">
            <a:avLst/>
          </a:prstGeom>
          <a:solidFill>
            <a:srgbClr val="c9c9c9"/>
          </a:solidFill>
          <a:ln>
            <a:noFill/>
          </a:ln>
        </p:spPr>
      </p:sp>
      <p:sp>
        <p:nvSpPr>
          <p:cNvPr id="43" name="Shape 43"/>
          <p:cNvSpPr txBox="1"/>
          <p:nvPr/>
        </p:nvSpPr>
        <p:spPr>
          <a:xfrm>
            <a:off x="7905750" y="2305050"/>
            <a:ext cx="1206500" cy="685800"/>
          </a:xfrm>
          <a:prstGeom prst="roundRect">
            <a:avLst/>
          </a:prstGeom>
          <a:solidFill>
            <a:srgbClr val="ffffff"/>
          </a:solidFill>
          <a:ln w="6350">
            <a:solidFill>
              <a:srgbClr val="dedede"/>
            </a:solidFill>
          </a:ln>
        </p:spPr>
      </p:sp>
      <p:sp>
        <p:nvSpPr>
          <p:cNvPr id="44" name="Text 44"/>
          <p:cNvSpPr txBox="1"/>
          <p:nvPr/>
        </p:nvSpPr>
        <p:spPr>
          <a:xfrm>
            <a:off x="8007350" y="2419350"/>
            <a:ext cx="1003300" cy="139700"/>
          </a:xfrm>
          <a:prstGeom prst="rect">
            <a:avLst/>
          </a:prstGeom>
          <a:noFill/>
          <a:ln>
            <a:noFill/>
          </a:ln>
        </p:spPr>
        <p:txBody>
          <a:bodyPr wrap="square" anchor="t" lIns="12700" tIns="12700" rIns="12700" bIns="12700"/>
          <a:lstStyle/>
          <a:p>
            <a:pPr algn="l"/>
            <a:r>
              <a:rPr lang="ja-JP" sz="1300" b="1">
                <a:solidFill>
                  <a:srgbClr val="666666"/>
                </a:solidFill>
                <a:latin typeface="Yu Gothic"/>
                <a:ea typeface="Yu Gothic"/>
              </a:rPr>
              <a:t>未割当</a:t>
            </a:r>
          </a:p>
        </p:txBody>
      </p:sp>
      <p:sp>
        <p:nvSpPr>
          <p:cNvPr id="45" name="Text 45"/>
          <p:cNvSpPr txBox="1"/>
          <p:nvPr/>
        </p:nvSpPr>
        <p:spPr>
          <a:xfrm>
            <a:off x="8032750" y="2609850"/>
            <a:ext cx="444500" cy="266700"/>
          </a:xfrm>
          <a:prstGeom prst="rect">
            <a:avLst/>
          </a:prstGeom>
          <a:noFill/>
          <a:ln>
            <a:noFill/>
          </a:ln>
        </p:spPr>
        <p:txBody>
          <a:bodyPr wrap="square" anchor="t" lIns="12700" tIns="12700" rIns="12700" bIns="12700"/>
          <a:lstStyle/>
          <a:p>
            <a:pPr algn="l"/>
            <a:r>
              <a:rPr lang="ja-JP" sz="3100" b="1">
                <a:solidFill>
                  <a:srgbClr val="111111"/>
                </a:solidFill>
                <a:latin typeface="Yu Gothic"/>
                <a:ea typeface="Yu Gothic"/>
              </a:rPr>
              <a:t>4</a:t>
            </a:r>
          </a:p>
        </p:txBody>
      </p:sp>
      <p:sp>
        <p:nvSpPr>
          <p:cNvPr id="46" name="Shape 46"/>
          <p:cNvSpPr txBox="1"/>
          <p:nvPr/>
        </p:nvSpPr>
        <p:spPr>
          <a:xfrm>
            <a:off x="8566150" y="2813050"/>
            <a:ext cx="393700" cy="25400"/>
          </a:xfrm>
          <a:prstGeom prst="rect">
            <a:avLst/>
          </a:prstGeom>
          <a:solidFill>
            <a:srgbClr val="c9c9c9"/>
          </a:solidFill>
          <a:ln>
            <a:noFill/>
          </a:ln>
        </p:spPr>
      </p:sp>
      <p:sp>
        <p:nvSpPr>
          <p:cNvPr id="47" name="Shape 47"/>
          <p:cNvSpPr txBox="1"/>
          <p:nvPr/>
        </p:nvSpPr>
        <p:spPr>
          <a:xfrm>
            <a:off x="2749550" y="3130550"/>
            <a:ext cx="1193800" cy="1873250"/>
          </a:xfrm>
          <a:prstGeom prst="roundRect">
            <a:avLst/>
          </a:prstGeom>
          <a:solidFill>
            <a:srgbClr val="f8f8f8"/>
          </a:solidFill>
          <a:ln w="6350">
            <a:solidFill>
              <a:srgbClr val="dedede"/>
            </a:solidFill>
          </a:ln>
        </p:spPr>
      </p:sp>
      <p:sp>
        <p:nvSpPr>
          <p:cNvPr id="48" name="Text 48"/>
          <p:cNvSpPr txBox="1"/>
          <p:nvPr/>
        </p:nvSpPr>
        <p:spPr>
          <a:xfrm>
            <a:off x="2863850" y="3257550"/>
            <a:ext cx="736600" cy="15875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退去精算</a:t>
            </a:r>
          </a:p>
        </p:txBody>
      </p:sp>
      <p:sp>
        <p:nvSpPr>
          <p:cNvPr id="49" name="Shape 49"/>
          <p:cNvSpPr txBox="1"/>
          <p:nvPr/>
        </p:nvSpPr>
        <p:spPr>
          <a:xfrm>
            <a:off x="3638550" y="3244850"/>
            <a:ext cx="203200" cy="165100"/>
          </a:xfrm>
          <a:prstGeom prst="roundRect">
            <a:avLst/>
          </a:prstGeom>
          <a:solidFill>
            <a:srgbClr val="b9bcc2"/>
          </a:solidFill>
          <a:ln w="6350">
            <a:solidFill>
              <a:srgbClr val="b9bcc2"/>
            </a:solidFill>
          </a:ln>
        </p:spPr>
      </p:sp>
      <p:sp>
        <p:nvSpPr>
          <p:cNvPr id="50" name="Shape 50"/>
          <p:cNvSpPr txBox="1"/>
          <p:nvPr/>
        </p:nvSpPr>
        <p:spPr>
          <a:xfrm>
            <a:off x="2851150" y="3511550"/>
            <a:ext cx="990600" cy="368300"/>
          </a:xfrm>
          <a:prstGeom prst="roundRect">
            <a:avLst/>
          </a:prstGeom>
          <a:solidFill>
            <a:srgbClr val="ffffff"/>
          </a:solidFill>
          <a:ln w="6350">
            <a:solidFill>
              <a:srgbClr val="dedede"/>
            </a:solidFill>
          </a:ln>
        </p:spPr>
      </p:sp>
      <p:sp>
        <p:nvSpPr>
          <p:cNvPr id="51" name="Shape 51"/>
          <p:cNvSpPr txBox="1"/>
          <p:nvPr/>
        </p:nvSpPr>
        <p:spPr>
          <a:xfrm>
            <a:off x="2851150" y="3511550"/>
            <a:ext cx="44450" cy="368300"/>
          </a:xfrm>
          <a:prstGeom prst="rect">
            <a:avLst/>
          </a:prstGeom>
          <a:solidFill>
            <a:srgbClr val="ff1818"/>
          </a:solidFill>
          <a:ln>
            <a:noFill/>
          </a:ln>
        </p:spPr>
      </p:sp>
      <p:sp>
        <p:nvSpPr>
          <p:cNvPr id="52" name="Text 52"/>
          <p:cNvSpPr txBox="1"/>
          <p:nvPr/>
        </p:nvSpPr>
        <p:spPr>
          <a:xfrm>
            <a:off x="2990850" y="3575050"/>
            <a:ext cx="6858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1-1</a:t>
            </a:r>
          </a:p>
        </p:txBody>
      </p:sp>
      <p:sp>
        <p:nvSpPr>
          <p:cNvPr id="53" name="Text 53"/>
          <p:cNvSpPr txBox="1"/>
          <p:nvPr/>
        </p:nvSpPr>
        <p:spPr>
          <a:xfrm>
            <a:off x="2990850" y="3721100"/>
            <a:ext cx="6858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54" name="Shape 54"/>
          <p:cNvSpPr txBox="1"/>
          <p:nvPr/>
        </p:nvSpPr>
        <p:spPr>
          <a:xfrm>
            <a:off x="2851150" y="3994150"/>
            <a:ext cx="990600" cy="368300"/>
          </a:xfrm>
          <a:prstGeom prst="roundRect">
            <a:avLst/>
          </a:prstGeom>
          <a:solidFill>
            <a:srgbClr val="ffffff"/>
          </a:solidFill>
          <a:ln w="6350">
            <a:solidFill>
              <a:srgbClr val="dedede"/>
            </a:solidFill>
          </a:ln>
        </p:spPr>
      </p:sp>
      <p:sp>
        <p:nvSpPr>
          <p:cNvPr id="55" name="Shape 55"/>
          <p:cNvSpPr txBox="1"/>
          <p:nvPr/>
        </p:nvSpPr>
        <p:spPr>
          <a:xfrm>
            <a:off x="2851150" y="3994150"/>
            <a:ext cx="44450" cy="368300"/>
          </a:xfrm>
          <a:prstGeom prst="rect">
            <a:avLst/>
          </a:prstGeom>
          <a:solidFill>
            <a:srgbClr val="bfbfbf"/>
          </a:solidFill>
          <a:ln>
            <a:noFill/>
          </a:ln>
        </p:spPr>
      </p:sp>
      <p:sp>
        <p:nvSpPr>
          <p:cNvPr id="56" name="Text 56"/>
          <p:cNvSpPr txBox="1"/>
          <p:nvPr/>
        </p:nvSpPr>
        <p:spPr>
          <a:xfrm>
            <a:off x="2990850" y="4057650"/>
            <a:ext cx="6858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1-2</a:t>
            </a:r>
          </a:p>
        </p:txBody>
      </p:sp>
      <p:sp>
        <p:nvSpPr>
          <p:cNvPr id="57" name="Text 57"/>
          <p:cNvSpPr txBox="1"/>
          <p:nvPr/>
        </p:nvSpPr>
        <p:spPr>
          <a:xfrm>
            <a:off x="2990850" y="4203700"/>
            <a:ext cx="6858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58" name="Shape 58"/>
          <p:cNvSpPr txBox="1"/>
          <p:nvPr/>
        </p:nvSpPr>
        <p:spPr>
          <a:xfrm>
            <a:off x="2851150" y="4476750"/>
            <a:ext cx="990600" cy="368300"/>
          </a:xfrm>
          <a:prstGeom prst="roundRect">
            <a:avLst/>
          </a:prstGeom>
          <a:solidFill>
            <a:srgbClr val="ffffff"/>
          </a:solidFill>
          <a:ln w="6350">
            <a:solidFill>
              <a:srgbClr val="dedede"/>
            </a:solidFill>
          </a:ln>
        </p:spPr>
      </p:sp>
      <p:sp>
        <p:nvSpPr>
          <p:cNvPr id="59" name="Shape 59"/>
          <p:cNvSpPr txBox="1"/>
          <p:nvPr/>
        </p:nvSpPr>
        <p:spPr>
          <a:xfrm>
            <a:off x="2851150" y="4476750"/>
            <a:ext cx="44450" cy="368300"/>
          </a:xfrm>
          <a:prstGeom prst="rect">
            <a:avLst/>
          </a:prstGeom>
          <a:solidFill>
            <a:srgbClr val="bfbfbf"/>
          </a:solidFill>
          <a:ln>
            <a:noFill/>
          </a:ln>
        </p:spPr>
      </p:sp>
      <p:sp>
        <p:nvSpPr>
          <p:cNvPr id="60" name="Text 60"/>
          <p:cNvSpPr txBox="1"/>
          <p:nvPr/>
        </p:nvSpPr>
        <p:spPr>
          <a:xfrm>
            <a:off x="2990850" y="4540250"/>
            <a:ext cx="6858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1-3</a:t>
            </a:r>
          </a:p>
        </p:txBody>
      </p:sp>
      <p:sp>
        <p:nvSpPr>
          <p:cNvPr id="61" name="Text 61"/>
          <p:cNvSpPr txBox="1"/>
          <p:nvPr/>
        </p:nvSpPr>
        <p:spPr>
          <a:xfrm>
            <a:off x="2990850" y="4686300"/>
            <a:ext cx="6858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62" name="Shape 62"/>
          <p:cNvSpPr txBox="1"/>
          <p:nvPr/>
        </p:nvSpPr>
        <p:spPr>
          <a:xfrm>
            <a:off x="4044950" y="3130550"/>
            <a:ext cx="1193800" cy="1873250"/>
          </a:xfrm>
          <a:prstGeom prst="roundRect">
            <a:avLst/>
          </a:prstGeom>
          <a:solidFill>
            <a:srgbClr val="f8f8f8"/>
          </a:solidFill>
          <a:ln w="6350">
            <a:solidFill>
              <a:srgbClr val="dedede"/>
            </a:solidFill>
          </a:ln>
        </p:spPr>
      </p:sp>
      <p:sp>
        <p:nvSpPr>
          <p:cNvPr id="63" name="Text 63"/>
          <p:cNvSpPr txBox="1"/>
          <p:nvPr/>
        </p:nvSpPr>
        <p:spPr>
          <a:xfrm>
            <a:off x="4159250" y="3257550"/>
            <a:ext cx="736600" cy="15875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修繕対応</a:t>
            </a:r>
          </a:p>
        </p:txBody>
      </p:sp>
      <p:sp>
        <p:nvSpPr>
          <p:cNvPr id="64" name="Shape 64"/>
          <p:cNvSpPr txBox="1"/>
          <p:nvPr/>
        </p:nvSpPr>
        <p:spPr>
          <a:xfrm>
            <a:off x="4933950" y="3244850"/>
            <a:ext cx="203200" cy="165100"/>
          </a:xfrm>
          <a:prstGeom prst="roundRect">
            <a:avLst/>
          </a:prstGeom>
          <a:solidFill>
            <a:srgbClr val="b9bcc2"/>
          </a:solidFill>
          <a:ln w="6350">
            <a:solidFill>
              <a:srgbClr val="b9bcc2"/>
            </a:solidFill>
          </a:ln>
        </p:spPr>
      </p:sp>
      <p:sp>
        <p:nvSpPr>
          <p:cNvPr id="65" name="Shape 65"/>
          <p:cNvSpPr txBox="1"/>
          <p:nvPr/>
        </p:nvSpPr>
        <p:spPr>
          <a:xfrm>
            <a:off x="4146550" y="3511550"/>
            <a:ext cx="990600" cy="368300"/>
          </a:xfrm>
          <a:prstGeom prst="roundRect">
            <a:avLst/>
          </a:prstGeom>
          <a:solidFill>
            <a:srgbClr val="ffffff"/>
          </a:solidFill>
          <a:ln w="6350">
            <a:solidFill>
              <a:srgbClr val="dedede"/>
            </a:solidFill>
          </a:ln>
        </p:spPr>
      </p:sp>
      <p:sp>
        <p:nvSpPr>
          <p:cNvPr id="66" name="Shape 66"/>
          <p:cNvSpPr txBox="1"/>
          <p:nvPr/>
        </p:nvSpPr>
        <p:spPr>
          <a:xfrm>
            <a:off x="4146550" y="3511550"/>
            <a:ext cx="44450" cy="368300"/>
          </a:xfrm>
          <a:prstGeom prst="rect">
            <a:avLst/>
          </a:prstGeom>
          <a:solidFill>
            <a:srgbClr val="ff1818"/>
          </a:solidFill>
          <a:ln>
            <a:noFill/>
          </a:ln>
        </p:spPr>
      </p:sp>
      <p:sp>
        <p:nvSpPr>
          <p:cNvPr id="67" name="Text 67"/>
          <p:cNvSpPr txBox="1"/>
          <p:nvPr/>
        </p:nvSpPr>
        <p:spPr>
          <a:xfrm>
            <a:off x="4286250" y="3575050"/>
            <a:ext cx="6858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2-1</a:t>
            </a:r>
          </a:p>
        </p:txBody>
      </p:sp>
      <p:sp>
        <p:nvSpPr>
          <p:cNvPr id="68" name="Text 68"/>
          <p:cNvSpPr txBox="1"/>
          <p:nvPr/>
        </p:nvSpPr>
        <p:spPr>
          <a:xfrm>
            <a:off x="4286250" y="3721100"/>
            <a:ext cx="6858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69" name="Shape 69"/>
          <p:cNvSpPr txBox="1"/>
          <p:nvPr/>
        </p:nvSpPr>
        <p:spPr>
          <a:xfrm>
            <a:off x="4146550" y="3994150"/>
            <a:ext cx="990600" cy="368300"/>
          </a:xfrm>
          <a:prstGeom prst="roundRect">
            <a:avLst/>
          </a:prstGeom>
          <a:solidFill>
            <a:srgbClr val="ffffff"/>
          </a:solidFill>
          <a:ln w="6350">
            <a:solidFill>
              <a:srgbClr val="dedede"/>
            </a:solidFill>
          </a:ln>
        </p:spPr>
      </p:sp>
      <p:sp>
        <p:nvSpPr>
          <p:cNvPr id="70" name="Shape 70"/>
          <p:cNvSpPr txBox="1"/>
          <p:nvPr/>
        </p:nvSpPr>
        <p:spPr>
          <a:xfrm>
            <a:off x="4146550" y="3994150"/>
            <a:ext cx="44450" cy="368300"/>
          </a:xfrm>
          <a:prstGeom prst="rect">
            <a:avLst/>
          </a:prstGeom>
          <a:solidFill>
            <a:srgbClr val="bfbfbf"/>
          </a:solidFill>
          <a:ln>
            <a:noFill/>
          </a:ln>
        </p:spPr>
      </p:sp>
      <p:sp>
        <p:nvSpPr>
          <p:cNvPr id="71" name="Text 71"/>
          <p:cNvSpPr txBox="1"/>
          <p:nvPr/>
        </p:nvSpPr>
        <p:spPr>
          <a:xfrm>
            <a:off x="4286250" y="4057650"/>
            <a:ext cx="6858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2-2</a:t>
            </a:r>
          </a:p>
        </p:txBody>
      </p:sp>
      <p:sp>
        <p:nvSpPr>
          <p:cNvPr id="72" name="Text 72"/>
          <p:cNvSpPr txBox="1"/>
          <p:nvPr/>
        </p:nvSpPr>
        <p:spPr>
          <a:xfrm>
            <a:off x="4286250" y="4203700"/>
            <a:ext cx="6858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73" name="Shape 73"/>
          <p:cNvSpPr txBox="1"/>
          <p:nvPr/>
        </p:nvSpPr>
        <p:spPr>
          <a:xfrm>
            <a:off x="4146550" y="4476750"/>
            <a:ext cx="990600" cy="368300"/>
          </a:xfrm>
          <a:prstGeom prst="roundRect">
            <a:avLst/>
          </a:prstGeom>
          <a:solidFill>
            <a:srgbClr val="ffffff"/>
          </a:solidFill>
          <a:ln w="6350">
            <a:solidFill>
              <a:srgbClr val="dedede"/>
            </a:solidFill>
          </a:ln>
        </p:spPr>
      </p:sp>
      <p:sp>
        <p:nvSpPr>
          <p:cNvPr id="74" name="Shape 74"/>
          <p:cNvSpPr txBox="1"/>
          <p:nvPr/>
        </p:nvSpPr>
        <p:spPr>
          <a:xfrm>
            <a:off x="4146550" y="4476750"/>
            <a:ext cx="44450" cy="368300"/>
          </a:xfrm>
          <a:prstGeom prst="rect">
            <a:avLst/>
          </a:prstGeom>
          <a:solidFill>
            <a:srgbClr val="bfbfbf"/>
          </a:solidFill>
          <a:ln>
            <a:noFill/>
          </a:ln>
        </p:spPr>
      </p:sp>
      <p:sp>
        <p:nvSpPr>
          <p:cNvPr id="75" name="Text 75"/>
          <p:cNvSpPr txBox="1"/>
          <p:nvPr/>
        </p:nvSpPr>
        <p:spPr>
          <a:xfrm>
            <a:off x="4286250" y="4540250"/>
            <a:ext cx="6858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2-3</a:t>
            </a:r>
          </a:p>
        </p:txBody>
      </p:sp>
      <p:sp>
        <p:nvSpPr>
          <p:cNvPr id="76" name="Text 76"/>
          <p:cNvSpPr txBox="1"/>
          <p:nvPr/>
        </p:nvSpPr>
        <p:spPr>
          <a:xfrm>
            <a:off x="4286250" y="4686300"/>
            <a:ext cx="6858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77" name="Shape 77"/>
          <p:cNvSpPr txBox="1"/>
          <p:nvPr/>
        </p:nvSpPr>
        <p:spPr>
          <a:xfrm>
            <a:off x="5340350" y="3130550"/>
            <a:ext cx="1193800" cy="1873250"/>
          </a:xfrm>
          <a:prstGeom prst="roundRect">
            <a:avLst/>
          </a:prstGeom>
          <a:solidFill>
            <a:srgbClr val="f8f8f8"/>
          </a:solidFill>
          <a:ln w="6350">
            <a:solidFill>
              <a:srgbClr val="dedede"/>
            </a:solidFill>
          </a:ln>
        </p:spPr>
      </p:sp>
      <p:sp>
        <p:nvSpPr>
          <p:cNvPr id="78" name="Text 78"/>
          <p:cNvSpPr txBox="1"/>
          <p:nvPr/>
        </p:nvSpPr>
        <p:spPr>
          <a:xfrm>
            <a:off x="5454650" y="3257550"/>
            <a:ext cx="736600" cy="15875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契約更新</a:t>
            </a:r>
          </a:p>
        </p:txBody>
      </p:sp>
      <p:sp>
        <p:nvSpPr>
          <p:cNvPr id="79" name="Shape 79"/>
          <p:cNvSpPr txBox="1"/>
          <p:nvPr/>
        </p:nvSpPr>
        <p:spPr>
          <a:xfrm>
            <a:off x="6229350" y="3244850"/>
            <a:ext cx="203200" cy="165100"/>
          </a:xfrm>
          <a:prstGeom prst="roundRect">
            <a:avLst/>
          </a:prstGeom>
          <a:solidFill>
            <a:srgbClr val="ff1818"/>
          </a:solidFill>
          <a:ln w="6350">
            <a:solidFill>
              <a:srgbClr val="ff1818"/>
            </a:solidFill>
          </a:ln>
        </p:spPr>
      </p:sp>
      <p:sp>
        <p:nvSpPr>
          <p:cNvPr id="80" name="Shape 80"/>
          <p:cNvSpPr txBox="1"/>
          <p:nvPr/>
        </p:nvSpPr>
        <p:spPr>
          <a:xfrm>
            <a:off x="5441950" y="3511550"/>
            <a:ext cx="990600" cy="368300"/>
          </a:xfrm>
          <a:prstGeom prst="roundRect">
            <a:avLst/>
          </a:prstGeom>
          <a:solidFill>
            <a:srgbClr val="ffffff"/>
          </a:solidFill>
          <a:ln w="6350">
            <a:solidFill>
              <a:srgbClr val="dedede"/>
            </a:solidFill>
          </a:ln>
        </p:spPr>
      </p:sp>
      <p:sp>
        <p:nvSpPr>
          <p:cNvPr id="81" name="Shape 81"/>
          <p:cNvSpPr txBox="1"/>
          <p:nvPr/>
        </p:nvSpPr>
        <p:spPr>
          <a:xfrm>
            <a:off x="5441950" y="3511550"/>
            <a:ext cx="44450" cy="368300"/>
          </a:xfrm>
          <a:prstGeom prst="rect">
            <a:avLst/>
          </a:prstGeom>
          <a:solidFill>
            <a:srgbClr val="ff1818"/>
          </a:solidFill>
          <a:ln>
            <a:noFill/>
          </a:ln>
        </p:spPr>
      </p:sp>
      <p:sp>
        <p:nvSpPr>
          <p:cNvPr id="82" name="Text 82"/>
          <p:cNvSpPr txBox="1"/>
          <p:nvPr/>
        </p:nvSpPr>
        <p:spPr>
          <a:xfrm>
            <a:off x="5581650" y="3575050"/>
            <a:ext cx="6858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3-1</a:t>
            </a:r>
          </a:p>
        </p:txBody>
      </p:sp>
      <p:sp>
        <p:nvSpPr>
          <p:cNvPr id="83" name="Text 83"/>
          <p:cNvSpPr txBox="1"/>
          <p:nvPr/>
        </p:nvSpPr>
        <p:spPr>
          <a:xfrm>
            <a:off x="5581650" y="3721100"/>
            <a:ext cx="6858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84" name="Shape 84"/>
          <p:cNvSpPr txBox="1"/>
          <p:nvPr/>
        </p:nvSpPr>
        <p:spPr>
          <a:xfrm>
            <a:off x="5441950" y="3994150"/>
            <a:ext cx="990600" cy="368300"/>
          </a:xfrm>
          <a:prstGeom prst="roundRect">
            <a:avLst/>
          </a:prstGeom>
          <a:solidFill>
            <a:srgbClr val="ffffff"/>
          </a:solidFill>
          <a:ln w="6350">
            <a:solidFill>
              <a:srgbClr val="dedede"/>
            </a:solidFill>
          </a:ln>
        </p:spPr>
      </p:sp>
      <p:sp>
        <p:nvSpPr>
          <p:cNvPr id="85" name="Shape 85"/>
          <p:cNvSpPr txBox="1"/>
          <p:nvPr/>
        </p:nvSpPr>
        <p:spPr>
          <a:xfrm>
            <a:off x="5441950" y="3994150"/>
            <a:ext cx="44450" cy="368300"/>
          </a:xfrm>
          <a:prstGeom prst="rect">
            <a:avLst/>
          </a:prstGeom>
          <a:solidFill>
            <a:srgbClr val="bfbfbf"/>
          </a:solidFill>
          <a:ln>
            <a:noFill/>
          </a:ln>
        </p:spPr>
      </p:sp>
      <p:sp>
        <p:nvSpPr>
          <p:cNvPr id="86" name="Text 86"/>
          <p:cNvSpPr txBox="1"/>
          <p:nvPr/>
        </p:nvSpPr>
        <p:spPr>
          <a:xfrm>
            <a:off x="5581650" y="4057650"/>
            <a:ext cx="6858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3-2</a:t>
            </a:r>
          </a:p>
        </p:txBody>
      </p:sp>
      <p:sp>
        <p:nvSpPr>
          <p:cNvPr id="87" name="Text 87"/>
          <p:cNvSpPr txBox="1"/>
          <p:nvPr/>
        </p:nvSpPr>
        <p:spPr>
          <a:xfrm>
            <a:off x="5581650" y="4203700"/>
            <a:ext cx="6858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88" name="Shape 88"/>
          <p:cNvSpPr txBox="1"/>
          <p:nvPr/>
        </p:nvSpPr>
        <p:spPr>
          <a:xfrm>
            <a:off x="5441950" y="4476750"/>
            <a:ext cx="990600" cy="368300"/>
          </a:xfrm>
          <a:prstGeom prst="roundRect">
            <a:avLst/>
          </a:prstGeom>
          <a:solidFill>
            <a:srgbClr val="ffffff"/>
          </a:solidFill>
          <a:ln w="6350">
            <a:solidFill>
              <a:srgbClr val="dedede"/>
            </a:solidFill>
          </a:ln>
        </p:spPr>
      </p:sp>
      <p:sp>
        <p:nvSpPr>
          <p:cNvPr id="89" name="Shape 89"/>
          <p:cNvSpPr txBox="1"/>
          <p:nvPr/>
        </p:nvSpPr>
        <p:spPr>
          <a:xfrm>
            <a:off x="5441950" y="4476750"/>
            <a:ext cx="44450" cy="368300"/>
          </a:xfrm>
          <a:prstGeom prst="rect">
            <a:avLst/>
          </a:prstGeom>
          <a:solidFill>
            <a:srgbClr val="bfbfbf"/>
          </a:solidFill>
          <a:ln>
            <a:noFill/>
          </a:ln>
        </p:spPr>
      </p:sp>
      <p:sp>
        <p:nvSpPr>
          <p:cNvPr id="90" name="Text 90"/>
          <p:cNvSpPr txBox="1"/>
          <p:nvPr/>
        </p:nvSpPr>
        <p:spPr>
          <a:xfrm>
            <a:off x="5581650" y="4540250"/>
            <a:ext cx="6858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3-3</a:t>
            </a:r>
          </a:p>
        </p:txBody>
      </p:sp>
      <p:sp>
        <p:nvSpPr>
          <p:cNvPr id="91" name="Text 91"/>
          <p:cNvSpPr txBox="1"/>
          <p:nvPr/>
        </p:nvSpPr>
        <p:spPr>
          <a:xfrm>
            <a:off x="5581650" y="4686300"/>
            <a:ext cx="6858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92" name="Shape 92"/>
          <p:cNvSpPr txBox="1"/>
          <p:nvPr/>
        </p:nvSpPr>
        <p:spPr>
          <a:xfrm>
            <a:off x="6635750" y="3130550"/>
            <a:ext cx="1193800" cy="1873250"/>
          </a:xfrm>
          <a:prstGeom prst="roundRect">
            <a:avLst/>
          </a:prstGeom>
          <a:solidFill>
            <a:srgbClr val="f8f8f8"/>
          </a:solidFill>
          <a:ln w="6350">
            <a:solidFill>
              <a:srgbClr val="dedede"/>
            </a:solidFill>
          </a:ln>
        </p:spPr>
      </p:sp>
      <p:sp>
        <p:nvSpPr>
          <p:cNvPr id="93" name="Text 93"/>
          <p:cNvSpPr txBox="1"/>
          <p:nvPr/>
        </p:nvSpPr>
        <p:spPr>
          <a:xfrm>
            <a:off x="6750050" y="3257550"/>
            <a:ext cx="736600" cy="15875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請求確認</a:t>
            </a:r>
          </a:p>
        </p:txBody>
      </p:sp>
      <p:sp>
        <p:nvSpPr>
          <p:cNvPr id="94" name="Shape 94"/>
          <p:cNvSpPr txBox="1"/>
          <p:nvPr/>
        </p:nvSpPr>
        <p:spPr>
          <a:xfrm>
            <a:off x="7524750" y="3244850"/>
            <a:ext cx="203200" cy="165100"/>
          </a:xfrm>
          <a:prstGeom prst="roundRect">
            <a:avLst/>
          </a:prstGeom>
          <a:solidFill>
            <a:srgbClr val="b9bcc2"/>
          </a:solidFill>
          <a:ln w="6350">
            <a:solidFill>
              <a:srgbClr val="b9bcc2"/>
            </a:solidFill>
          </a:ln>
        </p:spPr>
      </p:sp>
      <p:sp>
        <p:nvSpPr>
          <p:cNvPr id="95" name="Shape 95"/>
          <p:cNvSpPr txBox="1"/>
          <p:nvPr/>
        </p:nvSpPr>
        <p:spPr>
          <a:xfrm>
            <a:off x="6737350" y="3511550"/>
            <a:ext cx="990600" cy="368300"/>
          </a:xfrm>
          <a:prstGeom prst="roundRect">
            <a:avLst/>
          </a:prstGeom>
          <a:solidFill>
            <a:srgbClr val="ffffff"/>
          </a:solidFill>
          <a:ln w="6350">
            <a:solidFill>
              <a:srgbClr val="dedede"/>
            </a:solidFill>
          </a:ln>
        </p:spPr>
      </p:sp>
      <p:sp>
        <p:nvSpPr>
          <p:cNvPr id="96" name="Shape 96"/>
          <p:cNvSpPr txBox="1"/>
          <p:nvPr/>
        </p:nvSpPr>
        <p:spPr>
          <a:xfrm>
            <a:off x="6737350" y="3511550"/>
            <a:ext cx="44450" cy="368300"/>
          </a:xfrm>
          <a:prstGeom prst="rect">
            <a:avLst/>
          </a:prstGeom>
          <a:solidFill>
            <a:srgbClr val="ff1818"/>
          </a:solidFill>
          <a:ln>
            <a:noFill/>
          </a:ln>
        </p:spPr>
      </p:sp>
      <p:sp>
        <p:nvSpPr>
          <p:cNvPr id="97" name="Text 97"/>
          <p:cNvSpPr txBox="1"/>
          <p:nvPr/>
        </p:nvSpPr>
        <p:spPr>
          <a:xfrm>
            <a:off x="6877050" y="3575050"/>
            <a:ext cx="6858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4-1</a:t>
            </a:r>
          </a:p>
        </p:txBody>
      </p:sp>
      <p:sp>
        <p:nvSpPr>
          <p:cNvPr id="98" name="Text 98"/>
          <p:cNvSpPr txBox="1"/>
          <p:nvPr/>
        </p:nvSpPr>
        <p:spPr>
          <a:xfrm>
            <a:off x="6877050" y="3721100"/>
            <a:ext cx="6858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99" name="Shape 99"/>
          <p:cNvSpPr txBox="1"/>
          <p:nvPr/>
        </p:nvSpPr>
        <p:spPr>
          <a:xfrm>
            <a:off x="6737350" y="3994150"/>
            <a:ext cx="990600" cy="368300"/>
          </a:xfrm>
          <a:prstGeom prst="roundRect">
            <a:avLst/>
          </a:prstGeom>
          <a:solidFill>
            <a:srgbClr val="ffffff"/>
          </a:solidFill>
          <a:ln w="6350">
            <a:solidFill>
              <a:srgbClr val="dedede"/>
            </a:solidFill>
          </a:ln>
        </p:spPr>
      </p:sp>
      <p:sp>
        <p:nvSpPr>
          <p:cNvPr id="100" name="Shape 100"/>
          <p:cNvSpPr txBox="1"/>
          <p:nvPr/>
        </p:nvSpPr>
        <p:spPr>
          <a:xfrm>
            <a:off x="6737350" y="3994150"/>
            <a:ext cx="44450" cy="368300"/>
          </a:xfrm>
          <a:prstGeom prst="rect">
            <a:avLst/>
          </a:prstGeom>
          <a:solidFill>
            <a:srgbClr val="bfbfbf"/>
          </a:solidFill>
          <a:ln>
            <a:noFill/>
          </a:ln>
        </p:spPr>
      </p:sp>
      <p:sp>
        <p:nvSpPr>
          <p:cNvPr id="101" name="Text 101"/>
          <p:cNvSpPr txBox="1"/>
          <p:nvPr/>
        </p:nvSpPr>
        <p:spPr>
          <a:xfrm>
            <a:off x="6877050" y="4057650"/>
            <a:ext cx="6858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4-2</a:t>
            </a:r>
          </a:p>
        </p:txBody>
      </p:sp>
      <p:sp>
        <p:nvSpPr>
          <p:cNvPr id="102" name="Text 102"/>
          <p:cNvSpPr txBox="1"/>
          <p:nvPr/>
        </p:nvSpPr>
        <p:spPr>
          <a:xfrm>
            <a:off x="6877050" y="4203700"/>
            <a:ext cx="6858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103" name="Shape 103"/>
          <p:cNvSpPr txBox="1"/>
          <p:nvPr/>
        </p:nvSpPr>
        <p:spPr>
          <a:xfrm>
            <a:off x="6737350" y="4476750"/>
            <a:ext cx="990600" cy="368300"/>
          </a:xfrm>
          <a:prstGeom prst="roundRect">
            <a:avLst/>
          </a:prstGeom>
          <a:solidFill>
            <a:srgbClr val="ffffff"/>
          </a:solidFill>
          <a:ln w="6350">
            <a:solidFill>
              <a:srgbClr val="dedede"/>
            </a:solidFill>
          </a:ln>
        </p:spPr>
      </p:sp>
      <p:sp>
        <p:nvSpPr>
          <p:cNvPr id="104" name="Shape 104"/>
          <p:cNvSpPr txBox="1"/>
          <p:nvPr/>
        </p:nvSpPr>
        <p:spPr>
          <a:xfrm>
            <a:off x="6737350" y="4476750"/>
            <a:ext cx="44450" cy="368300"/>
          </a:xfrm>
          <a:prstGeom prst="rect">
            <a:avLst/>
          </a:prstGeom>
          <a:solidFill>
            <a:srgbClr val="bfbfbf"/>
          </a:solidFill>
          <a:ln>
            <a:noFill/>
          </a:ln>
        </p:spPr>
      </p:sp>
      <p:sp>
        <p:nvSpPr>
          <p:cNvPr id="105" name="Text 105"/>
          <p:cNvSpPr txBox="1"/>
          <p:nvPr/>
        </p:nvSpPr>
        <p:spPr>
          <a:xfrm>
            <a:off x="6877050" y="4540250"/>
            <a:ext cx="6858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4-3</a:t>
            </a:r>
          </a:p>
        </p:txBody>
      </p:sp>
      <p:sp>
        <p:nvSpPr>
          <p:cNvPr id="106" name="Text 106"/>
          <p:cNvSpPr txBox="1"/>
          <p:nvPr/>
        </p:nvSpPr>
        <p:spPr>
          <a:xfrm>
            <a:off x="6877050" y="4686300"/>
            <a:ext cx="6858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107" name="Shape 107"/>
          <p:cNvSpPr txBox="1"/>
          <p:nvPr/>
        </p:nvSpPr>
        <p:spPr>
          <a:xfrm>
            <a:off x="7931150" y="3130550"/>
            <a:ext cx="1193800" cy="1873250"/>
          </a:xfrm>
          <a:prstGeom prst="roundRect">
            <a:avLst/>
          </a:prstGeom>
          <a:solidFill>
            <a:srgbClr val="f8f8f8"/>
          </a:solidFill>
          <a:ln w="6350">
            <a:solidFill>
              <a:srgbClr val="dedede"/>
            </a:solidFill>
          </a:ln>
        </p:spPr>
      </p:sp>
      <p:sp>
        <p:nvSpPr>
          <p:cNvPr id="108" name="Text 108"/>
          <p:cNvSpPr txBox="1"/>
          <p:nvPr/>
        </p:nvSpPr>
        <p:spPr>
          <a:xfrm>
            <a:off x="8045450" y="3257550"/>
            <a:ext cx="736600" cy="15875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入居対応</a:t>
            </a:r>
          </a:p>
        </p:txBody>
      </p:sp>
      <p:sp>
        <p:nvSpPr>
          <p:cNvPr id="109" name="Shape 109"/>
          <p:cNvSpPr txBox="1"/>
          <p:nvPr/>
        </p:nvSpPr>
        <p:spPr>
          <a:xfrm>
            <a:off x="8820150" y="3244850"/>
            <a:ext cx="203200" cy="165100"/>
          </a:xfrm>
          <a:prstGeom prst="roundRect">
            <a:avLst/>
          </a:prstGeom>
          <a:solidFill>
            <a:srgbClr val="b9bcc2"/>
          </a:solidFill>
          <a:ln w="6350">
            <a:solidFill>
              <a:srgbClr val="b9bcc2"/>
            </a:solidFill>
          </a:ln>
        </p:spPr>
      </p:sp>
      <p:sp>
        <p:nvSpPr>
          <p:cNvPr id="110" name="Shape 110"/>
          <p:cNvSpPr txBox="1"/>
          <p:nvPr/>
        </p:nvSpPr>
        <p:spPr>
          <a:xfrm>
            <a:off x="8032750" y="3511550"/>
            <a:ext cx="990600" cy="368300"/>
          </a:xfrm>
          <a:prstGeom prst="roundRect">
            <a:avLst/>
          </a:prstGeom>
          <a:solidFill>
            <a:srgbClr val="ffffff"/>
          </a:solidFill>
          <a:ln w="6350">
            <a:solidFill>
              <a:srgbClr val="dedede"/>
            </a:solidFill>
          </a:ln>
        </p:spPr>
      </p:sp>
      <p:sp>
        <p:nvSpPr>
          <p:cNvPr id="111" name="Shape 111"/>
          <p:cNvSpPr txBox="1"/>
          <p:nvPr/>
        </p:nvSpPr>
        <p:spPr>
          <a:xfrm>
            <a:off x="8032750" y="3511550"/>
            <a:ext cx="44450" cy="368300"/>
          </a:xfrm>
          <a:prstGeom prst="rect">
            <a:avLst/>
          </a:prstGeom>
          <a:solidFill>
            <a:srgbClr val="ff1818"/>
          </a:solidFill>
          <a:ln>
            <a:noFill/>
          </a:ln>
        </p:spPr>
      </p:sp>
      <p:sp>
        <p:nvSpPr>
          <p:cNvPr id="112" name="Text 112"/>
          <p:cNvSpPr txBox="1"/>
          <p:nvPr/>
        </p:nvSpPr>
        <p:spPr>
          <a:xfrm>
            <a:off x="8172450" y="3575050"/>
            <a:ext cx="6858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5-1</a:t>
            </a:r>
          </a:p>
        </p:txBody>
      </p:sp>
      <p:sp>
        <p:nvSpPr>
          <p:cNvPr id="113" name="Text 113"/>
          <p:cNvSpPr txBox="1"/>
          <p:nvPr/>
        </p:nvSpPr>
        <p:spPr>
          <a:xfrm>
            <a:off x="8172450" y="3721100"/>
            <a:ext cx="6858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114" name="Shape 114"/>
          <p:cNvSpPr txBox="1"/>
          <p:nvPr/>
        </p:nvSpPr>
        <p:spPr>
          <a:xfrm>
            <a:off x="8032750" y="3994150"/>
            <a:ext cx="990600" cy="368300"/>
          </a:xfrm>
          <a:prstGeom prst="roundRect">
            <a:avLst/>
          </a:prstGeom>
          <a:solidFill>
            <a:srgbClr val="ffffff"/>
          </a:solidFill>
          <a:ln w="6350">
            <a:solidFill>
              <a:srgbClr val="dedede"/>
            </a:solidFill>
          </a:ln>
        </p:spPr>
      </p:sp>
      <p:sp>
        <p:nvSpPr>
          <p:cNvPr id="115" name="Shape 115"/>
          <p:cNvSpPr txBox="1"/>
          <p:nvPr/>
        </p:nvSpPr>
        <p:spPr>
          <a:xfrm>
            <a:off x="8032750" y="3994150"/>
            <a:ext cx="44450" cy="368300"/>
          </a:xfrm>
          <a:prstGeom prst="rect">
            <a:avLst/>
          </a:prstGeom>
          <a:solidFill>
            <a:srgbClr val="bfbfbf"/>
          </a:solidFill>
          <a:ln>
            <a:noFill/>
          </a:ln>
        </p:spPr>
      </p:sp>
      <p:sp>
        <p:nvSpPr>
          <p:cNvPr id="116" name="Text 116"/>
          <p:cNvSpPr txBox="1"/>
          <p:nvPr/>
        </p:nvSpPr>
        <p:spPr>
          <a:xfrm>
            <a:off x="8172450" y="4057650"/>
            <a:ext cx="6858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5-2</a:t>
            </a:r>
          </a:p>
        </p:txBody>
      </p:sp>
      <p:sp>
        <p:nvSpPr>
          <p:cNvPr id="117" name="Text 117"/>
          <p:cNvSpPr txBox="1"/>
          <p:nvPr/>
        </p:nvSpPr>
        <p:spPr>
          <a:xfrm>
            <a:off x="8172450" y="4203700"/>
            <a:ext cx="6858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118" name="Shape 118"/>
          <p:cNvSpPr txBox="1"/>
          <p:nvPr/>
        </p:nvSpPr>
        <p:spPr>
          <a:xfrm>
            <a:off x="8032750" y="4476750"/>
            <a:ext cx="990600" cy="368300"/>
          </a:xfrm>
          <a:prstGeom prst="roundRect">
            <a:avLst/>
          </a:prstGeom>
          <a:solidFill>
            <a:srgbClr val="ffffff"/>
          </a:solidFill>
          <a:ln w="6350">
            <a:solidFill>
              <a:srgbClr val="dedede"/>
            </a:solidFill>
          </a:ln>
        </p:spPr>
      </p:sp>
      <p:sp>
        <p:nvSpPr>
          <p:cNvPr id="119" name="Shape 119"/>
          <p:cNvSpPr txBox="1"/>
          <p:nvPr/>
        </p:nvSpPr>
        <p:spPr>
          <a:xfrm>
            <a:off x="8032750" y="4476750"/>
            <a:ext cx="44450" cy="368300"/>
          </a:xfrm>
          <a:prstGeom prst="rect">
            <a:avLst/>
          </a:prstGeom>
          <a:solidFill>
            <a:srgbClr val="bfbfbf"/>
          </a:solidFill>
          <a:ln>
            <a:noFill/>
          </a:ln>
        </p:spPr>
      </p:sp>
      <p:sp>
        <p:nvSpPr>
          <p:cNvPr id="120" name="Text 120"/>
          <p:cNvSpPr txBox="1"/>
          <p:nvPr/>
        </p:nvSpPr>
        <p:spPr>
          <a:xfrm>
            <a:off x="8172450" y="4540250"/>
            <a:ext cx="6858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5-3</a:t>
            </a:r>
          </a:p>
        </p:txBody>
      </p:sp>
      <p:sp>
        <p:nvSpPr>
          <p:cNvPr id="121" name="Text 121"/>
          <p:cNvSpPr txBox="1"/>
          <p:nvPr/>
        </p:nvSpPr>
        <p:spPr>
          <a:xfrm>
            <a:off x="8172450" y="4686300"/>
            <a:ext cx="6858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122" name="Shape 122"/>
          <p:cNvSpPr txBox="1"/>
          <p:nvPr/>
        </p:nvSpPr>
        <p:spPr>
          <a:xfrm>
            <a:off x="2749550" y="5194300"/>
            <a:ext cx="3505200" cy="825500"/>
          </a:xfrm>
          <a:prstGeom prst="roundRect">
            <a:avLst/>
          </a:prstGeom>
          <a:solidFill>
            <a:srgbClr val="ffffff"/>
          </a:solidFill>
          <a:ln w="6350">
            <a:solidFill>
              <a:srgbClr val="dedede"/>
            </a:solidFill>
          </a:ln>
        </p:spPr>
      </p:sp>
      <p:sp>
        <p:nvSpPr>
          <p:cNvPr id="123" name="Text 123"/>
          <p:cNvSpPr txBox="1"/>
          <p:nvPr/>
        </p:nvSpPr>
        <p:spPr>
          <a:xfrm>
            <a:off x="2889250" y="5321300"/>
            <a:ext cx="1397000" cy="15240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直近対応履歴</a:t>
            </a:r>
          </a:p>
        </p:txBody>
      </p:sp>
      <p:sp>
        <p:nvSpPr>
          <p:cNvPr id="124" name="Shape 124"/>
          <p:cNvSpPr txBox="1"/>
          <p:nvPr/>
        </p:nvSpPr>
        <p:spPr>
          <a:xfrm>
            <a:off x="6445250" y="5194300"/>
            <a:ext cx="2679700" cy="825500"/>
          </a:xfrm>
          <a:prstGeom prst="roundRect">
            <a:avLst/>
          </a:prstGeom>
          <a:solidFill>
            <a:srgbClr val="ffffff"/>
          </a:solidFill>
          <a:ln w="6350">
            <a:solidFill>
              <a:srgbClr val="dedede"/>
            </a:solidFill>
          </a:ln>
        </p:spPr>
      </p:sp>
      <p:sp>
        <p:nvSpPr>
          <p:cNvPr id="125" name="Shape 125"/>
          <p:cNvSpPr txBox="1"/>
          <p:nvPr/>
        </p:nvSpPr>
        <p:spPr>
          <a:xfrm>
            <a:off x="6769100" y="5403850"/>
            <a:ext cx="444500" cy="444500"/>
          </a:xfrm>
          <a:prstGeom prst="ellipse">
            <a:avLst/>
          </a:prstGeom>
          <a:solidFill>
            <a:srgbClr val="ff1818"/>
          </a:solidFill>
          <a:ln w="6350">
            <a:solidFill>
              <a:srgbClr val="ff1818"/>
            </a:solidFill>
          </a:ln>
        </p:spPr>
      </p:sp>
      <p:sp>
        <p:nvSpPr>
          <p:cNvPr id="126" name="Shape 126"/>
          <p:cNvSpPr txBox="1"/>
          <p:nvPr/>
        </p:nvSpPr>
        <p:spPr>
          <a:xfrm>
            <a:off x="6864350" y="5518150"/>
            <a:ext cx="228600" cy="228600"/>
          </a:xfrm>
          <a:prstGeom prst="ellipse">
            <a:avLst/>
          </a:prstGeom>
          <a:solidFill>
            <a:srgbClr val="ffffff"/>
          </a:solidFill>
          <a:ln w="6350">
            <a:solidFill>
              <a:srgbClr val="ffffff"/>
            </a:solidFill>
          </a:ln>
        </p:spPr>
      </p:sp>
      <p:sp>
        <p:nvSpPr>
          <p:cNvPr id="127" name="Text 127"/>
          <p:cNvSpPr txBox="1"/>
          <p:nvPr/>
        </p:nvSpPr>
        <p:spPr>
          <a:xfrm>
            <a:off x="7340600" y="5403850"/>
            <a:ext cx="1333500" cy="16510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対応種別の内訳</a:t>
            </a:r>
          </a:p>
        </p:txBody>
      </p:sp>
      <p:sp>
        <p:nvSpPr>
          <p:cNvPr id="128" name="Shape 128"/>
          <p:cNvSpPr txBox="1"/>
          <p:nvPr/>
        </p:nvSpPr>
        <p:spPr>
          <a:xfrm>
            <a:off x="2901950" y="5575300"/>
            <a:ext cx="76200" cy="76200"/>
          </a:xfrm>
          <a:prstGeom prst="ellipse">
            <a:avLst/>
          </a:prstGeom>
          <a:solidFill>
            <a:srgbClr val="ff1818"/>
          </a:solidFill>
          <a:ln>
            <a:noFill/>
          </a:ln>
        </p:spPr>
      </p:sp>
      <p:sp>
        <p:nvSpPr>
          <p:cNvPr id="129" name="Text 129"/>
          <p:cNvSpPr txBox="1"/>
          <p:nvPr/>
        </p:nvSpPr>
        <p:spPr>
          <a:xfrm>
            <a:off x="3079750" y="5543550"/>
            <a:ext cx="1016000" cy="139700"/>
          </a:xfrm>
          <a:prstGeom prst="rect">
            <a:avLst/>
          </a:prstGeom>
          <a:noFill/>
          <a:ln>
            <a:noFill/>
          </a:ln>
        </p:spPr>
        <p:txBody>
          <a:bodyPr wrap="square" anchor="t" lIns="12700" tIns="12700" rIns="12700" bIns="12700"/>
          <a:lstStyle/>
          <a:p>
            <a:pPr algn="l"/>
            <a:r>
              <a:rPr lang="ja-JP" sz="1200">
                <a:solidFill>
                  <a:srgbClr val="666666"/>
                </a:solidFill>
                <a:latin typeface="Yu Gothic"/>
                <a:ea typeface="Yu Gothic"/>
              </a:rPr>
              <a:t>退去立会い</a:t>
            </a:r>
          </a:p>
        </p:txBody>
      </p:sp>
      <p:sp>
        <p:nvSpPr>
          <p:cNvPr id="130" name="Shape 130"/>
          <p:cNvSpPr txBox="1"/>
          <p:nvPr/>
        </p:nvSpPr>
        <p:spPr>
          <a:xfrm>
            <a:off x="4686300" y="5600700"/>
            <a:ext cx="571500" cy="38100"/>
          </a:xfrm>
          <a:prstGeom prst="rect">
            <a:avLst/>
          </a:prstGeom>
          <a:solidFill>
            <a:srgbClr val="d7d7d7"/>
          </a:solidFill>
          <a:ln>
            <a:noFill/>
          </a:ln>
        </p:spPr>
      </p:sp>
      <p:sp>
        <p:nvSpPr>
          <p:cNvPr id="131" name="Shape 131"/>
          <p:cNvSpPr txBox="1"/>
          <p:nvPr/>
        </p:nvSpPr>
        <p:spPr>
          <a:xfrm>
            <a:off x="5543550" y="5600700"/>
            <a:ext cx="444500" cy="38100"/>
          </a:xfrm>
          <a:prstGeom prst="rect">
            <a:avLst/>
          </a:prstGeom>
          <a:solidFill>
            <a:srgbClr val="d7d7d7"/>
          </a:solidFill>
          <a:ln>
            <a:noFill/>
          </a:ln>
        </p:spPr>
      </p:sp>
      <p:sp>
        <p:nvSpPr>
          <p:cNvPr id="132" name="Shape 132"/>
          <p:cNvSpPr txBox="1"/>
          <p:nvPr/>
        </p:nvSpPr>
        <p:spPr>
          <a:xfrm>
            <a:off x="2901950" y="5727700"/>
            <a:ext cx="76200" cy="76200"/>
          </a:xfrm>
          <a:prstGeom prst="ellipse">
            <a:avLst/>
          </a:prstGeom>
          <a:solidFill>
            <a:srgbClr val="a9a9a9"/>
          </a:solidFill>
          <a:ln>
            <a:noFill/>
          </a:ln>
        </p:spPr>
      </p:sp>
      <p:sp>
        <p:nvSpPr>
          <p:cNvPr id="133" name="Text 133"/>
          <p:cNvSpPr txBox="1"/>
          <p:nvPr/>
        </p:nvSpPr>
        <p:spPr>
          <a:xfrm>
            <a:off x="3079750" y="5695950"/>
            <a:ext cx="1016000" cy="139700"/>
          </a:xfrm>
          <a:prstGeom prst="rect">
            <a:avLst/>
          </a:prstGeom>
          <a:noFill/>
          <a:ln>
            <a:noFill/>
          </a:ln>
        </p:spPr>
        <p:txBody>
          <a:bodyPr wrap="square" anchor="t" lIns="12700" tIns="12700" rIns="12700" bIns="12700"/>
          <a:lstStyle/>
          <a:p>
            <a:pPr algn="l"/>
            <a:r>
              <a:rPr lang="ja-JP" sz="1200">
                <a:solidFill>
                  <a:srgbClr val="666666"/>
                </a:solidFill>
                <a:latin typeface="Yu Gothic"/>
                <a:ea typeface="Yu Gothic"/>
              </a:rPr>
              <a:t>見積確認</a:t>
            </a:r>
          </a:p>
        </p:txBody>
      </p:sp>
      <p:sp>
        <p:nvSpPr>
          <p:cNvPr id="134" name="Shape 134"/>
          <p:cNvSpPr txBox="1"/>
          <p:nvPr/>
        </p:nvSpPr>
        <p:spPr>
          <a:xfrm>
            <a:off x="4686300" y="5753100"/>
            <a:ext cx="571500" cy="38100"/>
          </a:xfrm>
          <a:prstGeom prst="rect">
            <a:avLst/>
          </a:prstGeom>
          <a:solidFill>
            <a:srgbClr val="d7d7d7"/>
          </a:solidFill>
          <a:ln>
            <a:noFill/>
          </a:ln>
        </p:spPr>
      </p:sp>
      <p:sp>
        <p:nvSpPr>
          <p:cNvPr id="135" name="Shape 135"/>
          <p:cNvSpPr txBox="1"/>
          <p:nvPr/>
        </p:nvSpPr>
        <p:spPr>
          <a:xfrm>
            <a:off x="5543550" y="5753100"/>
            <a:ext cx="444500" cy="38100"/>
          </a:xfrm>
          <a:prstGeom prst="rect">
            <a:avLst/>
          </a:prstGeom>
          <a:solidFill>
            <a:srgbClr val="d7d7d7"/>
          </a:solidFill>
          <a:ln>
            <a:noFill/>
          </a:ln>
        </p:spPr>
      </p:sp>
      <p:sp>
        <p:nvSpPr>
          <p:cNvPr id="136" name="Shape 136"/>
          <p:cNvSpPr txBox="1"/>
          <p:nvPr/>
        </p:nvSpPr>
        <p:spPr>
          <a:xfrm>
            <a:off x="2901950" y="5880100"/>
            <a:ext cx="76200" cy="76200"/>
          </a:xfrm>
          <a:prstGeom prst="ellipse">
            <a:avLst/>
          </a:prstGeom>
          <a:solidFill>
            <a:srgbClr val="a9a9a9"/>
          </a:solidFill>
          <a:ln>
            <a:noFill/>
          </a:ln>
        </p:spPr>
      </p:sp>
      <p:sp>
        <p:nvSpPr>
          <p:cNvPr id="137" name="Text 137"/>
          <p:cNvSpPr txBox="1"/>
          <p:nvPr/>
        </p:nvSpPr>
        <p:spPr>
          <a:xfrm>
            <a:off x="3079750" y="5848350"/>
            <a:ext cx="1016000" cy="139700"/>
          </a:xfrm>
          <a:prstGeom prst="rect">
            <a:avLst/>
          </a:prstGeom>
          <a:noFill/>
          <a:ln>
            <a:noFill/>
          </a:ln>
        </p:spPr>
        <p:txBody>
          <a:bodyPr wrap="square" anchor="t" lIns="12700" tIns="12700" rIns="12700" bIns="12700"/>
          <a:lstStyle/>
          <a:p>
            <a:pPr algn="l"/>
            <a:r>
              <a:rPr lang="ja-JP" sz="1200">
                <a:solidFill>
                  <a:srgbClr val="666666"/>
                </a:solidFill>
                <a:latin typeface="Yu Gothic"/>
                <a:ea typeface="Yu Gothic"/>
              </a:rPr>
              <a:t>契約更新</a:t>
            </a:r>
          </a:p>
        </p:txBody>
      </p:sp>
      <p:sp>
        <p:nvSpPr>
          <p:cNvPr id="138" name="Shape 138"/>
          <p:cNvSpPr txBox="1"/>
          <p:nvPr/>
        </p:nvSpPr>
        <p:spPr>
          <a:xfrm>
            <a:off x="4686300" y="5905500"/>
            <a:ext cx="571500" cy="38100"/>
          </a:xfrm>
          <a:prstGeom prst="rect">
            <a:avLst/>
          </a:prstGeom>
          <a:solidFill>
            <a:srgbClr val="d7d7d7"/>
          </a:solidFill>
          <a:ln>
            <a:noFill/>
          </a:ln>
        </p:spPr>
      </p:sp>
      <p:sp>
        <p:nvSpPr>
          <p:cNvPr id="139" name="Shape 139"/>
          <p:cNvSpPr txBox="1"/>
          <p:nvPr/>
        </p:nvSpPr>
        <p:spPr>
          <a:xfrm>
            <a:off x="5543550" y="5905500"/>
            <a:ext cx="444500" cy="38100"/>
          </a:xfrm>
          <a:prstGeom prst="rect">
            <a:avLst/>
          </a:prstGeom>
          <a:solidFill>
            <a:srgbClr val="d7d7d7"/>
          </a:solidFill>
          <a:ln>
            <a:noFill/>
          </a:ln>
        </p:spPr>
      </p:sp>
      <p:sp>
        <p:nvSpPr>
          <p:cNvPr id="140" name="Shape 140"/>
          <p:cNvSpPr txBox="1"/>
          <p:nvPr/>
        </p:nvSpPr>
        <p:spPr>
          <a:xfrm>
            <a:off x="9715500" y="1619250"/>
            <a:ext cx="2032000" cy="1238250"/>
          </a:xfrm>
          <a:prstGeom prst="roundRect">
            <a:avLst/>
          </a:prstGeom>
          <a:solidFill>
            <a:srgbClr val="ffffff"/>
          </a:solidFill>
          <a:ln w="6350">
            <a:solidFill>
              <a:srgbClr val="dedede"/>
            </a:solidFill>
          </a:ln>
        </p:spPr>
      </p:sp>
      <p:sp>
        <p:nvSpPr>
          <p:cNvPr id="141" name="Shape 141"/>
          <p:cNvSpPr txBox="1"/>
          <p:nvPr/>
        </p:nvSpPr>
        <p:spPr>
          <a:xfrm>
            <a:off x="9918700" y="1885950"/>
            <a:ext cx="457200" cy="457200"/>
          </a:xfrm>
          <a:prstGeom prst="ellipse">
            <a:avLst/>
          </a:prstGeom>
          <a:solidFill>
            <a:srgbClr val="ffeaea"/>
          </a:solidFill>
          <a:ln w="6350">
            <a:solidFill>
              <a:srgbClr val="ffeaea"/>
            </a:solidFill>
          </a:ln>
        </p:spPr>
      </p:sp>
      <p:sp>
        <p:nvSpPr>
          <p:cNvPr id="142" name="Text 142"/>
          <p:cNvSpPr txBox="1"/>
          <p:nvPr/>
        </p:nvSpPr>
        <p:spPr>
          <a:xfrm>
            <a:off x="10052050" y="1987550"/>
            <a:ext cx="190500" cy="203200"/>
          </a:xfrm>
          <a:prstGeom prst="rect">
            <a:avLst/>
          </a:prstGeom>
          <a:noFill/>
          <a:ln>
            <a:noFill/>
          </a:ln>
        </p:spPr>
        <p:txBody>
          <a:bodyPr wrap="square" anchor="t" lIns="12700" tIns="12700" rIns="12700" bIns="12700"/>
          <a:lstStyle/>
          <a:p>
            <a:pPr algn="c"/>
            <a:r>
              <a:rPr lang="ja-JP" sz="2600" b="1">
                <a:solidFill>
                  <a:srgbClr val="ff1818"/>
                </a:solidFill>
                <a:latin typeface="Yu Gothic"/>
                <a:ea typeface="Yu Gothic"/>
              </a:rPr>
              <a:t>1</a:t>
            </a:r>
          </a:p>
        </p:txBody>
      </p:sp>
      <p:sp>
        <p:nvSpPr>
          <p:cNvPr id="143" name="Text 143"/>
          <p:cNvSpPr txBox="1"/>
          <p:nvPr/>
        </p:nvSpPr>
        <p:spPr>
          <a:xfrm>
            <a:off x="10509250" y="1860550"/>
            <a:ext cx="984250" cy="177800"/>
          </a:xfrm>
          <a:prstGeom prst="rect">
            <a:avLst/>
          </a:prstGeom>
          <a:noFill/>
          <a:ln>
            <a:noFill/>
          </a:ln>
        </p:spPr>
        <p:txBody>
          <a:bodyPr wrap="square" anchor="t" lIns="12700" tIns="12700" rIns="12700" bIns="12700"/>
          <a:lstStyle/>
          <a:p>
            <a:pPr algn="l"/>
            <a:r>
              <a:rPr lang="ja-JP" sz="1800" b="1">
                <a:solidFill>
                  <a:srgbClr val="ff1818"/>
                </a:solidFill>
                <a:latin typeface="Yu Gothic"/>
                <a:ea typeface="Yu Gothic"/>
              </a:rPr>
              <a:t>実運用に近い</a:t>
            </a:r>
          </a:p>
        </p:txBody>
      </p:sp>
      <p:sp>
        <p:nvSpPr>
          <p:cNvPr id="144" name="Text 144"/>
          <p:cNvSpPr txBox="1"/>
          <p:nvPr/>
        </p:nvSpPr>
        <p:spPr>
          <a:xfrm>
            <a:off x="10509250" y="2139950"/>
            <a:ext cx="1016000" cy="349250"/>
          </a:xfrm>
          <a:prstGeom prst="rect">
            <a:avLst/>
          </a:prstGeom>
          <a:noFill/>
          <a:ln>
            <a:noFill/>
          </a:ln>
        </p:spPr>
        <p:txBody>
          <a:bodyPr wrap="square" anchor="t" lIns="12700" tIns="12700" rIns="12700" bIns="12700"/>
          <a:lstStyle/>
          <a:p>
            <a:pPr algn="l"/>
            <a:r>
              <a:rPr lang="ja-JP" sz="1300">
                <a:solidFill>
                  <a:srgbClr val="666666"/>
                </a:solidFill>
                <a:latin typeface="Yu Gothic"/>
                <a:ea typeface="Yu Gothic"/>
              </a:rPr>
              <a:t>左サイドバーを残し、日常利用を想像しやすくします。</a:t>
            </a:r>
          </a:p>
        </p:txBody>
      </p:sp>
      <p:sp>
        <p:nvSpPr>
          <p:cNvPr id="145" name="Shape 145"/>
          <p:cNvSpPr txBox="1"/>
          <p:nvPr/>
        </p:nvSpPr>
        <p:spPr>
          <a:xfrm>
            <a:off x="9715500" y="3111500"/>
            <a:ext cx="2032000" cy="1238250"/>
          </a:xfrm>
          <a:prstGeom prst="roundRect">
            <a:avLst/>
          </a:prstGeom>
          <a:solidFill>
            <a:srgbClr val="ffffff"/>
          </a:solidFill>
          <a:ln w="6350">
            <a:solidFill>
              <a:srgbClr val="dedede"/>
            </a:solidFill>
          </a:ln>
        </p:spPr>
      </p:sp>
      <p:sp>
        <p:nvSpPr>
          <p:cNvPr id="146" name="Shape 146"/>
          <p:cNvSpPr txBox="1"/>
          <p:nvPr/>
        </p:nvSpPr>
        <p:spPr>
          <a:xfrm>
            <a:off x="9918700" y="3378200"/>
            <a:ext cx="457200" cy="457200"/>
          </a:xfrm>
          <a:prstGeom prst="ellipse">
            <a:avLst/>
          </a:prstGeom>
          <a:solidFill>
            <a:srgbClr val="ffeaea"/>
          </a:solidFill>
          <a:ln w="6350">
            <a:solidFill>
              <a:srgbClr val="ffeaea"/>
            </a:solidFill>
          </a:ln>
        </p:spPr>
      </p:sp>
      <p:sp>
        <p:nvSpPr>
          <p:cNvPr id="147" name="Text 147"/>
          <p:cNvSpPr txBox="1"/>
          <p:nvPr/>
        </p:nvSpPr>
        <p:spPr>
          <a:xfrm>
            <a:off x="10052050" y="3479800"/>
            <a:ext cx="190500" cy="203200"/>
          </a:xfrm>
          <a:prstGeom prst="rect">
            <a:avLst/>
          </a:prstGeom>
          <a:noFill/>
          <a:ln>
            <a:noFill/>
          </a:ln>
        </p:spPr>
        <p:txBody>
          <a:bodyPr wrap="square" anchor="t" lIns="12700" tIns="12700" rIns="12700" bIns="12700"/>
          <a:lstStyle/>
          <a:p>
            <a:pPr algn="c"/>
            <a:r>
              <a:rPr lang="ja-JP" sz="2600" b="1">
                <a:solidFill>
                  <a:srgbClr val="ff1818"/>
                </a:solidFill>
                <a:latin typeface="Yu Gothic"/>
                <a:ea typeface="Yu Gothic"/>
              </a:rPr>
              <a:t>2</a:t>
            </a:r>
          </a:p>
        </p:txBody>
      </p:sp>
      <p:sp>
        <p:nvSpPr>
          <p:cNvPr id="148" name="Text 148"/>
          <p:cNvSpPr txBox="1"/>
          <p:nvPr/>
        </p:nvSpPr>
        <p:spPr>
          <a:xfrm>
            <a:off x="10509250" y="3352800"/>
            <a:ext cx="984250" cy="177800"/>
          </a:xfrm>
          <a:prstGeom prst="rect">
            <a:avLst/>
          </a:prstGeom>
          <a:noFill/>
          <a:ln>
            <a:noFill/>
          </a:ln>
        </p:spPr>
        <p:txBody>
          <a:bodyPr wrap="square" anchor="t" lIns="12700" tIns="12700" rIns="12700" bIns="12700"/>
          <a:lstStyle/>
          <a:p>
            <a:pPr algn="l"/>
            <a:r>
              <a:rPr lang="ja-JP" sz="1800" b="1">
                <a:solidFill>
                  <a:srgbClr val="ff1818"/>
                </a:solidFill>
                <a:latin typeface="Yu Gothic"/>
                <a:ea typeface="Yu Gothic"/>
              </a:rPr>
              <a:t>稟議で比較しやすい</a:t>
            </a:r>
          </a:p>
        </p:txBody>
      </p:sp>
      <p:sp>
        <p:nvSpPr>
          <p:cNvPr id="149" name="Text 149"/>
          <p:cNvSpPr txBox="1"/>
          <p:nvPr/>
        </p:nvSpPr>
        <p:spPr>
          <a:xfrm>
            <a:off x="10509250" y="3632200"/>
            <a:ext cx="1016000" cy="349250"/>
          </a:xfrm>
          <a:prstGeom prst="rect">
            <a:avLst/>
          </a:prstGeom>
          <a:noFill/>
          <a:ln>
            <a:noFill/>
          </a:ln>
        </p:spPr>
        <p:txBody>
          <a:bodyPr wrap="square" anchor="t" lIns="12700" tIns="12700" rIns="12700" bIns="12700"/>
          <a:lstStyle/>
          <a:p>
            <a:pPr algn="l"/>
            <a:r>
              <a:rPr lang="ja-JP" sz="1300">
                <a:solidFill>
                  <a:srgbClr val="666666"/>
                </a:solidFill>
                <a:latin typeface="Yu Gothic"/>
                <a:ea typeface="Yu Gothic"/>
              </a:rPr>
              <a:t>期限・担当・状態・リスクを画面単位で説明します。</a:t>
            </a:r>
          </a:p>
        </p:txBody>
      </p:sp>
      <p:sp>
        <p:nvSpPr>
          <p:cNvPr id="150" name="Shape 150"/>
          <p:cNvSpPr txBox="1"/>
          <p:nvPr/>
        </p:nvSpPr>
        <p:spPr>
          <a:xfrm>
            <a:off x="9715500" y="4603750"/>
            <a:ext cx="2032000" cy="1238250"/>
          </a:xfrm>
          <a:prstGeom prst="roundRect">
            <a:avLst/>
          </a:prstGeom>
          <a:solidFill>
            <a:srgbClr val="ffffff"/>
          </a:solidFill>
          <a:ln w="6350">
            <a:solidFill>
              <a:srgbClr val="dedede"/>
            </a:solidFill>
          </a:ln>
        </p:spPr>
      </p:sp>
      <p:sp>
        <p:nvSpPr>
          <p:cNvPr id="151" name="Shape 151"/>
          <p:cNvSpPr txBox="1"/>
          <p:nvPr/>
        </p:nvSpPr>
        <p:spPr>
          <a:xfrm>
            <a:off x="9918700" y="4870450"/>
            <a:ext cx="457200" cy="457200"/>
          </a:xfrm>
          <a:prstGeom prst="ellipse">
            <a:avLst/>
          </a:prstGeom>
          <a:solidFill>
            <a:srgbClr val="ffeaea"/>
          </a:solidFill>
          <a:ln w="6350">
            <a:solidFill>
              <a:srgbClr val="ffeaea"/>
            </a:solidFill>
          </a:ln>
        </p:spPr>
      </p:sp>
      <p:sp>
        <p:nvSpPr>
          <p:cNvPr id="152" name="Text 152"/>
          <p:cNvSpPr txBox="1"/>
          <p:nvPr/>
        </p:nvSpPr>
        <p:spPr>
          <a:xfrm>
            <a:off x="10052050" y="4972050"/>
            <a:ext cx="190500" cy="203200"/>
          </a:xfrm>
          <a:prstGeom prst="rect">
            <a:avLst/>
          </a:prstGeom>
          <a:noFill/>
          <a:ln>
            <a:noFill/>
          </a:ln>
        </p:spPr>
        <p:txBody>
          <a:bodyPr wrap="square" anchor="t" lIns="12700" tIns="12700" rIns="12700" bIns="12700"/>
          <a:lstStyle/>
          <a:p>
            <a:pPr algn="c"/>
            <a:r>
              <a:rPr lang="ja-JP" sz="2600" b="1">
                <a:solidFill>
                  <a:srgbClr val="ff1818"/>
                </a:solidFill>
                <a:latin typeface="Yu Gothic"/>
                <a:ea typeface="Yu Gothic"/>
              </a:rPr>
              <a:t>3</a:t>
            </a:r>
          </a:p>
        </p:txBody>
      </p:sp>
      <p:sp>
        <p:nvSpPr>
          <p:cNvPr id="153" name="Text 153"/>
          <p:cNvSpPr txBox="1"/>
          <p:nvPr/>
        </p:nvSpPr>
        <p:spPr>
          <a:xfrm>
            <a:off x="10509250" y="4845050"/>
            <a:ext cx="984250" cy="177800"/>
          </a:xfrm>
          <a:prstGeom prst="rect">
            <a:avLst/>
          </a:prstGeom>
          <a:noFill/>
          <a:ln>
            <a:noFill/>
          </a:ln>
        </p:spPr>
        <p:txBody>
          <a:bodyPr wrap="square" anchor="t" lIns="12700" tIns="12700" rIns="12700" bIns="12700"/>
          <a:lstStyle/>
          <a:p>
            <a:pPr algn="l"/>
            <a:r>
              <a:rPr lang="ja-JP" sz="1800" b="1">
                <a:solidFill>
                  <a:srgbClr val="ff1818"/>
                </a:solidFill>
                <a:latin typeface="Yu Gothic"/>
                <a:ea typeface="Yu Gothic"/>
              </a:rPr>
              <a:t>要件化しやすい</a:t>
            </a:r>
          </a:p>
        </p:txBody>
      </p:sp>
      <p:sp>
        <p:nvSpPr>
          <p:cNvPr id="154" name="Text 154"/>
          <p:cNvSpPr txBox="1"/>
          <p:nvPr/>
        </p:nvSpPr>
        <p:spPr>
          <a:xfrm>
            <a:off x="10509250" y="5124450"/>
            <a:ext cx="1016000" cy="349250"/>
          </a:xfrm>
          <a:prstGeom prst="rect">
            <a:avLst/>
          </a:prstGeom>
          <a:noFill/>
          <a:ln>
            <a:noFill/>
          </a:ln>
        </p:spPr>
        <p:txBody>
          <a:bodyPr wrap="square" anchor="t" lIns="12700" tIns="12700" rIns="12700" bIns="12700"/>
          <a:lstStyle/>
          <a:p>
            <a:pPr algn="l"/>
            <a:r>
              <a:rPr lang="ja-JP" sz="1300">
                <a:solidFill>
                  <a:srgbClr val="666666"/>
                </a:solidFill>
                <a:latin typeface="Yu Gothic"/>
                <a:ea typeface="Yu Gothic"/>
              </a:rPr>
              <a:t>画面から機能・データ項目・運用を確認できます。</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0" y="0"/>
            <a:ext cx="876300" cy="6858000"/>
          </a:xfrm>
          <a:prstGeom prst="rect">
            <a:avLst/>
          </a:prstGeom>
          <a:solidFill>
            <a:srgbClr val="ff1818"/>
          </a:solidFill>
          <a:ln w="6350">
            <a:solidFill>
              <a:srgbClr val="ff1818"/>
            </a:solidFill>
          </a:ln>
        </p:spPr>
      </p:sp>
      <p:sp>
        <p:nvSpPr>
          <p:cNvPr id="3" name="Text 3"/>
          <p:cNvSpPr txBox="1"/>
          <p:nvPr/>
        </p:nvSpPr>
        <p:spPr>
          <a:xfrm>
            <a:off x="209550" y="355600"/>
            <a:ext cx="457200" cy="152400"/>
          </a:xfrm>
          <a:prstGeom prst="rect">
            <a:avLst/>
          </a:prstGeom>
          <a:noFill/>
          <a:ln>
            <a:noFill/>
          </a:ln>
        </p:spPr>
        <p:txBody>
          <a:bodyPr wrap="square" anchor="t" lIns="12700" tIns="12700" rIns="12700" bIns="12700"/>
          <a:lstStyle/>
          <a:p>
            <a:pPr algn="c"/>
            <a:r>
              <a:rPr lang="ja-JP" sz="1400" b="1">
                <a:solidFill>
                  <a:srgbClr val="ffffff"/>
                </a:solidFill>
                <a:latin typeface="Yu Gothic"/>
                <a:ea typeface="Yu Gothic"/>
              </a:rPr>
              <a:t>Chapter</a:t>
            </a:r>
          </a:p>
        </p:txBody>
      </p:sp>
      <p:sp>
        <p:nvSpPr>
          <p:cNvPr id="4" name="Text 4"/>
          <p:cNvSpPr txBox="1"/>
          <p:nvPr/>
        </p:nvSpPr>
        <p:spPr>
          <a:xfrm>
            <a:off x="114300" y="609600"/>
            <a:ext cx="647700" cy="444500"/>
          </a:xfrm>
          <a:prstGeom prst="rect">
            <a:avLst/>
          </a:prstGeom>
          <a:noFill/>
          <a:ln>
            <a:noFill/>
          </a:ln>
        </p:spPr>
        <p:txBody>
          <a:bodyPr wrap="square" anchor="t" lIns="12700" tIns="12700" rIns="12700" bIns="12700"/>
          <a:lstStyle/>
          <a:p>
            <a:pPr algn="c"/>
            <a:r>
              <a:rPr lang="ja-JP" sz="5600" b="1">
                <a:solidFill>
                  <a:srgbClr val="ffffff"/>
                </a:solidFill>
                <a:latin typeface="Yu Gothic"/>
                <a:ea typeface="Yu Gothic"/>
              </a:rPr>
              <a:t>02</a:t>
            </a:r>
          </a:p>
        </p:txBody>
      </p:sp>
      <p:sp>
        <p:nvSpPr>
          <p:cNvPr id="5" name="Shape 5"/>
          <p:cNvSpPr txBox="1"/>
          <p:nvPr/>
        </p:nvSpPr>
        <p:spPr>
          <a:xfrm>
            <a:off x="209550" y="1193800"/>
            <a:ext cx="457200" cy="31750"/>
          </a:xfrm>
          <a:prstGeom prst="rect">
            <a:avLst/>
          </a:prstGeom>
          <a:solidFill>
            <a:srgbClr val="ffffff"/>
          </a:solidFill>
          <a:ln w="6350">
            <a:solidFill>
              <a:srgbClr val="ffffff"/>
            </a:solidFill>
          </a:ln>
        </p:spPr>
      </p:sp>
      <p:sp>
        <p:nvSpPr>
          <p:cNvPr id="6" name="Text 6"/>
          <p:cNvSpPr txBox="1"/>
          <p:nvPr/>
        </p:nvSpPr>
        <p:spPr>
          <a:xfrm>
            <a:off x="254000" y="6413500"/>
            <a:ext cx="342900" cy="215900"/>
          </a:xfrm>
          <a:prstGeom prst="rect">
            <a:avLst/>
          </a:prstGeom>
          <a:noFill/>
          <a:ln>
            <a:noFill/>
          </a:ln>
        </p:spPr>
        <p:txBody>
          <a:bodyPr wrap="square" anchor="t" lIns="12700" tIns="12700" rIns="12700" bIns="12700"/>
          <a:lstStyle/>
          <a:p>
            <a:pPr algn="c"/>
            <a:r>
              <a:rPr lang="ja-JP" sz="2200" b="1">
                <a:solidFill>
                  <a:srgbClr val="ffffff"/>
                </a:solidFill>
                <a:latin typeface="Yu Gothic"/>
                <a:ea typeface="Yu Gothic"/>
              </a:rPr>
              <a:t>9</a:t>
            </a:r>
          </a:p>
        </p:txBody>
      </p:sp>
      <p:sp>
        <p:nvSpPr>
          <p:cNvPr id="7" name="Shape 7"/>
          <p:cNvSpPr txBox="1"/>
          <p:nvPr/>
        </p:nvSpPr>
        <p:spPr>
          <a:xfrm>
            <a:off x="1174750" y="469900"/>
            <a:ext cx="952500" cy="88900"/>
          </a:xfrm>
          <a:prstGeom prst="rect">
            <a:avLst/>
          </a:prstGeom>
          <a:solidFill>
            <a:srgbClr val="ff1818"/>
          </a:solidFill>
          <a:ln w="6350">
            <a:solidFill>
              <a:srgbClr val="ff1818"/>
            </a:solidFill>
          </a:ln>
        </p:spPr>
      </p:sp>
      <p:sp>
        <p:nvSpPr>
          <p:cNvPr id="8" name="Text 8"/>
          <p:cNvSpPr txBox="1"/>
          <p:nvPr/>
        </p:nvSpPr>
        <p:spPr>
          <a:xfrm>
            <a:off x="1174750" y="711200"/>
            <a:ext cx="7937500" cy="342900"/>
          </a:xfrm>
          <a:prstGeom prst="rect">
            <a:avLst/>
          </a:prstGeom>
          <a:noFill/>
          <a:ln>
            <a:noFill/>
          </a:ln>
        </p:spPr>
        <p:txBody>
          <a:bodyPr wrap="square" anchor="t" lIns="12700" tIns="12700" rIns="12700" bIns="12700"/>
          <a:lstStyle/>
          <a:p>
            <a:pPr algn="l"/>
            <a:r>
              <a:rPr lang="ja-JP" sz="3200" b="1">
                <a:solidFill>
                  <a:srgbClr val="111111"/>
                </a:solidFill>
                <a:latin typeface="Yu Gothic"/>
                <a:ea typeface="Yu Gothic"/>
              </a:rPr>
              <a:t>スクショ資料1：基幹管理ダッシュボード</a:t>
            </a:r>
          </a:p>
        </p:txBody>
      </p:sp>
      <p:sp>
        <p:nvSpPr>
          <p:cNvPr id="9" name="Text 9"/>
          <p:cNvSpPr txBox="1"/>
          <p:nvPr/>
        </p:nvSpPr>
        <p:spPr>
          <a:xfrm>
            <a:off x="1174750" y="1104900"/>
            <a:ext cx="3810000" cy="152400"/>
          </a:xfrm>
          <a:prstGeom prst="rect">
            <a:avLst/>
          </a:prstGeom>
          <a:noFill/>
          <a:ln>
            <a:noFill/>
          </a:ln>
        </p:spPr>
        <p:txBody>
          <a:bodyPr wrap="square" anchor="t" lIns="12700" tIns="12700" rIns="12700" bIns="12700"/>
          <a:lstStyle/>
          <a:p>
            <a:pPr algn="l"/>
            <a:r>
              <a:rPr lang="ja-JP" sz="1500" b="1">
                <a:solidFill>
                  <a:srgbClr val="666666"/>
                </a:solidFill>
                <a:latin typeface="Yu Gothic"/>
                <a:ea typeface="Yu Gothic"/>
              </a:rPr>
              <a:t>Chapter2</a:t>
            </a:r>
          </a:p>
        </p:txBody>
      </p:sp>
      <p:sp>
        <p:nvSpPr>
          <p:cNvPr id="10" name="Text 10"/>
          <p:cNvSpPr txBox="1"/>
          <p:nvPr/>
        </p:nvSpPr>
        <p:spPr>
          <a:xfrm>
            <a:off x="1365250" y="6464300"/>
            <a:ext cx="4445000" cy="190500"/>
          </a:xfrm>
          <a:prstGeom prst="rect">
            <a:avLst/>
          </a:prstGeom>
          <a:noFill/>
          <a:ln>
            <a:noFill/>
          </a:ln>
        </p:spPr>
        <p:txBody>
          <a:bodyPr wrap="square" anchor="t" lIns="12700" tIns="12700" rIns="12700" bIns="12700"/>
          <a:lstStyle/>
          <a:p>
            <a:pPr algn="l"/>
            <a:r>
              <a:rPr lang="ja-JP" sz="1200" b="1">
                <a:solidFill>
                  <a:srgbClr val="999999"/>
                </a:solidFill>
                <a:latin typeface="Yu Gothic"/>
                <a:ea typeface="Yu Gothic"/>
              </a:rPr>
              <a:t>Copyright @Field X inc. All rights reserved.</a:t>
            </a:r>
          </a:p>
        </p:txBody>
      </p:sp>
      <p:sp>
        <p:nvSpPr>
          <p:cNvPr id="11" name="Shape 11"/>
          <p:cNvSpPr txBox="1"/>
          <p:nvPr/>
        </p:nvSpPr>
        <p:spPr>
          <a:xfrm>
            <a:off x="1174750" y="1555750"/>
            <a:ext cx="8382000" cy="4476750"/>
          </a:xfrm>
          <a:prstGeom prst="roundRect">
            <a:avLst/>
          </a:prstGeom>
          <a:solidFill>
            <a:srgbClr val="ffffff"/>
          </a:solidFill>
          <a:ln w="12700">
            <a:solidFill>
              <a:srgbClr val="dedede"/>
            </a:solidFill>
          </a:ln>
        </p:spPr>
      </p:sp>
      <p:sp>
        <p:nvSpPr>
          <p:cNvPr id="12" name="Shape 12"/>
          <p:cNvSpPr txBox="1"/>
          <p:nvPr/>
        </p:nvSpPr>
        <p:spPr>
          <a:xfrm>
            <a:off x="1174750" y="1555750"/>
            <a:ext cx="1301750" cy="4476750"/>
          </a:xfrm>
          <a:prstGeom prst="rect">
            <a:avLst/>
          </a:prstGeom>
          <a:solidFill>
            <a:srgbClr val="15151b"/>
          </a:solidFill>
          <a:ln w="6350">
            <a:solidFill>
              <a:srgbClr val="15151b"/>
            </a:solidFill>
          </a:ln>
        </p:spPr>
      </p:sp>
      <p:sp>
        <p:nvSpPr>
          <p:cNvPr id="13" name="Shape 13"/>
          <p:cNvSpPr txBox="1"/>
          <p:nvPr/>
        </p:nvSpPr>
        <p:spPr>
          <a:xfrm>
            <a:off x="1377950" y="1771650"/>
            <a:ext cx="266700" cy="266700"/>
          </a:xfrm>
          <a:prstGeom prst="ellipse">
            <a:avLst/>
          </a:prstGeom>
          <a:solidFill>
            <a:srgbClr val="ff1818"/>
          </a:solidFill>
          <a:ln w="6350">
            <a:solidFill>
              <a:srgbClr val="ff1818"/>
            </a:solidFill>
          </a:ln>
        </p:spPr>
      </p:sp>
      <p:sp>
        <p:nvSpPr>
          <p:cNvPr id="14" name="Text 14"/>
          <p:cNvSpPr txBox="1"/>
          <p:nvPr/>
        </p:nvSpPr>
        <p:spPr>
          <a:xfrm>
            <a:off x="1720850" y="1778000"/>
            <a:ext cx="609600" cy="215900"/>
          </a:xfrm>
          <a:prstGeom prst="rect">
            <a:avLst/>
          </a:prstGeom>
          <a:noFill/>
          <a:ln>
            <a:noFill/>
          </a:ln>
        </p:spPr>
        <p:txBody>
          <a:bodyPr wrap="square" anchor="t" lIns="12700" tIns="12700" rIns="12700" bIns="12700"/>
          <a:lstStyle/>
          <a:p>
            <a:pPr algn="l"/>
            <a:r>
              <a:rPr lang="ja-JP" sz="2200" b="1">
                <a:solidFill>
                  <a:srgbClr val="ffffff"/>
                </a:solidFill>
                <a:latin typeface="Yu Gothic"/>
                <a:ea typeface="Yu Gothic"/>
              </a:rPr>
              <a:t>Field X</a:t>
            </a:r>
          </a:p>
        </p:txBody>
      </p:sp>
      <p:sp>
        <p:nvSpPr>
          <p:cNvPr id="15" name="Shape 15"/>
          <p:cNvSpPr txBox="1"/>
          <p:nvPr/>
        </p:nvSpPr>
        <p:spPr>
          <a:xfrm>
            <a:off x="2476500" y="1555750"/>
            <a:ext cx="7080250" cy="533400"/>
          </a:xfrm>
          <a:prstGeom prst="rect">
            <a:avLst/>
          </a:prstGeom>
          <a:solidFill>
            <a:srgbClr val="fcfcfc"/>
          </a:solidFill>
          <a:ln w="6350">
            <a:solidFill>
              <a:srgbClr val="dedede"/>
            </a:solidFill>
          </a:ln>
        </p:spPr>
      </p:sp>
      <p:sp>
        <p:nvSpPr>
          <p:cNvPr id="16" name="Text 16"/>
          <p:cNvSpPr txBox="1"/>
          <p:nvPr/>
        </p:nvSpPr>
        <p:spPr>
          <a:xfrm>
            <a:off x="2730500" y="1733550"/>
            <a:ext cx="4445000" cy="203200"/>
          </a:xfrm>
          <a:prstGeom prst="rect">
            <a:avLst/>
          </a:prstGeom>
          <a:noFill/>
          <a:ln>
            <a:noFill/>
          </a:ln>
        </p:spPr>
        <p:txBody>
          <a:bodyPr wrap="square" anchor="t" lIns="12700" tIns="12700" rIns="12700" bIns="12700"/>
          <a:lstStyle/>
          <a:p>
            <a:pPr algn="l"/>
            <a:r>
              <a:rPr lang="ja-JP" sz="1900" b="1">
                <a:solidFill>
                  <a:srgbClr val="111111"/>
                </a:solidFill>
                <a:latin typeface="Yu Gothic"/>
                <a:ea typeface="Yu Gothic"/>
              </a:rPr>
              <a:t>基幹管理ダッシュボード</a:t>
            </a:r>
          </a:p>
        </p:txBody>
      </p:sp>
      <p:sp>
        <p:nvSpPr>
          <p:cNvPr id="17" name="Text 17"/>
          <p:cNvSpPr txBox="1"/>
          <p:nvPr/>
        </p:nvSpPr>
        <p:spPr>
          <a:xfrm>
            <a:off x="8401050" y="1746250"/>
            <a:ext cx="603250" cy="152400"/>
          </a:xfrm>
          <a:prstGeom prst="rect">
            <a:avLst/>
          </a:prstGeom>
          <a:noFill/>
          <a:ln>
            <a:noFill/>
          </a:ln>
        </p:spPr>
        <p:txBody>
          <a:bodyPr wrap="square" anchor="t" lIns="12700" tIns="12700" rIns="12700" bIns="12700"/>
          <a:lstStyle/>
          <a:p>
            <a:pPr algn="l"/>
            <a:r>
              <a:rPr lang="ja-JP" sz="1400">
                <a:solidFill>
                  <a:srgbClr val="666666"/>
                </a:solidFill>
                <a:latin typeface="Yu Gothic"/>
                <a:ea typeface="Yu Gothic"/>
              </a:rPr>
              <a:t>担当者</a:t>
            </a:r>
          </a:p>
        </p:txBody>
      </p:sp>
      <p:sp>
        <p:nvSpPr>
          <p:cNvPr id="18" name="Shape 18"/>
          <p:cNvSpPr txBox="1"/>
          <p:nvPr/>
        </p:nvSpPr>
        <p:spPr>
          <a:xfrm>
            <a:off x="1327150" y="2266950"/>
            <a:ext cx="1003300" cy="279400"/>
          </a:xfrm>
          <a:prstGeom prst="roundRect">
            <a:avLst/>
          </a:prstGeom>
          <a:solidFill>
            <a:srgbClr val="ff1818"/>
          </a:solidFill>
          <a:ln w="6350">
            <a:solidFill>
              <a:srgbClr val="ff1818"/>
            </a:solidFill>
          </a:ln>
        </p:spPr>
        <p:txBody>
          <a:bodyPr wrap="square" anchor="ctr" lIns="76200" tIns="76200" rIns="76200" bIns="76200"/>
          <a:lstStyle/>
          <a:p>
            <a:pPr algn="c"/>
            <a:r>
              <a:rPr lang="ja-JP" sz="1500" b="1">
                <a:solidFill>
                  <a:srgbClr val="ffffff"/>
                </a:solidFill>
                <a:latin typeface="Yu Gothic"/>
                <a:ea typeface="Yu Gothic"/>
              </a:rPr>
              <a:t>総合</a:t>
            </a:r>
          </a:p>
        </p:txBody>
      </p:sp>
      <p:sp>
        <p:nvSpPr>
          <p:cNvPr id="19" name="Shape 19"/>
          <p:cNvSpPr txBox="1"/>
          <p:nvPr/>
        </p:nvSpPr>
        <p:spPr>
          <a:xfrm>
            <a:off x="1327150" y="266700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物件</a:t>
            </a:r>
          </a:p>
        </p:txBody>
      </p:sp>
      <p:sp>
        <p:nvSpPr>
          <p:cNvPr id="20" name="Shape 20"/>
          <p:cNvSpPr txBox="1"/>
          <p:nvPr/>
        </p:nvSpPr>
        <p:spPr>
          <a:xfrm>
            <a:off x="1327150" y="306705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契約</a:t>
            </a:r>
          </a:p>
        </p:txBody>
      </p:sp>
      <p:sp>
        <p:nvSpPr>
          <p:cNvPr id="21" name="Shape 21"/>
          <p:cNvSpPr txBox="1"/>
          <p:nvPr/>
        </p:nvSpPr>
        <p:spPr>
          <a:xfrm>
            <a:off x="1327150" y="346710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修繕</a:t>
            </a:r>
          </a:p>
        </p:txBody>
      </p:sp>
      <p:sp>
        <p:nvSpPr>
          <p:cNvPr id="22" name="Shape 22"/>
          <p:cNvSpPr txBox="1"/>
          <p:nvPr/>
        </p:nvSpPr>
        <p:spPr>
          <a:xfrm>
            <a:off x="1327150" y="386715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書類</a:t>
            </a:r>
          </a:p>
        </p:txBody>
      </p:sp>
      <p:sp>
        <p:nvSpPr>
          <p:cNvPr id="23" name="Shape 23"/>
          <p:cNvSpPr txBox="1"/>
          <p:nvPr/>
        </p:nvSpPr>
        <p:spPr>
          <a:xfrm>
            <a:off x="1327150" y="426720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検索</a:t>
            </a:r>
          </a:p>
        </p:txBody>
      </p:sp>
      <p:sp>
        <p:nvSpPr>
          <p:cNvPr id="24" name="Shape 24"/>
          <p:cNvSpPr txBox="1"/>
          <p:nvPr/>
        </p:nvSpPr>
        <p:spPr>
          <a:xfrm>
            <a:off x="1377950" y="5448300"/>
            <a:ext cx="838200" cy="19050"/>
          </a:xfrm>
          <a:prstGeom prst="rect">
            <a:avLst/>
          </a:prstGeom>
          <a:solidFill>
            <a:srgbClr val="4c4c53"/>
          </a:solidFill>
          <a:ln w="6350">
            <a:solidFill>
              <a:srgbClr val="4c4c53"/>
            </a:solidFill>
          </a:ln>
        </p:spPr>
      </p:sp>
      <p:sp>
        <p:nvSpPr>
          <p:cNvPr id="25" name="Shape 25"/>
          <p:cNvSpPr txBox="1"/>
          <p:nvPr/>
        </p:nvSpPr>
        <p:spPr>
          <a:xfrm>
            <a:off x="1403350" y="5626100"/>
            <a:ext cx="215900" cy="215900"/>
          </a:xfrm>
          <a:prstGeom prst="ellipse">
            <a:avLst/>
          </a:prstGeom>
          <a:solidFill>
            <a:srgbClr val="f1f1f1"/>
          </a:solidFill>
          <a:ln w="6350">
            <a:solidFill>
              <a:srgbClr val="f1f1f1"/>
            </a:solidFill>
          </a:ln>
        </p:spPr>
      </p:sp>
      <p:sp>
        <p:nvSpPr>
          <p:cNvPr id="26" name="Text 26"/>
          <p:cNvSpPr txBox="1"/>
          <p:nvPr/>
        </p:nvSpPr>
        <p:spPr>
          <a:xfrm>
            <a:off x="1720850" y="5651500"/>
            <a:ext cx="508000" cy="139700"/>
          </a:xfrm>
          <a:prstGeom prst="rect">
            <a:avLst/>
          </a:prstGeom>
          <a:noFill/>
          <a:ln>
            <a:noFill/>
          </a:ln>
        </p:spPr>
        <p:txBody>
          <a:bodyPr wrap="square" anchor="t" lIns="12700" tIns="12700" rIns="12700" bIns="12700"/>
          <a:lstStyle/>
          <a:p>
            <a:pPr algn="l"/>
            <a:r>
              <a:rPr lang="ja-JP" sz="1300">
                <a:solidFill>
                  <a:srgbClr val="d0d0d0"/>
                </a:solidFill>
                <a:latin typeface="Yu Gothic"/>
                <a:ea typeface="Yu Gothic"/>
              </a:rPr>
              <a:t>設定</a:t>
            </a:r>
          </a:p>
        </p:txBody>
      </p:sp>
      <p:sp>
        <p:nvSpPr>
          <p:cNvPr id="27" name="Shape 27"/>
          <p:cNvSpPr txBox="1"/>
          <p:nvPr/>
        </p:nvSpPr>
        <p:spPr>
          <a:xfrm>
            <a:off x="2749550" y="2305050"/>
            <a:ext cx="1244600" cy="685800"/>
          </a:xfrm>
          <a:prstGeom prst="roundRect">
            <a:avLst/>
          </a:prstGeom>
          <a:solidFill>
            <a:srgbClr val="ffffff"/>
          </a:solidFill>
          <a:ln w="6350">
            <a:solidFill>
              <a:srgbClr val="dedede"/>
            </a:solidFill>
          </a:ln>
        </p:spPr>
      </p:sp>
      <p:sp>
        <p:nvSpPr>
          <p:cNvPr id="28" name="Text 28"/>
          <p:cNvSpPr txBox="1"/>
          <p:nvPr/>
        </p:nvSpPr>
        <p:spPr>
          <a:xfrm>
            <a:off x="2851150" y="2419350"/>
            <a:ext cx="1041400" cy="139700"/>
          </a:xfrm>
          <a:prstGeom prst="rect">
            <a:avLst/>
          </a:prstGeom>
          <a:noFill/>
          <a:ln>
            <a:noFill/>
          </a:ln>
        </p:spPr>
        <p:txBody>
          <a:bodyPr wrap="square" anchor="t" lIns="12700" tIns="12700" rIns="12700" bIns="12700"/>
          <a:lstStyle/>
          <a:p>
            <a:pPr algn="l"/>
            <a:r>
              <a:rPr lang="ja-JP" sz="1300" b="1">
                <a:solidFill>
                  <a:srgbClr val="666666"/>
                </a:solidFill>
                <a:latin typeface="Yu Gothic"/>
                <a:ea typeface="Yu Gothic"/>
              </a:rPr>
              <a:t>本日期限</a:t>
            </a:r>
          </a:p>
        </p:txBody>
      </p:sp>
      <p:sp>
        <p:nvSpPr>
          <p:cNvPr id="29" name="Text 29"/>
          <p:cNvSpPr txBox="1"/>
          <p:nvPr/>
        </p:nvSpPr>
        <p:spPr>
          <a:xfrm>
            <a:off x="2876550" y="2609850"/>
            <a:ext cx="444500" cy="266700"/>
          </a:xfrm>
          <a:prstGeom prst="rect">
            <a:avLst/>
          </a:prstGeom>
          <a:noFill/>
          <a:ln>
            <a:noFill/>
          </a:ln>
        </p:spPr>
        <p:txBody>
          <a:bodyPr wrap="square" anchor="t" lIns="12700" tIns="12700" rIns="12700" bIns="12700"/>
          <a:lstStyle/>
          <a:p>
            <a:pPr algn="l"/>
            <a:r>
              <a:rPr lang="ja-JP" sz="3100" b="1">
                <a:solidFill>
                  <a:srgbClr val="111111"/>
                </a:solidFill>
                <a:latin typeface="Yu Gothic"/>
                <a:ea typeface="Yu Gothic"/>
              </a:rPr>
              <a:t>12</a:t>
            </a:r>
          </a:p>
        </p:txBody>
      </p:sp>
      <p:sp>
        <p:nvSpPr>
          <p:cNvPr id="30" name="Shape 30"/>
          <p:cNvSpPr txBox="1"/>
          <p:nvPr/>
        </p:nvSpPr>
        <p:spPr>
          <a:xfrm>
            <a:off x="3448050" y="2813050"/>
            <a:ext cx="393700" cy="25400"/>
          </a:xfrm>
          <a:prstGeom prst="rect">
            <a:avLst/>
          </a:prstGeom>
          <a:solidFill>
            <a:srgbClr val="c9c9c9"/>
          </a:solidFill>
          <a:ln>
            <a:noFill/>
          </a:ln>
        </p:spPr>
      </p:sp>
      <p:sp>
        <p:nvSpPr>
          <p:cNvPr id="31" name="Shape 31"/>
          <p:cNvSpPr txBox="1"/>
          <p:nvPr/>
        </p:nvSpPr>
        <p:spPr>
          <a:xfrm>
            <a:off x="4076700" y="2305050"/>
            <a:ext cx="1244600" cy="685800"/>
          </a:xfrm>
          <a:prstGeom prst="roundRect">
            <a:avLst/>
          </a:prstGeom>
          <a:solidFill>
            <a:srgbClr val="ffffff"/>
          </a:solidFill>
          <a:ln w="6350">
            <a:solidFill>
              <a:srgbClr val="dedede"/>
            </a:solidFill>
          </a:ln>
        </p:spPr>
      </p:sp>
      <p:sp>
        <p:nvSpPr>
          <p:cNvPr id="32" name="Text 32"/>
          <p:cNvSpPr txBox="1"/>
          <p:nvPr/>
        </p:nvSpPr>
        <p:spPr>
          <a:xfrm>
            <a:off x="4178300" y="2419350"/>
            <a:ext cx="1041400" cy="139700"/>
          </a:xfrm>
          <a:prstGeom prst="rect">
            <a:avLst/>
          </a:prstGeom>
          <a:noFill/>
          <a:ln>
            <a:noFill/>
          </a:ln>
        </p:spPr>
        <p:txBody>
          <a:bodyPr wrap="square" anchor="t" lIns="12700" tIns="12700" rIns="12700" bIns="12700"/>
          <a:lstStyle/>
          <a:p>
            <a:pPr algn="l"/>
            <a:r>
              <a:rPr lang="ja-JP" sz="1300" b="1">
                <a:solidFill>
                  <a:srgbClr val="666666"/>
                </a:solidFill>
                <a:latin typeface="Yu Gothic"/>
                <a:ea typeface="Yu Gothic"/>
              </a:rPr>
              <a:t>要確認</a:t>
            </a:r>
          </a:p>
        </p:txBody>
      </p:sp>
      <p:sp>
        <p:nvSpPr>
          <p:cNvPr id="33" name="Text 33"/>
          <p:cNvSpPr txBox="1"/>
          <p:nvPr/>
        </p:nvSpPr>
        <p:spPr>
          <a:xfrm>
            <a:off x="4203700" y="2609850"/>
            <a:ext cx="444500" cy="266700"/>
          </a:xfrm>
          <a:prstGeom prst="rect">
            <a:avLst/>
          </a:prstGeom>
          <a:noFill/>
          <a:ln>
            <a:noFill/>
          </a:ln>
        </p:spPr>
        <p:txBody>
          <a:bodyPr wrap="square" anchor="t" lIns="12700" tIns="12700" rIns="12700" bIns="12700"/>
          <a:lstStyle/>
          <a:p>
            <a:pPr algn="l"/>
            <a:r>
              <a:rPr lang="ja-JP" sz="3100" b="1">
                <a:solidFill>
                  <a:srgbClr val="111111"/>
                </a:solidFill>
                <a:latin typeface="Yu Gothic"/>
                <a:ea typeface="Yu Gothic"/>
              </a:rPr>
              <a:t>7</a:t>
            </a:r>
          </a:p>
        </p:txBody>
      </p:sp>
      <p:sp>
        <p:nvSpPr>
          <p:cNvPr id="34" name="Shape 34"/>
          <p:cNvSpPr txBox="1"/>
          <p:nvPr/>
        </p:nvSpPr>
        <p:spPr>
          <a:xfrm>
            <a:off x="4775200" y="2813050"/>
            <a:ext cx="393700" cy="25400"/>
          </a:xfrm>
          <a:prstGeom prst="rect">
            <a:avLst/>
          </a:prstGeom>
          <a:solidFill>
            <a:srgbClr val="c9c9c9"/>
          </a:solidFill>
          <a:ln>
            <a:noFill/>
          </a:ln>
        </p:spPr>
      </p:sp>
      <p:sp>
        <p:nvSpPr>
          <p:cNvPr id="35" name="Shape 35"/>
          <p:cNvSpPr txBox="1"/>
          <p:nvPr/>
        </p:nvSpPr>
        <p:spPr>
          <a:xfrm>
            <a:off x="5403850" y="2305050"/>
            <a:ext cx="1244600" cy="685800"/>
          </a:xfrm>
          <a:prstGeom prst="roundRect">
            <a:avLst/>
          </a:prstGeom>
          <a:solidFill>
            <a:srgbClr val="ffffff"/>
          </a:solidFill>
          <a:ln w="6350">
            <a:solidFill>
              <a:srgbClr val="dedede"/>
            </a:solidFill>
          </a:ln>
        </p:spPr>
      </p:sp>
      <p:sp>
        <p:nvSpPr>
          <p:cNvPr id="36" name="Text 36"/>
          <p:cNvSpPr txBox="1"/>
          <p:nvPr/>
        </p:nvSpPr>
        <p:spPr>
          <a:xfrm>
            <a:off x="5505450" y="2419350"/>
            <a:ext cx="1041400" cy="139700"/>
          </a:xfrm>
          <a:prstGeom prst="rect">
            <a:avLst/>
          </a:prstGeom>
          <a:noFill/>
          <a:ln>
            <a:noFill/>
          </a:ln>
        </p:spPr>
        <p:txBody>
          <a:bodyPr wrap="square" anchor="t" lIns="12700" tIns="12700" rIns="12700" bIns="12700"/>
          <a:lstStyle/>
          <a:p>
            <a:pPr algn="l"/>
            <a:r>
              <a:rPr lang="ja-JP" sz="1300" b="1">
                <a:solidFill>
                  <a:srgbClr val="666666"/>
                </a:solidFill>
                <a:latin typeface="Yu Gothic"/>
                <a:ea typeface="Yu Gothic"/>
              </a:rPr>
              <a:t>遅延リスク</a:t>
            </a:r>
          </a:p>
        </p:txBody>
      </p:sp>
      <p:sp>
        <p:nvSpPr>
          <p:cNvPr id="37" name="Text 37"/>
          <p:cNvSpPr txBox="1"/>
          <p:nvPr/>
        </p:nvSpPr>
        <p:spPr>
          <a:xfrm>
            <a:off x="5530850" y="2609850"/>
            <a:ext cx="444500" cy="266700"/>
          </a:xfrm>
          <a:prstGeom prst="rect">
            <a:avLst/>
          </a:prstGeom>
          <a:noFill/>
          <a:ln>
            <a:noFill/>
          </a:ln>
        </p:spPr>
        <p:txBody>
          <a:bodyPr wrap="square" anchor="t" lIns="12700" tIns="12700" rIns="12700" bIns="12700"/>
          <a:lstStyle/>
          <a:p>
            <a:pPr algn="l"/>
            <a:r>
              <a:rPr lang="ja-JP" sz="3100" b="1">
                <a:solidFill>
                  <a:srgbClr val="ff1818"/>
                </a:solidFill>
                <a:latin typeface="Yu Gothic"/>
                <a:ea typeface="Yu Gothic"/>
              </a:rPr>
              <a:t>3</a:t>
            </a:r>
          </a:p>
        </p:txBody>
      </p:sp>
      <p:sp>
        <p:nvSpPr>
          <p:cNvPr id="38" name="Shape 38"/>
          <p:cNvSpPr txBox="1"/>
          <p:nvPr/>
        </p:nvSpPr>
        <p:spPr>
          <a:xfrm>
            <a:off x="6102350" y="2813050"/>
            <a:ext cx="393700" cy="25400"/>
          </a:xfrm>
          <a:prstGeom prst="rect">
            <a:avLst/>
          </a:prstGeom>
          <a:solidFill>
            <a:srgbClr val="ff1818"/>
          </a:solidFill>
          <a:ln>
            <a:noFill/>
          </a:ln>
        </p:spPr>
      </p:sp>
      <p:sp>
        <p:nvSpPr>
          <p:cNvPr id="39" name="Shape 39"/>
          <p:cNvSpPr txBox="1"/>
          <p:nvPr/>
        </p:nvSpPr>
        <p:spPr>
          <a:xfrm>
            <a:off x="6731000" y="2305050"/>
            <a:ext cx="1244600" cy="685800"/>
          </a:xfrm>
          <a:prstGeom prst="roundRect">
            <a:avLst/>
          </a:prstGeom>
          <a:solidFill>
            <a:srgbClr val="ffffff"/>
          </a:solidFill>
          <a:ln w="6350">
            <a:solidFill>
              <a:srgbClr val="dedede"/>
            </a:solidFill>
          </a:ln>
        </p:spPr>
      </p:sp>
      <p:sp>
        <p:nvSpPr>
          <p:cNvPr id="40" name="Text 40"/>
          <p:cNvSpPr txBox="1"/>
          <p:nvPr/>
        </p:nvSpPr>
        <p:spPr>
          <a:xfrm>
            <a:off x="6832600" y="2419350"/>
            <a:ext cx="1041400" cy="139700"/>
          </a:xfrm>
          <a:prstGeom prst="rect">
            <a:avLst/>
          </a:prstGeom>
          <a:noFill/>
          <a:ln>
            <a:noFill/>
          </a:ln>
        </p:spPr>
        <p:txBody>
          <a:bodyPr wrap="square" anchor="t" lIns="12700" tIns="12700" rIns="12700" bIns="12700"/>
          <a:lstStyle/>
          <a:p>
            <a:pPr algn="l"/>
            <a:r>
              <a:rPr lang="ja-JP" sz="1300" b="1">
                <a:solidFill>
                  <a:srgbClr val="666666"/>
                </a:solidFill>
                <a:latin typeface="Yu Gothic"/>
                <a:ea typeface="Yu Gothic"/>
              </a:rPr>
              <a:t>完了</a:t>
            </a:r>
          </a:p>
        </p:txBody>
      </p:sp>
      <p:sp>
        <p:nvSpPr>
          <p:cNvPr id="41" name="Text 41"/>
          <p:cNvSpPr txBox="1"/>
          <p:nvPr/>
        </p:nvSpPr>
        <p:spPr>
          <a:xfrm>
            <a:off x="6858000" y="2609850"/>
            <a:ext cx="444500" cy="266700"/>
          </a:xfrm>
          <a:prstGeom prst="rect">
            <a:avLst/>
          </a:prstGeom>
          <a:noFill/>
          <a:ln>
            <a:noFill/>
          </a:ln>
        </p:spPr>
        <p:txBody>
          <a:bodyPr wrap="square" anchor="t" lIns="12700" tIns="12700" rIns="12700" bIns="12700"/>
          <a:lstStyle/>
          <a:p>
            <a:pPr algn="l"/>
            <a:r>
              <a:rPr lang="ja-JP" sz="3100" b="1">
                <a:solidFill>
                  <a:srgbClr val="111111"/>
                </a:solidFill>
                <a:latin typeface="Yu Gothic"/>
                <a:ea typeface="Yu Gothic"/>
              </a:rPr>
              <a:t>28</a:t>
            </a:r>
          </a:p>
        </p:txBody>
      </p:sp>
      <p:sp>
        <p:nvSpPr>
          <p:cNvPr id="42" name="Shape 42"/>
          <p:cNvSpPr txBox="1"/>
          <p:nvPr/>
        </p:nvSpPr>
        <p:spPr>
          <a:xfrm>
            <a:off x="7429500" y="2813050"/>
            <a:ext cx="393700" cy="25400"/>
          </a:xfrm>
          <a:prstGeom prst="rect">
            <a:avLst/>
          </a:prstGeom>
          <a:solidFill>
            <a:srgbClr val="c9c9c9"/>
          </a:solidFill>
          <a:ln>
            <a:noFill/>
          </a:ln>
        </p:spPr>
      </p:sp>
      <p:sp>
        <p:nvSpPr>
          <p:cNvPr id="43" name="Shape 43"/>
          <p:cNvSpPr txBox="1"/>
          <p:nvPr/>
        </p:nvSpPr>
        <p:spPr>
          <a:xfrm>
            <a:off x="8058150" y="2305050"/>
            <a:ext cx="1244600" cy="685800"/>
          </a:xfrm>
          <a:prstGeom prst="roundRect">
            <a:avLst/>
          </a:prstGeom>
          <a:solidFill>
            <a:srgbClr val="ffffff"/>
          </a:solidFill>
          <a:ln w="6350">
            <a:solidFill>
              <a:srgbClr val="dedede"/>
            </a:solidFill>
          </a:ln>
        </p:spPr>
      </p:sp>
      <p:sp>
        <p:nvSpPr>
          <p:cNvPr id="44" name="Text 44"/>
          <p:cNvSpPr txBox="1"/>
          <p:nvPr/>
        </p:nvSpPr>
        <p:spPr>
          <a:xfrm>
            <a:off x="8159750" y="2419350"/>
            <a:ext cx="1041400" cy="139700"/>
          </a:xfrm>
          <a:prstGeom prst="rect">
            <a:avLst/>
          </a:prstGeom>
          <a:noFill/>
          <a:ln>
            <a:noFill/>
          </a:ln>
        </p:spPr>
        <p:txBody>
          <a:bodyPr wrap="square" anchor="t" lIns="12700" tIns="12700" rIns="12700" bIns="12700"/>
          <a:lstStyle/>
          <a:p>
            <a:pPr algn="l"/>
            <a:r>
              <a:rPr lang="ja-JP" sz="1300" b="1">
                <a:solidFill>
                  <a:srgbClr val="666666"/>
                </a:solidFill>
                <a:latin typeface="Yu Gothic"/>
                <a:ea typeface="Yu Gothic"/>
              </a:rPr>
              <a:t>未割当</a:t>
            </a:r>
          </a:p>
        </p:txBody>
      </p:sp>
      <p:sp>
        <p:nvSpPr>
          <p:cNvPr id="45" name="Text 45"/>
          <p:cNvSpPr txBox="1"/>
          <p:nvPr/>
        </p:nvSpPr>
        <p:spPr>
          <a:xfrm>
            <a:off x="8185150" y="2609850"/>
            <a:ext cx="444500" cy="266700"/>
          </a:xfrm>
          <a:prstGeom prst="rect">
            <a:avLst/>
          </a:prstGeom>
          <a:noFill/>
          <a:ln>
            <a:noFill/>
          </a:ln>
        </p:spPr>
        <p:txBody>
          <a:bodyPr wrap="square" anchor="t" lIns="12700" tIns="12700" rIns="12700" bIns="12700"/>
          <a:lstStyle/>
          <a:p>
            <a:pPr algn="l"/>
            <a:r>
              <a:rPr lang="ja-JP" sz="3100" b="1">
                <a:solidFill>
                  <a:srgbClr val="111111"/>
                </a:solidFill>
                <a:latin typeface="Yu Gothic"/>
                <a:ea typeface="Yu Gothic"/>
              </a:rPr>
              <a:t>4</a:t>
            </a:r>
          </a:p>
        </p:txBody>
      </p:sp>
      <p:sp>
        <p:nvSpPr>
          <p:cNvPr id="46" name="Shape 46"/>
          <p:cNvSpPr txBox="1"/>
          <p:nvPr/>
        </p:nvSpPr>
        <p:spPr>
          <a:xfrm>
            <a:off x="8756650" y="2813050"/>
            <a:ext cx="393700" cy="25400"/>
          </a:xfrm>
          <a:prstGeom prst="rect">
            <a:avLst/>
          </a:prstGeom>
          <a:solidFill>
            <a:srgbClr val="c9c9c9"/>
          </a:solidFill>
          <a:ln>
            <a:noFill/>
          </a:ln>
        </p:spPr>
      </p:sp>
      <p:sp>
        <p:nvSpPr>
          <p:cNvPr id="47" name="Shape 47"/>
          <p:cNvSpPr txBox="1"/>
          <p:nvPr/>
        </p:nvSpPr>
        <p:spPr>
          <a:xfrm>
            <a:off x="2749550" y="3130550"/>
            <a:ext cx="1231900" cy="1873250"/>
          </a:xfrm>
          <a:prstGeom prst="roundRect">
            <a:avLst/>
          </a:prstGeom>
          <a:solidFill>
            <a:srgbClr val="f8f8f8"/>
          </a:solidFill>
          <a:ln w="6350">
            <a:solidFill>
              <a:srgbClr val="dedede"/>
            </a:solidFill>
          </a:ln>
        </p:spPr>
      </p:sp>
      <p:sp>
        <p:nvSpPr>
          <p:cNvPr id="48" name="Text 48"/>
          <p:cNvSpPr txBox="1"/>
          <p:nvPr/>
        </p:nvSpPr>
        <p:spPr>
          <a:xfrm>
            <a:off x="2863850" y="3257550"/>
            <a:ext cx="774700" cy="15875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退去精算</a:t>
            </a:r>
          </a:p>
        </p:txBody>
      </p:sp>
      <p:sp>
        <p:nvSpPr>
          <p:cNvPr id="49" name="Shape 49"/>
          <p:cNvSpPr txBox="1"/>
          <p:nvPr/>
        </p:nvSpPr>
        <p:spPr>
          <a:xfrm>
            <a:off x="3676650" y="3244850"/>
            <a:ext cx="203200" cy="165100"/>
          </a:xfrm>
          <a:prstGeom prst="roundRect">
            <a:avLst/>
          </a:prstGeom>
          <a:solidFill>
            <a:srgbClr val="b9bcc2"/>
          </a:solidFill>
          <a:ln w="6350">
            <a:solidFill>
              <a:srgbClr val="b9bcc2"/>
            </a:solidFill>
          </a:ln>
        </p:spPr>
      </p:sp>
      <p:sp>
        <p:nvSpPr>
          <p:cNvPr id="50" name="Shape 50"/>
          <p:cNvSpPr txBox="1"/>
          <p:nvPr/>
        </p:nvSpPr>
        <p:spPr>
          <a:xfrm>
            <a:off x="2851150" y="3511550"/>
            <a:ext cx="1028700" cy="368300"/>
          </a:xfrm>
          <a:prstGeom prst="roundRect">
            <a:avLst/>
          </a:prstGeom>
          <a:solidFill>
            <a:srgbClr val="ffffff"/>
          </a:solidFill>
          <a:ln w="6350">
            <a:solidFill>
              <a:srgbClr val="dedede"/>
            </a:solidFill>
          </a:ln>
        </p:spPr>
      </p:sp>
      <p:sp>
        <p:nvSpPr>
          <p:cNvPr id="51" name="Shape 51"/>
          <p:cNvSpPr txBox="1"/>
          <p:nvPr/>
        </p:nvSpPr>
        <p:spPr>
          <a:xfrm>
            <a:off x="2851150" y="3511550"/>
            <a:ext cx="44450" cy="368300"/>
          </a:xfrm>
          <a:prstGeom prst="rect">
            <a:avLst/>
          </a:prstGeom>
          <a:solidFill>
            <a:srgbClr val="ff1818"/>
          </a:solidFill>
          <a:ln>
            <a:noFill/>
          </a:ln>
        </p:spPr>
      </p:sp>
      <p:sp>
        <p:nvSpPr>
          <p:cNvPr id="52" name="Text 52"/>
          <p:cNvSpPr txBox="1"/>
          <p:nvPr/>
        </p:nvSpPr>
        <p:spPr>
          <a:xfrm>
            <a:off x="2990850" y="3575050"/>
            <a:ext cx="7239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1-1</a:t>
            </a:r>
          </a:p>
        </p:txBody>
      </p:sp>
      <p:sp>
        <p:nvSpPr>
          <p:cNvPr id="53" name="Text 53"/>
          <p:cNvSpPr txBox="1"/>
          <p:nvPr/>
        </p:nvSpPr>
        <p:spPr>
          <a:xfrm>
            <a:off x="2990850" y="3721100"/>
            <a:ext cx="7239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54" name="Shape 54"/>
          <p:cNvSpPr txBox="1"/>
          <p:nvPr/>
        </p:nvSpPr>
        <p:spPr>
          <a:xfrm>
            <a:off x="2851150" y="3994150"/>
            <a:ext cx="1028700" cy="368300"/>
          </a:xfrm>
          <a:prstGeom prst="roundRect">
            <a:avLst/>
          </a:prstGeom>
          <a:solidFill>
            <a:srgbClr val="ffffff"/>
          </a:solidFill>
          <a:ln w="6350">
            <a:solidFill>
              <a:srgbClr val="dedede"/>
            </a:solidFill>
          </a:ln>
        </p:spPr>
      </p:sp>
      <p:sp>
        <p:nvSpPr>
          <p:cNvPr id="55" name="Shape 55"/>
          <p:cNvSpPr txBox="1"/>
          <p:nvPr/>
        </p:nvSpPr>
        <p:spPr>
          <a:xfrm>
            <a:off x="2851150" y="3994150"/>
            <a:ext cx="44450" cy="368300"/>
          </a:xfrm>
          <a:prstGeom prst="rect">
            <a:avLst/>
          </a:prstGeom>
          <a:solidFill>
            <a:srgbClr val="bfbfbf"/>
          </a:solidFill>
          <a:ln>
            <a:noFill/>
          </a:ln>
        </p:spPr>
      </p:sp>
      <p:sp>
        <p:nvSpPr>
          <p:cNvPr id="56" name="Text 56"/>
          <p:cNvSpPr txBox="1"/>
          <p:nvPr/>
        </p:nvSpPr>
        <p:spPr>
          <a:xfrm>
            <a:off x="2990850" y="4057650"/>
            <a:ext cx="7239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1-2</a:t>
            </a:r>
          </a:p>
        </p:txBody>
      </p:sp>
      <p:sp>
        <p:nvSpPr>
          <p:cNvPr id="57" name="Text 57"/>
          <p:cNvSpPr txBox="1"/>
          <p:nvPr/>
        </p:nvSpPr>
        <p:spPr>
          <a:xfrm>
            <a:off x="2990850" y="4203700"/>
            <a:ext cx="7239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58" name="Shape 58"/>
          <p:cNvSpPr txBox="1"/>
          <p:nvPr/>
        </p:nvSpPr>
        <p:spPr>
          <a:xfrm>
            <a:off x="2851150" y="4476750"/>
            <a:ext cx="1028700" cy="368300"/>
          </a:xfrm>
          <a:prstGeom prst="roundRect">
            <a:avLst/>
          </a:prstGeom>
          <a:solidFill>
            <a:srgbClr val="ffffff"/>
          </a:solidFill>
          <a:ln w="6350">
            <a:solidFill>
              <a:srgbClr val="dedede"/>
            </a:solidFill>
          </a:ln>
        </p:spPr>
      </p:sp>
      <p:sp>
        <p:nvSpPr>
          <p:cNvPr id="59" name="Shape 59"/>
          <p:cNvSpPr txBox="1"/>
          <p:nvPr/>
        </p:nvSpPr>
        <p:spPr>
          <a:xfrm>
            <a:off x="2851150" y="4476750"/>
            <a:ext cx="44450" cy="368300"/>
          </a:xfrm>
          <a:prstGeom prst="rect">
            <a:avLst/>
          </a:prstGeom>
          <a:solidFill>
            <a:srgbClr val="bfbfbf"/>
          </a:solidFill>
          <a:ln>
            <a:noFill/>
          </a:ln>
        </p:spPr>
      </p:sp>
      <p:sp>
        <p:nvSpPr>
          <p:cNvPr id="60" name="Text 60"/>
          <p:cNvSpPr txBox="1"/>
          <p:nvPr/>
        </p:nvSpPr>
        <p:spPr>
          <a:xfrm>
            <a:off x="2990850" y="4540250"/>
            <a:ext cx="7239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1-3</a:t>
            </a:r>
          </a:p>
        </p:txBody>
      </p:sp>
      <p:sp>
        <p:nvSpPr>
          <p:cNvPr id="61" name="Text 61"/>
          <p:cNvSpPr txBox="1"/>
          <p:nvPr/>
        </p:nvSpPr>
        <p:spPr>
          <a:xfrm>
            <a:off x="2990850" y="4686300"/>
            <a:ext cx="7239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62" name="Shape 62"/>
          <p:cNvSpPr txBox="1"/>
          <p:nvPr/>
        </p:nvSpPr>
        <p:spPr>
          <a:xfrm>
            <a:off x="4083050" y="3130550"/>
            <a:ext cx="1231900" cy="1873250"/>
          </a:xfrm>
          <a:prstGeom prst="roundRect">
            <a:avLst/>
          </a:prstGeom>
          <a:solidFill>
            <a:srgbClr val="f8f8f8"/>
          </a:solidFill>
          <a:ln w="6350">
            <a:solidFill>
              <a:srgbClr val="dedede"/>
            </a:solidFill>
          </a:ln>
        </p:spPr>
      </p:sp>
      <p:sp>
        <p:nvSpPr>
          <p:cNvPr id="63" name="Text 63"/>
          <p:cNvSpPr txBox="1"/>
          <p:nvPr/>
        </p:nvSpPr>
        <p:spPr>
          <a:xfrm>
            <a:off x="4197350" y="3257550"/>
            <a:ext cx="774700" cy="15875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修繕対応</a:t>
            </a:r>
          </a:p>
        </p:txBody>
      </p:sp>
      <p:sp>
        <p:nvSpPr>
          <p:cNvPr id="64" name="Shape 64"/>
          <p:cNvSpPr txBox="1"/>
          <p:nvPr/>
        </p:nvSpPr>
        <p:spPr>
          <a:xfrm>
            <a:off x="5010150" y="3244850"/>
            <a:ext cx="203200" cy="165100"/>
          </a:xfrm>
          <a:prstGeom prst="roundRect">
            <a:avLst/>
          </a:prstGeom>
          <a:solidFill>
            <a:srgbClr val="b9bcc2"/>
          </a:solidFill>
          <a:ln w="6350">
            <a:solidFill>
              <a:srgbClr val="b9bcc2"/>
            </a:solidFill>
          </a:ln>
        </p:spPr>
      </p:sp>
      <p:sp>
        <p:nvSpPr>
          <p:cNvPr id="65" name="Shape 65"/>
          <p:cNvSpPr txBox="1"/>
          <p:nvPr/>
        </p:nvSpPr>
        <p:spPr>
          <a:xfrm>
            <a:off x="4184650" y="3511550"/>
            <a:ext cx="1028700" cy="368300"/>
          </a:xfrm>
          <a:prstGeom prst="roundRect">
            <a:avLst/>
          </a:prstGeom>
          <a:solidFill>
            <a:srgbClr val="ffffff"/>
          </a:solidFill>
          <a:ln w="6350">
            <a:solidFill>
              <a:srgbClr val="dedede"/>
            </a:solidFill>
          </a:ln>
        </p:spPr>
      </p:sp>
      <p:sp>
        <p:nvSpPr>
          <p:cNvPr id="66" name="Shape 66"/>
          <p:cNvSpPr txBox="1"/>
          <p:nvPr/>
        </p:nvSpPr>
        <p:spPr>
          <a:xfrm>
            <a:off x="4184650" y="3511550"/>
            <a:ext cx="44450" cy="368300"/>
          </a:xfrm>
          <a:prstGeom prst="rect">
            <a:avLst/>
          </a:prstGeom>
          <a:solidFill>
            <a:srgbClr val="ff1818"/>
          </a:solidFill>
          <a:ln>
            <a:noFill/>
          </a:ln>
        </p:spPr>
      </p:sp>
      <p:sp>
        <p:nvSpPr>
          <p:cNvPr id="67" name="Text 67"/>
          <p:cNvSpPr txBox="1"/>
          <p:nvPr/>
        </p:nvSpPr>
        <p:spPr>
          <a:xfrm>
            <a:off x="4324350" y="3575050"/>
            <a:ext cx="7239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2-1</a:t>
            </a:r>
          </a:p>
        </p:txBody>
      </p:sp>
      <p:sp>
        <p:nvSpPr>
          <p:cNvPr id="68" name="Text 68"/>
          <p:cNvSpPr txBox="1"/>
          <p:nvPr/>
        </p:nvSpPr>
        <p:spPr>
          <a:xfrm>
            <a:off x="4324350" y="3721100"/>
            <a:ext cx="7239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69" name="Shape 69"/>
          <p:cNvSpPr txBox="1"/>
          <p:nvPr/>
        </p:nvSpPr>
        <p:spPr>
          <a:xfrm>
            <a:off x="4184650" y="3994150"/>
            <a:ext cx="1028700" cy="368300"/>
          </a:xfrm>
          <a:prstGeom prst="roundRect">
            <a:avLst/>
          </a:prstGeom>
          <a:solidFill>
            <a:srgbClr val="ffffff"/>
          </a:solidFill>
          <a:ln w="6350">
            <a:solidFill>
              <a:srgbClr val="dedede"/>
            </a:solidFill>
          </a:ln>
        </p:spPr>
      </p:sp>
      <p:sp>
        <p:nvSpPr>
          <p:cNvPr id="70" name="Shape 70"/>
          <p:cNvSpPr txBox="1"/>
          <p:nvPr/>
        </p:nvSpPr>
        <p:spPr>
          <a:xfrm>
            <a:off x="4184650" y="3994150"/>
            <a:ext cx="44450" cy="368300"/>
          </a:xfrm>
          <a:prstGeom prst="rect">
            <a:avLst/>
          </a:prstGeom>
          <a:solidFill>
            <a:srgbClr val="bfbfbf"/>
          </a:solidFill>
          <a:ln>
            <a:noFill/>
          </a:ln>
        </p:spPr>
      </p:sp>
      <p:sp>
        <p:nvSpPr>
          <p:cNvPr id="71" name="Text 71"/>
          <p:cNvSpPr txBox="1"/>
          <p:nvPr/>
        </p:nvSpPr>
        <p:spPr>
          <a:xfrm>
            <a:off x="4324350" y="4057650"/>
            <a:ext cx="7239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2-2</a:t>
            </a:r>
          </a:p>
        </p:txBody>
      </p:sp>
      <p:sp>
        <p:nvSpPr>
          <p:cNvPr id="72" name="Text 72"/>
          <p:cNvSpPr txBox="1"/>
          <p:nvPr/>
        </p:nvSpPr>
        <p:spPr>
          <a:xfrm>
            <a:off x="4324350" y="4203700"/>
            <a:ext cx="7239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73" name="Shape 73"/>
          <p:cNvSpPr txBox="1"/>
          <p:nvPr/>
        </p:nvSpPr>
        <p:spPr>
          <a:xfrm>
            <a:off x="4184650" y="4476750"/>
            <a:ext cx="1028700" cy="368300"/>
          </a:xfrm>
          <a:prstGeom prst="roundRect">
            <a:avLst/>
          </a:prstGeom>
          <a:solidFill>
            <a:srgbClr val="ffffff"/>
          </a:solidFill>
          <a:ln w="6350">
            <a:solidFill>
              <a:srgbClr val="dedede"/>
            </a:solidFill>
          </a:ln>
        </p:spPr>
      </p:sp>
      <p:sp>
        <p:nvSpPr>
          <p:cNvPr id="74" name="Shape 74"/>
          <p:cNvSpPr txBox="1"/>
          <p:nvPr/>
        </p:nvSpPr>
        <p:spPr>
          <a:xfrm>
            <a:off x="4184650" y="4476750"/>
            <a:ext cx="44450" cy="368300"/>
          </a:xfrm>
          <a:prstGeom prst="rect">
            <a:avLst/>
          </a:prstGeom>
          <a:solidFill>
            <a:srgbClr val="bfbfbf"/>
          </a:solidFill>
          <a:ln>
            <a:noFill/>
          </a:ln>
        </p:spPr>
      </p:sp>
      <p:sp>
        <p:nvSpPr>
          <p:cNvPr id="75" name="Text 75"/>
          <p:cNvSpPr txBox="1"/>
          <p:nvPr/>
        </p:nvSpPr>
        <p:spPr>
          <a:xfrm>
            <a:off x="4324350" y="4540250"/>
            <a:ext cx="7239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2-3</a:t>
            </a:r>
          </a:p>
        </p:txBody>
      </p:sp>
      <p:sp>
        <p:nvSpPr>
          <p:cNvPr id="76" name="Text 76"/>
          <p:cNvSpPr txBox="1"/>
          <p:nvPr/>
        </p:nvSpPr>
        <p:spPr>
          <a:xfrm>
            <a:off x="4324350" y="4686300"/>
            <a:ext cx="7239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77" name="Shape 77"/>
          <p:cNvSpPr txBox="1"/>
          <p:nvPr/>
        </p:nvSpPr>
        <p:spPr>
          <a:xfrm>
            <a:off x="5416550" y="3130550"/>
            <a:ext cx="1231900" cy="1873250"/>
          </a:xfrm>
          <a:prstGeom prst="roundRect">
            <a:avLst/>
          </a:prstGeom>
          <a:solidFill>
            <a:srgbClr val="f8f8f8"/>
          </a:solidFill>
          <a:ln w="6350">
            <a:solidFill>
              <a:srgbClr val="dedede"/>
            </a:solidFill>
          </a:ln>
        </p:spPr>
      </p:sp>
      <p:sp>
        <p:nvSpPr>
          <p:cNvPr id="78" name="Text 78"/>
          <p:cNvSpPr txBox="1"/>
          <p:nvPr/>
        </p:nvSpPr>
        <p:spPr>
          <a:xfrm>
            <a:off x="5530850" y="3257550"/>
            <a:ext cx="774700" cy="15875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契約更新</a:t>
            </a:r>
          </a:p>
        </p:txBody>
      </p:sp>
      <p:sp>
        <p:nvSpPr>
          <p:cNvPr id="79" name="Shape 79"/>
          <p:cNvSpPr txBox="1"/>
          <p:nvPr/>
        </p:nvSpPr>
        <p:spPr>
          <a:xfrm>
            <a:off x="6343650" y="3244850"/>
            <a:ext cx="203200" cy="165100"/>
          </a:xfrm>
          <a:prstGeom prst="roundRect">
            <a:avLst/>
          </a:prstGeom>
          <a:solidFill>
            <a:srgbClr val="ff1818"/>
          </a:solidFill>
          <a:ln w="6350">
            <a:solidFill>
              <a:srgbClr val="ff1818"/>
            </a:solidFill>
          </a:ln>
        </p:spPr>
      </p:sp>
      <p:sp>
        <p:nvSpPr>
          <p:cNvPr id="80" name="Shape 80"/>
          <p:cNvSpPr txBox="1"/>
          <p:nvPr/>
        </p:nvSpPr>
        <p:spPr>
          <a:xfrm>
            <a:off x="5518150" y="3511550"/>
            <a:ext cx="1028700" cy="368300"/>
          </a:xfrm>
          <a:prstGeom prst="roundRect">
            <a:avLst/>
          </a:prstGeom>
          <a:solidFill>
            <a:srgbClr val="ffffff"/>
          </a:solidFill>
          <a:ln w="6350">
            <a:solidFill>
              <a:srgbClr val="dedede"/>
            </a:solidFill>
          </a:ln>
        </p:spPr>
      </p:sp>
      <p:sp>
        <p:nvSpPr>
          <p:cNvPr id="81" name="Shape 81"/>
          <p:cNvSpPr txBox="1"/>
          <p:nvPr/>
        </p:nvSpPr>
        <p:spPr>
          <a:xfrm>
            <a:off x="5518150" y="3511550"/>
            <a:ext cx="44450" cy="368300"/>
          </a:xfrm>
          <a:prstGeom prst="rect">
            <a:avLst/>
          </a:prstGeom>
          <a:solidFill>
            <a:srgbClr val="ff1818"/>
          </a:solidFill>
          <a:ln>
            <a:noFill/>
          </a:ln>
        </p:spPr>
      </p:sp>
      <p:sp>
        <p:nvSpPr>
          <p:cNvPr id="82" name="Text 82"/>
          <p:cNvSpPr txBox="1"/>
          <p:nvPr/>
        </p:nvSpPr>
        <p:spPr>
          <a:xfrm>
            <a:off x="5657850" y="3575050"/>
            <a:ext cx="7239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3-1</a:t>
            </a:r>
          </a:p>
        </p:txBody>
      </p:sp>
      <p:sp>
        <p:nvSpPr>
          <p:cNvPr id="83" name="Text 83"/>
          <p:cNvSpPr txBox="1"/>
          <p:nvPr/>
        </p:nvSpPr>
        <p:spPr>
          <a:xfrm>
            <a:off x="5657850" y="3721100"/>
            <a:ext cx="7239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84" name="Shape 84"/>
          <p:cNvSpPr txBox="1"/>
          <p:nvPr/>
        </p:nvSpPr>
        <p:spPr>
          <a:xfrm>
            <a:off x="5518150" y="3994150"/>
            <a:ext cx="1028700" cy="368300"/>
          </a:xfrm>
          <a:prstGeom prst="roundRect">
            <a:avLst/>
          </a:prstGeom>
          <a:solidFill>
            <a:srgbClr val="ffffff"/>
          </a:solidFill>
          <a:ln w="6350">
            <a:solidFill>
              <a:srgbClr val="dedede"/>
            </a:solidFill>
          </a:ln>
        </p:spPr>
      </p:sp>
      <p:sp>
        <p:nvSpPr>
          <p:cNvPr id="85" name="Shape 85"/>
          <p:cNvSpPr txBox="1"/>
          <p:nvPr/>
        </p:nvSpPr>
        <p:spPr>
          <a:xfrm>
            <a:off x="5518150" y="3994150"/>
            <a:ext cx="44450" cy="368300"/>
          </a:xfrm>
          <a:prstGeom prst="rect">
            <a:avLst/>
          </a:prstGeom>
          <a:solidFill>
            <a:srgbClr val="bfbfbf"/>
          </a:solidFill>
          <a:ln>
            <a:noFill/>
          </a:ln>
        </p:spPr>
      </p:sp>
      <p:sp>
        <p:nvSpPr>
          <p:cNvPr id="86" name="Text 86"/>
          <p:cNvSpPr txBox="1"/>
          <p:nvPr/>
        </p:nvSpPr>
        <p:spPr>
          <a:xfrm>
            <a:off x="5657850" y="4057650"/>
            <a:ext cx="7239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3-2</a:t>
            </a:r>
          </a:p>
        </p:txBody>
      </p:sp>
      <p:sp>
        <p:nvSpPr>
          <p:cNvPr id="87" name="Text 87"/>
          <p:cNvSpPr txBox="1"/>
          <p:nvPr/>
        </p:nvSpPr>
        <p:spPr>
          <a:xfrm>
            <a:off x="5657850" y="4203700"/>
            <a:ext cx="7239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88" name="Shape 88"/>
          <p:cNvSpPr txBox="1"/>
          <p:nvPr/>
        </p:nvSpPr>
        <p:spPr>
          <a:xfrm>
            <a:off x="5518150" y="4476750"/>
            <a:ext cx="1028700" cy="368300"/>
          </a:xfrm>
          <a:prstGeom prst="roundRect">
            <a:avLst/>
          </a:prstGeom>
          <a:solidFill>
            <a:srgbClr val="ffffff"/>
          </a:solidFill>
          <a:ln w="6350">
            <a:solidFill>
              <a:srgbClr val="dedede"/>
            </a:solidFill>
          </a:ln>
        </p:spPr>
      </p:sp>
      <p:sp>
        <p:nvSpPr>
          <p:cNvPr id="89" name="Shape 89"/>
          <p:cNvSpPr txBox="1"/>
          <p:nvPr/>
        </p:nvSpPr>
        <p:spPr>
          <a:xfrm>
            <a:off x="5518150" y="4476750"/>
            <a:ext cx="44450" cy="368300"/>
          </a:xfrm>
          <a:prstGeom prst="rect">
            <a:avLst/>
          </a:prstGeom>
          <a:solidFill>
            <a:srgbClr val="bfbfbf"/>
          </a:solidFill>
          <a:ln>
            <a:noFill/>
          </a:ln>
        </p:spPr>
      </p:sp>
      <p:sp>
        <p:nvSpPr>
          <p:cNvPr id="90" name="Text 90"/>
          <p:cNvSpPr txBox="1"/>
          <p:nvPr/>
        </p:nvSpPr>
        <p:spPr>
          <a:xfrm>
            <a:off x="5657850" y="4540250"/>
            <a:ext cx="7239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3-3</a:t>
            </a:r>
          </a:p>
        </p:txBody>
      </p:sp>
      <p:sp>
        <p:nvSpPr>
          <p:cNvPr id="91" name="Text 91"/>
          <p:cNvSpPr txBox="1"/>
          <p:nvPr/>
        </p:nvSpPr>
        <p:spPr>
          <a:xfrm>
            <a:off x="5657850" y="4686300"/>
            <a:ext cx="7239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92" name="Shape 92"/>
          <p:cNvSpPr txBox="1"/>
          <p:nvPr/>
        </p:nvSpPr>
        <p:spPr>
          <a:xfrm>
            <a:off x="6750050" y="3130550"/>
            <a:ext cx="1231900" cy="1873250"/>
          </a:xfrm>
          <a:prstGeom prst="roundRect">
            <a:avLst/>
          </a:prstGeom>
          <a:solidFill>
            <a:srgbClr val="f8f8f8"/>
          </a:solidFill>
          <a:ln w="6350">
            <a:solidFill>
              <a:srgbClr val="dedede"/>
            </a:solidFill>
          </a:ln>
        </p:spPr>
      </p:sp>
      <p:sp>
        <p:nvSpPr>
          <p:cNvPr id="93" name="Text 93"/>
          <p:cNvSpPr txBox="1"/>
          <p:nvPr/>
        </p:nvSpPr>
        <p:spPr>
          <a:xfrm>
            <a:off x="6864350" y="3257550"/>
            <a:ext cx="774700" cy="15875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請求確認</a:t>
            </a:r>
          </a:p>
        </p:txBody>
      </p:sp>
      <p:sp>
        <p:nvSpPr>
          <p:cNvPr id="94" name="Shape 94"/>
          <p:cNvSpPr txBox="1"/>
          <p:nvPr/>
        </p:nvSpPr>
        <p:spPr>
          <a:xfrm>
            <a:off x="7677150" y="3244850"/>
            <a:ext cx="203200" cy="165100"/>
          </a:xfrm>
          <a:prstGeom prst="roundRect">
            <a:avLst/>
          </a:prstGeom>
          <a:solidFill>
            <a:srgbClr val="b9bcc2"/>
          </a:solidFill>
          <a:ln w="6350">
            <a:solidFill>
              <a:srgbClr val="b9bcc2"/>
            </a:solidFill>
          </a:ln>
        </p:spPr>
      </p:sp>
      <p:sp>
        <p:nvSpPr>
          <p:cNvPr id="95" name="Shape 95"/>
          <p:cNvSpPr txBox="1"/>
          <p:nvPr/>
        </p:nvSpPr>
        <p:spPr>
          <a:xfrm>
            <a:off x="6851650" y="3511550"/>
            <a:ext cx="1028700" cy="368300"/>
          </a:xfrm>
          <a:prstGeom prst="roundRect">
            <a:avLst/>
          </a:prstGeom>
          <a:solidFill>
            <a:srgbClr val="ffffff"/>
          </a:solidFill>
          <a:ln w="6350">
            <a:solidFill>
              <a:srgbClr val="dedede"/>
            </a:solidFill>
          </a:ln>
        </p:spPr>
      </p:sp>
      <p:sp>
        <p:nvSpPr>
          <p:cNvPr id="96" name="Shape 96"/>
          <p:cNvSpPr txBox="1"/>
          <p:nvPr/>
        </p:nvSpPr>
        <p:spPr>
          <a:xfrm>
            <a:off x="6851650" y="3511550"/>
            <a:ext cx="44450" cy="368300"/>
          </a:xfrm>
          <a:prstGeom prst="rect">
            <a:avLst/>
          </a:prstGeom>
          <a:solidFill>
            <a:srgbClr val="ff1818"/>
          </a:solidFill>
          <a:ln>
            <a:noFill/>
          </a:ln>
        </p:spPr>
      </p:sp>
      <p:sp>
        <p:nvSpPr>
          <p:cNvPr id="97" name="Text 97"/>
          <p:cNvSpPr txBox="1"/>
          <p:nvPr/>
        </p:nvSpPr>
        <p:spPr>
          <a:xfrm>
            <a:off x="6991350" y="3575050"/>
            <a:ext cx="7239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4-1</a:t>
            </a:r>
          </a:p>
        </p:txBody>
      </p:sp>
      <p:sp>
        <p:nvSpPr>
          <p:cNvPr id="98" name="Text 98"/>
          <p:cNvSpPr txBox="1"/>
          <p:nvPr/>
        </p:nvSpPr>
        <p:spPr>
          <a:xfrm>
            <a:off x="6991350" y="3721100"/>
            <a:ext cx="7239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99" name="Shape 99"/>
          <p:cNvSpPr txBox="1"/>
          <p:nvPr/>
        </p:nvSpPr>
        <p:spPr>
          <a:xfrm>
            <a:off x="6851650" y="3994150"/>
            <a:ext cx="1028700" cy="368300"/>
          </a:xfrm>
          <a:prstGeom prst="roundRect">
            <a:avLst/>
          </a:prstGeom>
          <a:solidFill>
            <a:srgbClr val="ffffff"/>
          </a:solidFill>
          <a:ln w="6350">
            <a:solidFill>
              <a:srgbClr val="dedede"/>
            </a:solidFill>
          </a:ln>
        </p:spPr>
      </p:sp>
      <p:sp>
        <p:nvSpPr>
          <p:cNvPr id="100" name="Shape 100"/>
          <p:cNvSpPr txBox="1"/>
          <p:nvPr/>
        </p:nvSpPr>
        <p:spPr>
          <a:xfrm>
            <a:off x="6851650" y="3994150"/>
            <a:ext cx="44450" cy="368300"/>
          </a:xfrm>
          <a:prstGeom prst="rect">
            <a:avLst/>
          </a:prstGeom>
          <a:solidFill>
            <a:srgbClr val="bfbfbf"/>
          </a:solidFill>
          <a:ln>
            <a:noFill/>
          </a:ln>
        </p:spPr>
      </p:sp>
      <p:sp>
        <p:nvSpPr>
          <p:cNvPr id="101" name="Text 101"/>
          <p:cNvSpPr txBox="1"/>
          <p:nvPr/>
        </p:nvSpPr>
        <p:spPr>
          <a:xfrm>
            <a:off x="6991350" y="4057650"/>
            <a:ext cx="7239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4-2</a:t>
            </a:r>
          </a:p>
        </p:txBody>
      </p:sp>
      <p:sp>
        <p:nvSpPr>
          <p:cNvPr id="102" name="Text 102"/>
          <p:cNvSpPr txBox="1"/>
          <p:nvPr/>
        </p:nvSpPr>
        <p:spPr>
          <a:xfrm>
            <a:off x="6991350" y="4203700"/>
            <a:ext cx="7239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103" name="Shape 103"/>
          <p:cNvSpPr txBox="1"/>
          <p:nvPr/>
        </p:nvSpPr>
        <p:spPr>
          <a:xfrm>
            <a:off x="6851650" y="4476750"/>
            <a:ext cx="1028700" cy="368300"/>
          </a:xfrm>
          <a:prstGeom prst="roundRect">
            <a:avLst/>
          </a:prstGeom>
          <a:solidFill>
            <a:srgbClr val="ffffff"/>
          </a:solidFill>
          <a:ln w="6350">
            <a:solidFill>
              <a:srgbClr val="dedede"/>
            </a:solidFill>
          </a:ln>
        </p:spPr>
      </p:sp>
      <p:sp>
        <p:nvSpPr>
          <p:cNvPr id="104" name="Shape 104"/>
          <p:cNvSpPr txBox="1"/>
          <p:nvPr/>
        </p:nvSpPr>
        <p:spPr>
          <a:xfrm>
            <a:off x="6851650" y="4476750"/>
            <a:ext cx="44450" cy="368300"/>
          </a:xfrm>
          <a:prstGeom prst="rect">
            <a:avLst/>
          </a:prstGeom>
          <a:solidFill>
            <a:srgbClr val="bfbfbf"/>
          </a:solidFill>
          <a:ln>
            <a:noFill/>
          </a:ln>
        </p:spPr>
      </p:sp>
      <p:sp>
        <p:nvSpPr>
          <p:cNvPr id="105" name="Text 105"/>
          <p:cNvSpPr txBox="1"/>
          <p:nvPr/>
        </p:nvSpPr>
        <p:spPr>
          <a:xfrm>
            <a:off x="6991350" y="4540250"/>
            <a:ext cx="7239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4-3</a:t>
            </a:r>
          </a:p>
        </p:txBody>
      </p:sp>
      <p:sp>
        <p:nvSpPr>
          <p:cNvPr id="106" name="Text 106"/>
          <p:cNvSpPr txBox="1"/>
          <p:nvPr/>
        </p:nvSpPr>
        <p:spPr>
          <a:xfrm>
            <a:off x="6991350" y="4686300"/>
            <a:ext cx="7239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107" name="Shape 107"/>
          <p:cNvSpPr txBox="1"/>
          <p:nvPr/>
        </p:nvSpPr>
        <p:spPr>
          <a:xfrm>
            <a:off x="8083550" y="3130550"/>
            <a:ext cx="1231900" cy="1873250"/>
          </a:xfrm>
          <a:prstGeom prst="roundRect">
            <a:avLst/>
          </a:prstGeom>
          <a:solidFill>
            <a:srgbClr val="f8f8f8"/>
          </a:solidFill>
          <a:ln w="6350">
            <a:solidFill>
              <a:srgbClr val="dedede"/>
            </a:solidFill>
          </a:ln>
        </p:spPr>
      </p:sp>
      <p:sp>
        <p:nvSpPr>
          <p:cNvPr id="108" name="Text 108"/>
          <p:cNvSpPr txBox="1"/>
          <p:nvPr/>
        </p:nvSpPr>
        <p:spPr>
          <a:xfrm>
            <a:off x="8197850" y="3257550"/>
            <a:ext cx="774700" cy="15875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入居対応</a:t>
            </a:r>
          </a:p>
        </p:txBody>
      </p:sp>
      <p:sp>
        <p:nvSpPr>
          <p:cNvPr id="109" name="Shape 109"/>
          <p:cNvSpPr txBox="1"/>
          <p:nvPr/>
        </p:nvSpPr>
        <p:spPr>
          <a:xfrm>
            <a:off x="9010650" y="3244850"/>
            <a:ext cx="203200" cy="165100"/>
          </a:xfrm>
          <a:prstGeom prst="roundRect">
            <a:avLst/>
          </a:prstGeom>
          <a:solidFill>
            <a:srgbClr val="b9bcc2"/>
          </a:solidFill>
          <a:ln w="6350">
            <a:solidFill>
              <a:srgbClr val="b9bcc2"/>
            </a:solidFill>
          </a:ln>
        </p:spPr>
      </p:sp>
      <p:sp>
        <p:nvSpPr>
          <p:cNvPr id="110" name="Shape 110"/>
          <p:cNvSpPr txBox="1"/>
          <p:nvPr/>
        </p:nvSpPr>
        <p:spPr>
          <a:xfrm>
            <a:off x="8185150" y="3511550"/>
            <a:ext cx="1028700" cy="368300"/>
          </a:xfrm>
          <a:prstGeom prst="roundRect">
            <a:avLst/>
          </a:prstGeom>
          <a:solidFill>
            <a:srgbClr val="ffffff"/>
          </a:solidFill>
          <a:ln w="6350">
            <a:solidFill>
              <a:srgbClr val="dedede"/>
            </a:solidFill>
          </a:ln>
        </p:spPr>
      </p:sp>
      <p:sp>
        <p:nvSpPr>
          <p:cNvPr id="111" name="Shape 111"/>
          <p:cNvSpPr txBox="1"/>
          <p:nvPr/>
        </p:nvSpPr>
        <p:spPr>
          <a:xfrm>
            <a:off x="8185150" y="3511550"/>
            <a:ext cx="44450" cy="368300"/>
          </a:xfrm>
          <a:prstGeom prst="rect">
            <a:avLst/>
          </a:prstGeom>
          <a:solidFill>
            <a:srgbClr val="ff1818"/>
          </a:solidFill>
          <a:ln>
            <a:noFill/>
          </a:ln>
        </p:spPr>
      </p:sp>
      <p:sp>
        <p:nvSpPr>
          <p:cNvPr id="112" name="Text 112"/>
          <p:cNvSpPr txBox="1"/>
          <p:nvPr/>
        </p:nvSpPr>
        <p:spPr>
          <a:xfrm>
            <a:off x="8324850" y="3575050"/>
            <a:ext cx="7239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5-1</a:t>
            </a:r>
          </a:p>
        </p:txBody>
      </p:sp>
      <p:sp>
        <p:nvSpPr>
          <p:cNvPr id="113" name="Text 113"/>
          <p:cNvSpPr txBox="1"/>
          <p:nvPr/>
        </p:nvSpPr>
        <p:spPr>
          <a:xfrm>
            <a:off x="8324850" y="3721100"/>
            <a:ext cx="7239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114" name="Shape 114"/>
          <p:cNvSpPr txBox="1"/>
          <p:nvPr/>
        </p:nvSpPr>
        <p:spPr>
          <a:xfrm>
            <a:off x="8185150" y="3994150"/>
            <a:ext cx="1028700" cy="368300"/>
          </a:xfrm>
          <a:prstGeom prst="roundRect">
            <a:avLst/>
          </a:prstGeom>
          <a:solidFill>
            <a:srgbClr val="ffffff"/>
          </a:solidFill>
          <a:ln w="6350">
            <a:solidFill>
              <a:srgbClr val="dedede"/>
            </a:solidFill>
          </a:ln>
        </p:spPr>
      </p:sp>
      <p:sp>
        <p:nvSpPr>
          <p:cNvPr id="115" name="Shape 115"/>
          <p:cNvSpPr txBox="1"/>
          <p:nvPr/>
        </p:nvSpPr>
        <p:spPr>
          <a:xfrm>
            <a:off x="8185150" y="3994150"/>
            <a:ext cx="44450" cy="368300"/>
          </a:xfrm>
          <a:prstGeom prst="rect">
            <a:avLst/>
          </a:prstGeom>
          <a:solidFill>
            <a:srgbClr val="bfbfbf"/>
          </a:solidFill>
          <a:ln>
            <a:noFill/>
          </a:ln>
        </p:spPr>
      </p:sp>
      <p:sp>
        <p:nvSpPr>
          <p:cNvPr id="116" name="Text 116"/>
          <p:cNvSpPr txBox="1"/>
          <p:nvPr/>
        </p:nvSpPr>
        <p:spPr>
          <a:xfrm>
            <a:off x="8324850" y="4057650"/>
            <a:ext cx="7239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5-2</a:t>
            </a:r>
          </a:p>
        </p:txBody>
      </p:sp>
      <p:sp>
        <p:nvSpPr>
          <p:cNvPr id="117" name="Text 117"/>
          <p:cNvSpPr txBox="1"/>
          <p:nvPr/>
        </p:nvSpPr>
        <p:spPr>
          <a:xfrm>
            <a:off x="8324850" y="4203700"/>
            <a:ext cx="7239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118" name="Shape 118"/>
          <p:cNvSpPr txBox="1"/>
          <p:nvPr/>
        </p:nvSpPr>
        <p:spPr>
          <a:xfrm>
            <a:off x="8185150" y="4476750"/>
            <a:ext cx="1028700" cy="368300"/>
          </a:xfrm>
          <a:prstGeom prst="roundRect">
            <a:avLst/>
          </a:prstGeom>
          <a:solidFill>
            <a:srgbClr val="ffffff"/>
          </a:solidFill>
          <a:ln w="6350">
            <a:solidFill>
              <a:srgbClr val="dedede"/>
            </a:solidFill>
          </a:ln>
        </p:spPr>
      </p:sp>
      <p:sp>
        <p:nvSpPr>
          <p:cNvPr id="119" name="Shape 119"/>
          <p:cNvSpPr txBox="1"/>
          <p:nvPr/>
        </p:nvSpPr>
        <p:spPr>
          <a:xfrm>
            <a:off x="8185150" y="4476750"/>
            <a:ext cx="44450" cy="368300"/>
          </a:xfrm>
          <a:prstGeom prst="rect">
            <a:avLst/>
          </a:prstGeom>
          <a:solidFill>
            <a:srgbClr val="bfbfbf"/>
          </a:solidFill>
          <a:ln>
            <a:noFill/>
          </a:ln>
        </p:spPr>
      </p:sp>
      <p:sp>
        <p:nvSpPr>
          <p:cNvPr id="120" name="Text 120"/>
          <p:cNvSpPr txBox="1"/>
          <p:nvPr/>
        </p:nvSpPr>
        <p:spPr>
          <a:xfrm>
            <a:off x="8324850" y="4540250"/>
            <a:ext cx="7239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5-3</a:t>
            </a:r>
          </a:p>
        </p:txBody>
      </p:sp>
      <p:sp>
        <p:nvSpPr>
          <p:cNvPr id="121" name="Text 121"/>
          <p:cNvSpPr txBox="1"/>
          <p:nvPr/>
        </p:nvSpPr>
        <p:spPr>
          <a:xfrm>
            <a:off x="8324850" y="4686300"/>
            <a:ext cx="7239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122" name="Shape 122"/>
          <p:cNvSpPr txBox="1"/>
          <p:nvPr/>
        </p:nvSpPr>
        <p:spPr>
          <a:xfrm>
            <a:off x="2749550" y="5194300"/>
            <a:ext cx="3613150" cy="825500"/>
          </a:xfrm>
          <a:prstGeom prst="roundRect">
            <a:avLst/>
          </a:prstGeom>
          <a:solidFill>
            <a:srgbClr val="ffffff"/>
          </a:solidFill>
          <a:ln w="6350">
            <a:solidFill>
              <a:srgbClr val="dedede"/>
            </a:solidFill>
          </a:ln>
        </p:spPr>
      </p:sp>
      <p:sp>
        <p:nvSpPr>
          <p:cNvPr id="123" name="Text 123"/>
          <p:cNvSpPr txBox="1"/>
          <p:nvPr/>
        </p:nvSpPr>
        <p:spPr>
          <a:xfrm>
            <a:off x="2889250" y="5321300"/>
            <a:ext cx="1397000" cy="15240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直近対応履歴</a:t>
            </a:r>
          </a:p>
        </p:txBody>
      </p:sp>
      <p:sp>
        <p:nvSpPr>
          <p:cNvPr id="124" name="Shape 124"/>
          <p:cNvSpPr txBox="1"/>
          <p:nvPr/>
        </p:nvSpPr>
        <p:spPr>
          <a:xfrm>
            <a:off x="6559550" y="5194300"/>
            <a:ext cx="2755900" cy="825500"/>
          </a:xfrm>
          <a:prstGeom prst="roundRect">
            <a:avLst/>
          </a:prstGeom>
          <a:solidFill>
            <a:srgbClr val="ffffff"/>
          </a:solidFill>
          <a:ln w="6350">
            <a:solidFill>
              <a:srgbClr val="dedede"/>
            </a:solidFill>
          </a:ln>
        </p:spPr>
      </p:sp>
      <p:sp>
        <p:nvSpPr>
          <p:cNvPr id="125" name="Shape 125"/>
          <p:cNvSpPr txBox="1"/>
          <p:nvPr/>
        </p:nvSpPr>
        <p:spPr>
          <a:xfrm>
            <a:off x="6889750" y="5403850"/>
            <a:ext cx="444500" cy="444500"/>
          </a:xfrm>
          <a:prstGeom prst="ellipse">
            <a:avLst/>
          </a:prstGeom>
          <a:solidFill>
            <a:srgbClr val="ff1818"/>
          </a:solidFill>
          <a:ln w="6350">
            <a:solidFill>
              <a:srgbClr val="ff1818"/>
            </a:solidFill>
          </a:ln>
        </p:spPr>
      </p:sp>
      <p:sp>
        <p:nvSpPr>
          <p:cNvPr id="126" name="Shape 126"/>
          <p:cNvSpPr txBox="1"/>
          <p:nvPr/>
        </p:nvSpPr>
        <p:spPr>
          <a:xfrm>
            <a:off x="6985000" y="5518150"/>
            <a:ext cx="228600" cy="228600"/>
          </a:xfrm>
          <a:prstGeom prst="ellipse">
            <a:avLst/>
          </a:prstGeom>
          <a:solidFill>
            <a:srgbClr val="ffffff"/>
          </a:solidFill>
          <a:ln w="6350">
            <a:solidFill>
              <a:srgbClr val="ffffff"/>
            </a:solidFill>
          </a:ln>
        </p:spPr>
      </p:sp>
      <p:sp>
        <p:nvSpPr>
          <p:cNvPr id="127" name="Text 127"/>
          <p:cNvSpPr txBox="1"/>
          <p:nvPr/>
        </p:nvSpPr>
        <p:spPr>
          <a:xfrm>
            <a:off x="7480300" y="5403850"/>
            <a:ext cx="1333500" cy="16510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対応種別の内訳</a:t>
            </a:r>
          </a:p>
        </p:txBody>
      </p:sp>
      <p:sp>
        <p:nvSpPr>
          <p:cNvPr id="128" name="Shape 128"/>
          <p:cNvSpPr txBox="1"/>
          <p:nvPr/>
        </p:nvSpPr>
        <p:spPr>
          <a:xfrm>
            <a:off x="2901950" y="5575300"/>
            <a:ext cx="76200" cy="76200"/>
          </a:xfrm>
          <a:prstGeom prst="ellipse">
            <a:avLst/>
          </a:prstGeom>
          <a:solidFill>
            <a:srgbClr val="ff1818"/>
          </a:solidFill>
          <a:ln>
            <a:noFill/>
          </a:ln>
        </p:spPr>
      </p:sp>
      <p:sp>
        <p:nvSpPr>
          <p:cNvPr id="129" name="Text 129"/>
          <p:cNvSpPr txBox="1"/>
          <p:nvPr/>
        </p:nvSpPr>
        <p:spPr>
          <a:xfrm>
            <a:off x="3079750" y="5543550"/>
            <a:ext cx="1016000" cy="139700"/>
          </a:xfrm>
          <a:prstGeom prst="rect">
            <a:avLst/>
          </a:prstGeom>
          <a:noFill/>
          <a:ln>
            <a:noFill/>
          </a:ln>
        </p:spPr>
        <p:txBody>
          <a:bodyPr wrap="square" anchor="t" lIns="12700" tIns="12700" rIns="12700" bIns="12700"/>
          <a:lstStyle/>
          <a:p>
            <a:pPr algn="l"/>
            <a:r>
              <a:rPr lang="ja-JP" sz="1200">
                <a:solidFill>
                  <a:srgbClr val="666666"/>
                </a:solidFill>
                <a:latin typeface="Yu Gothic"/>
                <a:ea typeface="Yu Gothic"/>
              </a:rPr>
              <a:t>退去立会い</a:t>
            </a:r>
          </a:p>
        </p:txBody>
      </p:sp>
      <p:sp>
        <p:nvSpPr>
          <p:cNvPr id="130" name="Shape 130"/>
          <p:cNvSpPr txBox="1"/>
          <p:nvPr/>
        </p:nvSpPr>
        <p:spPr>
          <a:xfrm>
            <a:off x="4686300" y="5600700"/>
            <a:ext cx="571500" cy="38100"/>
          </a:xfrm>
          <a:prstGeom prst="rect">
            <a:avLst/>
          </a:prstGeom>
          <a:solidFill>
            <a:srgbClr val="d7d7d7"/>
          </a:solidFill>
          <a:ln>
            <a:noFill/>
          </a:ln>
        </p:spPr>
      </p:sp>
      <p:sp>
        <p:nvSpPr>
          <p:cNvPr id="131" name="Shape 131"/>
          <p:cNvSpPr txBox="1"/>
          <p:nvPr/>
        </p:nvSpPr>
        <p:spPr>
          <a:xfrm>
            <a:off x="5543550" y="5600700"/>
            <a:ext cx="444500" cy="38100"/>
          </a:xfrm>
          <a:prstGeom prst="rect">
            <a:avLst/>
          </a:prstGeom>
          <a:solidFill>
            <a:srgbClr val="d7d7d7"/>
          </a:solidFill>
          <a:ln>
            <a:noFill/>
          </a:ln>
        </p:spPr>
      </p:sp>
      <p:sp>
        <p:nvSpPr>
          <p:cNvPr id="132" name="Shape 132"/>
          <p:cNvSpPr txBox="1"/>
          <p:nvPr/>
        </p:nvSpPr>
        <p:spPr>
          <a:xfrm>
            <a:off x="2901950" y="5727700"/>
            <a:ext cx="76200" cy="76200"/>
          </a:xfrm>
          <a:prstGeom prst="ellipse">
            <a:avLst/>
          </a:prstGeom>
          <a:solidFill>
            <a:srgbClr val="a9a9a9"/>
          </a:solidFill>
          <a:ln>
            <a:noFill/>
          </a:ln>
        </p:spPr>
      </p:sp>
      <p:sp>
        <p:nvSpPr>
          <p:cNvPr id="133" name="Text 133"/>
          <p:cNvSpPr txBox="1"/>
          <p:nvPr/>
        </p:nvSpPr>
        <p:spPr>
          <a:xfrm>
            <a:off x="3079750" y="5695950"/>
            <a:ext cx="1016000" cy="139700"/>
          </a:xfrm>
          <a:prstGeom prst="rect">
            <a:avLst/>
          </a:prstGeom>
          <a:noFill/>
          <a:ln>
            <a:noFill/>
          </a:ln>
        </p:spPr>
        <p:txBody>
          <a:bodyPr wrap="square" anchor="t" lIns="12700" tIns="12700" rIns="12700" bIns="12700"/>
          <a:lstStyle/>
          <a:p>
            <a:pPr algn="l"/>
            <a:r>
              <a:rPr lang="ja-JP" sz="1200">
                <a:solidFill>
                  <a:srgbClr val="666666"/>
                </a:solidFill>
                <a:latin typeface="Yu Gothic"/>
                <a:ea typeface="Yu Gothic"/>
              </a:rPr>
              <a:t>見積確認</a:t>
            </a:r>
          </a:p>
        </p:txBody>
      </p:sp>
      <p:sp>
        <p:nvSpPr>
          <p:cNvPr id="134" name="Shape 134"/>
          <p:cNvSpPr txBox="1"/>
          <p:nvPr/>
        </p:nvSpPr>
        <p:spPr>
          <a:xfrm>
            <a:off x="4686300" y="5753100"/>
            <a:ext cx="571500" cy="38100"/>
          </a:xfrm>
          <a:prstGeom prst="rect">
            <a:avLst/>
          </a:prstGeom>
          <a:solidFill>
            <a:srgbClr val="d7d7d7"/>
          </a:solidFill>
          <a:ln>
            <a:noFill/>
          </a:ln>
        </p:spPr>
      </p:sp>
      <p:sp>
        <p:nvSpPr>
          <p:cNvPr id="135" name="Shape 135"/>
          <p:cNvSpPr txBox="1"/>
          <p:nvPr/>
        </p:nvSpPr>
        <p:spPr>
          <a:xfrm>
            <a:off x="5543550" y="5753100"/>
            <a:ext cx="444500" cy="38100"/>
          </a:xfrm>
          <a:prstGeom prst="rect">
            <a:avLst/>
          </a:prstGeom>
          <a:solidFill>
            <a:srgbClr val="d7d7d7"/>
          </a:solidFill>
          <a:ln>
            <a:noFill/>
          </a:ln>
        </p:spPr>
      </p:sp>
      <p:sp>
        <p:nvSpPr>
          <p:cNvPr id="136" name="Shape 136"/>
          <p:cNvSpPr txBox="1"/>
          <p:nvPr/>
        </p:nvSpPr>
        <p:spPr>
          <a:xfrm>
            <a:off x="2901950" y="5880100"/>
            <a:ext cx="76200" cy="76200"/>
          </a:xfrm>
          <a:prstGeom prst="ellipse">
            <a:avLst/>
          </a:prstGeom>
          <a:solidFill>
            <a:srgbClr val="a9a9a9"/>
          </a:solidFill>
          <a:ln>
            <a:noFill/>
          </a:ln>
        </p:spPr>
      </p:sp>
      <p:sp>
        <p:nvSpPr>
          <p:cNvPr id="137" name="Text 137"/>
          <p:cNvSpPr txBox="1"/>
          <p:nvPr/>
        </p:nvSpPr>
        <p:spPr>
          <a:xfrm>
            <a:off x="3079750" y="5848350"/>
            <a:ext cx="1016000" cy="139700"/>
          </a:xfrm>
          <a:prstGeom prst="rect">
            <a:avLst/>
          </a:prstGeom>
          <a:noFill/>
          <a:ln>
            <a:noFill/>
          </a:ln>
        </p:spPr>
        <p:txBody>
          <a:bodyPr wrap="square" anchor="t" lIns="12700" tIns="12700" rIns="12700" bIns="12700"/>
          <a:lstStyle/>
          <a:p>
            <a:pPr algn="l"/>
            <a:r>
              <a:rPr lang="ja-JP" sz="1200">
                <a:solidFill>
                  <a:srgbClr val="666666"/>
                </a:solidFill>
                <a:latin typeface="Yu Gothic"/>
                <a:ea typeface="Yu Gothic"/>
              </a:rPr>
              <a:t>契約更新</a:t>
            </a:r>
          </a:p>
        </p:txBody>
      </p:sp>
      <p:sp>
        <p:nvSpPr>
          <p:cNvPr id="138" name="Shape 138"/>
          <p:cNvSpPr txBox="1"/>
          <p:nvPr/>
        </p:nvSpPr>
        <p:spPr>
          <a:xfrm>
            <a:off x="4686300" y="5905500"/>
            <a:ext cx="571500" cy="38100"/>
          </a:xfrm>
          <a:prstGeom prst="rect">
            <a:avLst/>
          </a:prstGeom>
          <a:solidFill>
            <a:srgbClr val="d7d7d7"/>
          </a:solidFill>
          <a:ln>
            <a:noFill/>
          </a:ln>
        </p:spPr>
      </p:sp>
      <p:sp>
        <p:nvSpPr>
          <p:cNvPr id="139" name="Shape 139"/>
          <p:cNvSpPr txBox="1"/>
          <p:nvPr/>
        </p:nvSpPr>
        <p:spPr>
          <a:xfrm>
            <a:off x="5543550" y="5905500"/>
            <a:ext cx="444500" cy="38100"/>
          </a:xfrm>
          <a:prstGeom prst="rect">
            <a:avLst/>
          </a:prstGeom>
          <a:solidFill>
            <a:srgbClr val="d7d7d7"/>
          </a:solidFill>
          <a:ln>
            <a:noFill/>
          </a:ln>
        </p:spPr>
      </p:sp>
      <p:sp>
        <p:nvSpPr>
          <p:cNvPr id="140" name="Shape 140"/>
          <p:cNvSpPr txBox="1"/>
          <p:nvPr/>
        </p:nvSpPr>
        <p:spPr>
          <a:xfrm>
            <a:off x="9842500" y="1651000"/>
            <a:ext cx="1905000" cy="4381500"/>
          </a:xfrm>
          <a:prstGeom prst="roundRect">
            <a:avLst/>
          </a:prstGeom>
          <a:solidFill>
            <a:srgbClr val="ffffff"/>
          </a:solidFill>
          <a:ln w="6350">
            <a:solidFill>
              <a:srgbClr val="dedede"/>
            </a:solidFill>
          </a:ln>
        </p:spPr>
      </p:sp>
      <p:sp>
        <p:nvSpPr>
          <p:cNvPr id="141" name="Text 141"/>
          <p:cNvSpPr txBox="1"/>
          <p:nvPr/>
        </p:nvSpPr>
        <p:spPr>
          <a:xfrm>
            <a:off x="10096500" y="1892300"/>
            <a:ext cx="1143000" cy="190500"/>
          </a:xfrm>
          <a:prstGeom prst="rect">
            <a:avLst/>
          </a:prstGeom>
          <a:noFill/>
          <a:ln>
            <a:noFill/>
          </a:ln>
        </p:spPr>
        <p:txBody>
          <a:bodyPr wrap="square" anchor="t" lIns="12700" tIns="12700" rIns="12700" bIns="12700"/>
          <a:lstStyle/>
          <a:p>
            <a:pPr algn="l"/>
            <a:r>
              <a:rPr lang="ja-JP" sz="2200" b="1">
                <a:solidFill>
                  <a:srgbClr val="ff1818"/>
                </a:solidFill>
                <a:latin typeface="Yu Gothic"/>
                <a:ea typeface="Yu Gothic"/>
              </a:rPr>
              <a:t>主な機能</a:t>
            </a:r>
          </a:p>
        </p:txBody>
      </p:sp>
      <p:sp>
        <p:nvSpPr>
          <p:cNvPr id="142" name="Shape 142"/>
          <p:cNvSpPr txBox="1"/>
          <p:nvPr/>
        </p:nvSpPr>
        <p:spPr>
          <a:xfrm>
            <a:off x="10064750" y="2413000"/>
            <a:ext cx="482600" cy="482600"/>
          </a:xfrm>
          <a:prstGeom prst="ellipse">
            <a:avLst/>
          </a:prstGeom>
          <a:solidFill>
            <a:srgbClr val="ffeaea"/>
          </a:solidFill>
          <a:ln w="6350">
            <a:solidFill>
              <a:srgbClr val="ffeaea"/>
            </a:solidFill>
          </a:ln>
        </p:spPr>
      </p:sp>
      <p:sp>
        <p:nvSpPr>
          <p:cNvPr id="143" name="Text 143"/>
          <p:cNvSpPr txBox="1"/>
          <p:nvPr/>
        </p:nvSpPr>
        <p:spPr>
          <a:xfrm>
            <a:off x="10191750" y="2501900"/>
            <a:ext cx="228600" cy="190500"/>
          </a:xfrm>
          <a:prstGeom prst="rect">
            <a:avLst/>
          </a:prstGeom>
          <a:noFill/>
          <a:ln>
            <a:noFill/>
          </a:ln>
        </p:spPr>
        <p:txBody>
          <a:bodyPr wrap="square" anchor="t" lIns="12700" tIns="12700" rIns="12700" bIns="12700"/>
          <a:lstStyle/>
          <a:p>
            <a:pPr algn="c"/>
            <a:r>
              <a:rPr lang="ja-JP" sz="3000" b="1">
                <a:solidFill>
                  <a:srgbClr val="ff1818"/>
                </a:solidFill>
                <a:latin typeface="Yu Gothic"/>
                <a:ea typeface="Yu Gothic"/>
              </a:rPr>
              <a:t>✓</a:t>
            </a:r>
          </a:p>
        </p:txBody>
      </p:sp>
      <p:sp>
        <p:nvSpPr>
          <p:cNvPr id="144" name="Text 144"/>
          <p:cNvSpPr txBox="1"/>
          <p:nvPr/>
        </p:nvSpPr>
        <p:spPr>
          <a:xfrm>
            <a:off x="10687050" y="2444750"/>
            <a:ext cx="1333500" cy="1778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期限・リスク</a:t>
            </a:r>
          </a:p>
        </p:txBody>
      </p:sp>
      <p:sp>
        <p:nvSpPr>
          <p:cNvPr id="145" name="Text 145"/>
          <p:cNvSpPr txBox="1"/>
          <p:nvPr/>
        </p:nvSpPr>
        <p:spPr>
          <a:xfrm>
            <a:off x="10687050" y="2698750"/>
            <a:ext cx="1333500" cy="215900"/>
          </a:xfrm>
          <a:prstGeom prst="rect">
            <a:avLst/>
          </a:prstGeom>
          <a:noFill/>
          <a:ln>
            <a:noFill/>
          </a:ln>
        </p:spPr>
        <p:txBody>
          <a:bodyPr wrap="square" anchor="t" lIns="12700" tIns="12700" rIns="12700" bIns="12700"/>
          <a:lstStyle/>
          <a:p>
            <a:pPr algn="l"/>
            <a:r>
              <a:rPr lang="ja-JP" sz="1400">
                <a:solidFill>
                  <a:srgbClr val="666666"/>
                </a:solidFill>
                <a:latin typeface="Yu Gothic"/>
                <a:ea typeface="Yu Gothic"/>
              </a:rPr>
              <a:t>本日期限と遅延リスクを可視化</a:t>
            </a:r>
          </a:p>
        </p:txBody>
      </p:sp>
      <p:sp>
        <p:nvSpPr>
          <p:cNvPr id="146" name="Shape 146"/>
          <p:cNvSpPr txBox="1"/>
          <p:nvPr/>
        </p:nvSpPr>
        <p:spPr>
          <a:xfrm>
            <a:off x="10064750" y="3429000"/>
            <a:ext cx="482600" cy="482600"/>
          </a:xfrm>
          <a:prstGeom prst="ellipse">
            <a:avLst/>
          </a:prstGeom>
          <a:solidFill>
            <a:srgbClr val="ffeaea"/>
          </a:solidFill>
          <a:ln w="6350">
            <a:solidFill>
              <a:srgbClr val="ffeaea"/>
            </a:solidFill>
          </a:ln>
        </p:spPr>
      </p:sp>
      <p:sp>
        <p:nvSpPr>
          <p:cNvPr id="147" name="Text 147"/>
          <p:cNvSpPr txBox="1"/>
          <p:nvPr/>
        </p:nvSpPr>
        <p:spPr>
          <a:xfrm>
            <a:off x="10191750" y="3517900"/>
            <a:ext cx="228600" cy="190500"/>
          </a:xfrm>
          <a:prstGeom prst="rect">
            <a:avLst/>
          </a:prstGeom>
          <a:noFill/>
          <a:ln>
            <a:noFill/>
          </a:ln>
        </p:spPr>
        <p:txBody>
          <a:bodyPr wrap="square" anchor="t" lIns="12700" tIns="12700" rIns="12700" bIns="12700"/>
          <a:lstStyle/>
          <a:p>
            <a:pPr algn="c"/>
            <a:r>
              <a:rPr lang="ja-JP" sz="3000" b="1">
                <a:solidFill>
                  <a:srgbClr val="ff1818"/>
                </a:solidFill>
                <a:latin typeface="Yu Gothic"/>
                <a:ea typeface="Yu Gothic"/>
              </a:rPr>
              <a:t>✓</a:t>
            </a:r>
          </a:p>
        </p:txBody>
      </p:sp>
      <p:sp>
        <p:nvSpPr>
          <p:cNvPr id="148" name="Text 148"/>
          <p:cNvSpPr txBox="1"/>
          <p:nvPr/>
        </p:nvSpPr>
        <p:spPr>
          <a:xfrm>
            <a:off x="10687050" y="3460750"/>
            <a:ext cx="1333500" cy="1778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絞り込み</a:t>
            </a:r>
          </a:p>
        </p:txBody>
      </p:sp>
      <p:sp>
        <p:nvSpPr>
          <p:cNvPr id="149" name="Text 149"/>
          <p:cNvSpPr txBox="1"/>
          <p:nvPr/>
        </p:nvSpPr>
        <p:spPr>
          <a:xfrm>
            <a:off x="10687050" y="3714750"/>
            <a:ext cx="1333500" cy="215900"/>
          </a:xfrm>
          <a:prstGeom prst="rect">
            <a:avLst/>
          </a:prstGeom>
          <a:noFill/>
          <a:ln>
            <a:noFill/>
          </a:ln>
        </p:spPr>
        <p:txBody>
          <a:bodyPr wrap="square" anchor="t" lIns="12700" tIns="12700" rIns="12700" bIns="12700"/>
          <a:lstStyle/>
          <a:p>
            <a:pPr algn="l"/>
            <a:r>
              <a:rPr lang="ja-JP" sz="1400">
                <a:solidFill>
                  <a:srgbClr val="666666"/>
                </a:solidFill>
                <a:latin typeface="Yu Gothic"/>
                <a:ea typeface="Yu Gothic"/>
              </a:rPr>
              <a:t>担当者別・案件種別別に確認</a:t>
            </a:r>
          </a:p>
        </p:txBody>
      </p:sp>
      <p:sp>
        <p:nvSpPr>
          <p:cNvPr id="150" name="Shape 150"/>
          <p:cNvSpPr txBox="1"/>
          <p:nvPr/>
        </p:nvSpPr>
        <p:spPr>
          <a:xfrm>
            <a:off x="10064750" y="4445000"/>
            <a:ext cx="482600" cy="482600"/>
          </a:xfrm>
          <a:prstGeom prst="ellipse">
            <a:avLst/>
          </a:prstGeom>
          <a:solidFill>
            <a:srgbClr val="ffeaea"/>
          </a:solidFill>
          <a:ln w="6350">
            <a:solidFill>
              <a:srgbClr val="ffeaea"/>
            </a:solidFill>
          </a:ln>
        </p:spPr>
      </p:sp>
      <p:sp>
        <p:nvSpPr>
          <p:cNvPr id="151" name="Text 151"/>
          <p:cNvSpPr txBox="1"/>
          <p:nvPr/>
        </p:nvSpPr>
        <p:spPr>
          <a:xfrm>
            <a:off x="10191750" y="4533900"/>
            <a:ext cx="228600" cy="190500"/>
          </a:xfrm>
          <a:prstGeom prst="rect">
            <a:avLst/>
          </a:prstGeom>
          <a:noFill/>
          <a:ln>
            <a:noFill/>
          </a:ln>
        </p:spPr>
        <p:txBody>
          <a:bodyPr wrap="square" anchor="t" lIns="12700" tIns="12700" rIns="12700" bIns="12700"/>
          <a:lstStyle/>
          <a:p>
            <a:pPr algn="c"/>
            <a:r>
              <a:rPr lang="ja-JP" sz="3000" b="1">
                <a:solidFill>
                  <a:srgbClr val="ff1818"/>
                </a:solidFill>
                <a:latin typeface="Yu Gothic"/>
                <a:ea typeface="Yu Gothic"/>
              </a:rPr>
              <a:t>✓</a:t>
            </a:r>
          </a:p>
        </p:txBody>
      </p:sp>
      <p:sp>
        <p:nvSpPr>
          <p:cNvPr id="152" name="Text 152"/>
          <p:cNvSpPr txBox="1"/>
          <p:nvPr/>
        </p:nvSpPr>
        <p:spPr>
          <a:xfrm>
            <a:off x="10687050" y="4476750"/>
            <a:ext cx="1333500" cy="1778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履歴連携</a:t>
            </a:r>
          </a:p>
        </p:txBody>
      </p:sp>
      <p:sp>
        <p:nvSpPr>
          <p:cNvPr id="153" name="Text 153"/>
          <p:cNvSpPr txBox="1"/>
          <p:nvPr/>
        </p:nvSpPr>
        <p:spPr>
          <a:xfrm>
            <a:off x="10687050" y="4730750"/>
            <a:ext cx="1333500" cy="215900"/>
          </a:xfrm>
          <a:prstGeom prst="rect">
            <a:avLst/>
          </a:prstGeom>
          <a:noFill/>
          <a:ln>
            <a:noFill/>
          </a:ln>
        </p:spPr>
        <p:txBody>
          <a:bodyPr wrap="square" anchor="t" lIns="12700" tIns="12700" rIns="12700" bIns="12700"/>
          <a:lstStyle/>
          <a:p>
            <a:pPr algn="l"/>
            <a:r>
              <a:rPr lang="ja-JP" sz="1400">
                <a:solidFill>
                  <a:srgbClr val="666666"/>
                </a:solidFill>
                <a:latin typeface="Yu Gothic"/>
                <a:ea typeface="Yu Gothic"/>
              </a:rPr>
              <a:t>対応履歴と関連書類を紐づけ</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0" y="0"/>
            <a:ext cx="876300" cy="6858000"/>
          </a:xfrm>
          <a:prstGeom prst="rect">
            <a:avLst/>
          </a:prstGeom>
          <a:solidFill>
            <a:srgbClr val="ff1818"/>
          </a:solidFill>
          <a:ln w="6350">
            <a:solidFill>
              <a:srgbClr val="ff1818"/>
            </a:solidFill>
          </a:ln>
        </p:spPr>
      </p:sp>
      <p:sp>
        <p:nvSpPr>
          <p:cNvPr id="3" name="Text 3"/>
          <p:cNvSpPr txBox="1"/>
          <p:nvPr/>
        </p:nvSpPr>
        <p:spPr>
          <a:xfrm>
            <a:off x="209550" y="355600"/>
            <a:ext cx="457200" cy="152400"/>
          </a:xfrm>
          <a:prstGeom prst="rect">
            <a:avLst/>
          </a:prstGeom>
          <a:noFill/>
          <a:ln>
            <a:noFill/>
          </a:ln>
        </p:spPr>
        <p:txBody>
          <a:bodyPr wrap="square" anchor="t" lIns="12700" tIns="12700" rIns="12700" bIns="12700"/>
          <a:lstStyle/>
          <a:p>
            <a:pPr algn="c"/>
            <a:r>
              <a:rPr lang="ja-JP" sz="1400" b="1">
                <a:solidFill>
                  <a:srgbClr val="ffffff"/>
                </a:solidFill>
                <a:latin typeface="Yu Gothic"/>
                <a:ea typeface="Yu Gothic"/>
              </a:rPr>
              <a:t>Chapter</a:t>
            </a:r>
          </a:p>
        </p:txBody>
      </p:sp>
      <p:sp>
        <p:nvSpPr>
          <p:cNvPr id="4" name="Text 4"/>
          <p:cNvSpPr txBox="1"/>
          <p:nvPr/>
        </p:nvSpPr>
        <p:spPr>
          <a:xfrm>
            <a:off x="114300" y="609600"/>
            <a:ext cx="647700" cy="444500"/>
          </a:xfrm>
          <a:prstGeom prst="rect">
            <a:avLst/>
          </a:prstGeom>
          <a:noFill/>
          <a:ln>
            <a:noFill/>
          </a:ln>
        </p:spPr>
        <p:txBody>
          <a:bodyPr wrap="square" anchor="t" lIns="12700" tIns="12700" rIns="12700" bIns="12700"/>
          <a:lstStyle/>
          <a:p>
            <a:pPr algn="c"/>
            <a:r>
              <a:rPr lang="ja-JP" sz="5600" b="1">
                <a:solidFill>
                  <a:srgbClr val="ffffff"/>
                </a:solidFill>
                <a:latin typeface="Yu Gothic"/>
                <a:ea typeface="Yu Gothic"/>
              </a:rPr>
              <a:t>02</a:t>
            </a:r>
          </a:p>
        </p:txBody>
      </p:sp>
      <p:sp>
        <p:nvSpPr>
          <p:cNvPr id="5" name="Shape 5"/>
          <p:cNvSpPr txBox="1"/>
          <p:nvPr/>
        </p:nvSpPr>
        <p:spPr>
          <a:xfrm>
            <a:off x="209550" y="1193800"/>
            <a:ext cx="457200" cy="31750"/>
          </a:xfrm>
          <a:prstGeom prst="rect">
            <a:avLst/>
          </a:prstGeom>
          <a:solidFill>
            <a:srgbClr val="ffffff"/>
          </a:solidFill>
          <a:ln w="6350">
            <a:solidFill>
              <a:srgbClr val="ffffff"/>
            </a:solidFill>
          </a:ln>
        </p:spPr>
      </p:sp>
      <p:sp>
        <p:nvSpPr>
          <p:cNvPr id="6" name="Text 6"/>
          <p:cNvSpPr txBox="1"/>
          <p:nvPr/>
        </p:nvSpPr>
        <p:spPr>
          <a:xfrm>
            <a:off x="254000" y="6413500"/>
            <a:ext cx="342900" cy="215900"/>
          </a:xfrm>
          <a:prstGeom prst="rect">
            <a:avLst/>
          </a:prstGeom>
          <a:noFill/>
          <a:ln>
            <a:noFill/>
          </a:ln>
        </p:spPr>
        <p:txBody>
          <a:bodyPr wrap="square" anchor="t" lIns="12700" tIns="12700" rIns="12700" bIns="12700"/>
          <a:lstStyle/>
          <a:p>
            <a:pPr algn="c"/>
            <a:r>
              <a:rPr lang="ja-JP" sz="2200" b="1">
                <a:solidFill>
                  <a:srgbClr val="ffffff"/>
                </a:solidFill>
                <a:latin typeface="Yu Gothic"/>
                <a:ea typeface="Yu Gothic"/>
              </a:rPr>
              <a:t>10</a:t>
            </a:r>
          </a:p>
        </p:txBody>
      </p:sp>
      <p:sp>
        <p:nvSpPr>
          <p:cNvPr id="7" name="Shape 7"/>
          <p:cNvSpPr txBox="1"/>
          <p:nvPr/>
        </p:nvSpPr>
        <p:spPr>
          <a:xfrm>
            <a:off x="1174750" y="469900"/>
            <a:ext cx="952500" cy="88900"/>
          </a:xfrm>
          <a:prstGeom prst="rect">
            <a:avLst/>
          </a:prstGeom>
          <a:solidFill>
            <a:srgbClr val="ff1818"/>
          </a:solidFill>
          <a:ln w="6350">
            <a:solidFill>
              <a:srgbClr val="ff1818"/>
            </a:solidFill>
          </a:ln>
        </p:spPr>
      </p:sp>
      <p:sp>
        <p:nvSpPr>
          <p:cNvPr id="8" name="Text 8"/>
          <p:cNvSpPr txBox="1"/>
          <p:nvPr/>
        </p:nvSpPr>
        <p:spPr>
          <a:xfrm>
            <a:off x="1174750" y="711200"/>
            <a:ext cx="7937500" cy="342900"/>
          </a:xfrm>
          <a:prstGeom prst="rect">
            <a:avLst/>
          </a:prstGeom>
          <a:noFill/>
          <a:ln>
            <a:noFill/>
          </a:ln>
        </p:spPr>
        <p:txBody>
          <a:bodyPr wrap="square" anchor="t" lIns="12700" tIns="12700" rIns="12700" bIns="12700"/>
          <a:lstStyle/>
          <a:p>
            <a:pPr algn="l"/>
            <a:r>
              <a:rPr lang="ja-JP" sz="3200" b="1">
                <a:solidFill>
                  <a:srgbClr val="111111"/>
                </a:solidFill>
                <a:latin typeface="Yu Gothic"/>
                <a:ea typeface="Yu Gothic"/>
              </a:rPr>
              <a:t>スクショ資料2：物件・契約ごとの進捗管理</a:t>
            </a:r>
          </a:p>
        </p:txBody>
      </p:sp>
      <p:sp>
        <p:nvSpPr>
          <p:cNvPr id="9" name="Text 9"/>
          <p:cNvSpPr txBox="1"/>
          <p:nvPr/>
        </p:nvSpPr>
        <p:spPr>
          <a:xfrm>
            <a:off x="1174750" y="1104900"/>
            <a:ext cx="3810000" cy="152400"/>
          </a:xfrm>
          <a:prstGeom prst="rect">
            <a:avLst/>
          </a:prstGeom>
          <a:noFill/>
          <a:ln>
            <a:noFill/>
          </a:ln>
        </p:spPr>
        <p:txBody>
          <a:bodyPr wrap="square" anchor="t" lIns="12700" tIns="12700" rIns="12700" bIns="12700"/>
          <a:lstStyle/>
          <a:p>
            <a:pPr algn="l"/>
            <a:r>
              <a:rPr lang="ja-JP" sz="1500" b="1">
                <a:solidFill>
                  <a:srgbClr val="666666"/>
                </a:solidFill>
                <a:latin typeface="Yu Gothic"/>
                <a:ea typeface="Yu Gothic"/>
              </a:rPr>
              <a:t>Chapter2</a:t>
            </a:r>
          </a:p>
        </p:txBody>
      </p:sp>
      <p:sp>
        <p:nvSpPr>
          <p:cNvPr id="10" name="Text 10"/>
          <p:cNvSpPr txBox="1"/>
          <p:nvPr/>
        </p:nvSpPr>
        <p:spPr>
          <a:xfrm>
            <a:off x="1365250" y="6464300"/>
            <a:ext cx="4445000" cy="190500"/>
          </a:xfrm>
          <a:prstGeom prst="rect">
            <a:avLst/>
          </a:prstGeom>
          <a:noFill/>
          <a:ln>
            <a:noFill/>
          </a:ln>
        </p:spPr>
        <p:txBody>
          <a:bodyPr wrap="square" anchor="t" lIns="12700" tIns="12700" rIns="12700" bIns="12700"/>
          <a:lstStyle/>
          <a:p>
            <a:pPr algn="l"/>
            <a:r>
              <a:rPr lang="ja-JP" sz="1200" b="1">
                <a:solidFill>
                  <a:srgbClr val="999999"/>
                </a:solidFill>
                <a:latin typeface="Yu Gothic"/>
                <a:ea typeface="Yu Gothic"/>
              </a:rPr>
              <a:t>Copyright @Field X inc. All rights reserved.</a:t>
            </a:r>
          </a:p>
        </p:txBody>
      </p:sp>
      <p:sp>
        <p:nvSpPr>
          <p:cNvPr id="11" name="Shape 11"/>
          <p:cNvSpPr txBox="1"/>
          <p:nvPr/>
        </p:nvSpPr>
        <p:spPr>
          <a:xfrm>
            <a:off x="1174750" y="1555750"/>
            <a:ext cx="8382000" cy="4476750"/>
          </a:xfrm>
          <a:prstGeom prst="roundRect">
            <a:avLst/>
          </a:prstGeom>
          <a:solidFill>
            <a:srgbClr val="ffffff"/>
          </a:solidFill>
          <a:ln w="12700">
            <a:solidFill>
              <a:srgbClr val="dedede"/>
            </a:solidFill>
          </a:ln>
        </p:spPr>
      </p:sp>
      <p:sp>
        <p:nvSpPr>
          <p:cNvPr id="12" name="Shape 12"/>
          <p:cNvSpPr txBox="1"/>
          <p:nvPr/>
        </p:nvSpPr>
        <p:spPr>
          <a:xfrm>
            <a:off x="1174750" y="1555750"/>
            <a:ext cx="1301750" cy="4476750"/>
          </a:xfrm>
          <a:prstGeom prst="rect">
            <a:avLst/>
          </a:prstGeom>
          <a:solidFill>
            <a:srgbClr val="15151b"/>
          </a:solidFill>
          <a:ln w="6350">
            <a:solidFill>
              <a:srgbClr val="15151b"/>
            </a:solidFill>
          </a:ln>
        </p:spPr>
      </p:sp>
      <p:sp>
        <p:nvSpPr>
          <p:cNvPr id="13" name="Shape 13"/>
          <p:cNvSpPr txBox="1"/>
          <p:nvPr/>
        </p:nvSpPr>
        <p:spPr>
          <a:xfrm>
            <a:off x="1377950" y="1771650"/>
            <a:ext cx="266700" cy="266700"/>
          </a:xfrm>
          <a:prstGeom prst="ellipse">
            <a:avLst/>
          </a:prstGeom>
          <a:solidFill>
            <a:srgbClr val="ff1818"/>
          </a:solidFill>
          <a:ln w="6350">
            <a:solidFill>
              <a:srgbClr val="ff1818"/>
            </a:solidFill>
          </a:ln>
        </p:spPr>
      </p:sp>
      <p:sp>
        <p:nvSpPr>
          <p:cNvPr id="14" name="Text 14"/>
          <p:cNvSpPr txBox="1"/>
          <p:nvPr/>
        </p:nvSpPr>
        <p:spPr>
          <a:xfrm>
            <a:off x="1720850" y="1778000"/>
            <a:ext cx="609600" cy="215900"/>
          </a:xfrm>
          <a:prstGeom prst="rect">
            <a:avLst/>
          </a:prstGeom>
          <a:noFill/>
          <a:ln>
            <a:noFill/>
          </a:ln>
        </p:spPr>
        <p:txBody>
          <a:bodyPr wrap="square" anchor="t" lIns="12700" tIns="12700" rIns="12700" bIns="12700"/>
          <a:lstStyle/>
          <a:p>
            <a:pPr algn="l"/>
            <a:r>
              <a:rPr lang="ja-JP" sz="2200" b="1">
                <a:solidFill>
                  <a:srgbClr val="ffffff"/>
                </a:solidFill>
                <a:latin typeface="Yu Gothic"/>
                <a:ea typeface="Yu Gothic"/>
              </a:rPr>
              <a:t>Field X</a:t>
            </a:r>
          </a:p>
        </p:txBody>
      </p:sp>
      <p:sp>
        <p:nvSpPr>
          <p:cNvPr id="15" name="Shape 15"/>
          <p:cNvSpPr txBox="1"/>
          <p:nvPr/>
        </p:nvSpPr>
        <p:spPr>
          <a:xfrm>
            <a:off x="2476500" y="1555750"/>
            <a:ext cx="7080250" cy="533400"/>
          </a:xfrm>
          <a:prstGeom prst="rect">
            <a:avLst/>
          </a:prstGeom>
          <a:solidFill>
            <a:srgbClr val="fcfcfc"/>
          </a:solidFill>
          <a:ln w="6350">
            <a:solidFill>
              <a:srgbClr val="dedede"/>
            </a:solidFill>
          </a:ln>
        </p:spPr>
      </p:sp>
      <p:sp>
        <p:nvSpPr>
          <p:cNvPr id="16" name="Text 16"/>
          <p:cNvSpPr txBox="1"/>
          <p:nvPr/>
        </p:nvSpPr>
        <p:spPr>
          <a:xfrm>
            <a:off x="2730500" y="1733550"/>
            <a:ext cx="4445000" cy="203200"/>
          </a:xfrm>
          <a:prstGeom prst="rect">
            <a:avLst/>
          </a:prstGeom>
          <a:noFill/>
          <a:ln>
            <a:noFill/>
          </a:ln>
        </p:spPr>
        <p:txBody>
          <a:bodyPr wrap="square" anchor="t" lIns="12700" tIns="12700" rIns="12700" bIns="12700"/>
          <a:lstStyle/>
          <a:p>
            <a:pPr algn="l"/>
            <a:r>
              <a:rPr lang="ja-JP" sz="1900" b="1">
                <a:solidFill>
                  <a:srgbClr val="111111"/>
                </a:solidFill>
                <a:latin typeface="Yu Gothic"/>
                <a:ea typeface="Yu Gothic"/>
              </a:rPr>
              <a:t>物件・契約詳細</a:t>
            </a:r>
          </a:p>
        </p:txBody>
      </p:sp>
      <p:sp>
        <p:nvSpPr>
          <p:cNvPr id="17" name="Text 17"/>
          <p:cNvSpPr txBox="1"/>
          <p:nvPr/>
        </p:nvSpPr>
        <p:spPr>
          <a:xfrm>
            <a:off x="8401050" y="1746250"/>
            <a:ext cx="603250" cy="152400"/>
          </a:xfrm>
          <a:prstGeom prst="rect">
            <a:avLst/>
          </a:prstGeom>
          <a:noFill/>
          <a:ln>
            <a:noFill/>
          </a:ln>
        </p:spPr>
        <p:txBody>
          <a:bodyPr wrap="square" anchor="t" lIns="12700" tIns="12700" rIns="12700" bIns="12700"/>
          <a:lstStyle/>
          <a:p>
            <a:pPr algn="l"/>
            <a:r>
              <a:rPr lang="ja-JP" sz="1400">
                <a:solidFill>
                  <a:srgbClr val="666666"/>
                </a:solidFill>
                <a:latin typeface="Yu Gothic"/>
                <a:ea typeface="Yu Gothic"/>
              </a:rPr>
              <a:t>担当者</a:t>
            </a:r>
          </a:p>
        </p:txBody>
      </p:sp>
      <p:sp>
        <p:nvSpPr>
          <p:cNvPr id="18" name="Shape 18"/>
          <p:cNvSpPr txBox="1"/>
          <p:nvPr/>
        </p:nvSpPr>
        <p:spPr>
          <a:xfrm>
            <a:off x="1327150" y="2266950"/>
            <a:ext cx="1003300" cy="279400"/>
          </a:xfrm>
          <a:prstGeom prst="roundRect">
            <a:avLst/>
          </a:prstGeom>
          <a:solidFill>
            <a:srgbClr val="ff1818"/>
          </a:solidFill>
          <a:ln w="6350">
            <a:solidFill>
              <a:srgbClr val="ff1818"/>
            </a:solidFill>
          </a:ln>
        </p:spPr>
        <p:txBody>
          <a:bodyPr wrap="square" anchor="ctr" lIns="76200" tIns="76200" rIns="76200" bIns="76200"/>
          <a:lstStyle/>
          <a:p>
            <a:pPr algn="c"/>
            <a:r>
              <a:rPr lang="ja-JP" sz="1500" b="1">
                <a:solidFill>
                  <a:srgbClr val="ffffff"/>
                </a:solidFill>
                <a:latin typeface="Yu Gothic"/>
                <a:ea typeface="Yu Gothic"/>
              </a:rPr>
              <a:t>総合</a:t>
            </a:r>
          </a:p>
        </p:txBody>
      </p:sp>
      <p:sp>
        <p:nvSpPr>
          <p:cNvPr id="19" name="Shape 19"/>
          <p:cNvSpPr txBox="1"/>
          <p:nvPr/>
        </p:nvSpPr>
        <p:spPr>
          <a:xfrm>
            <a:off x="1327150" y="266700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物件</a:t>
            </a:r>
          </a:p>
        </p:txBody>
      </p:sp>
      <p:sp>
        <p:nvSpPr>
          <p:cNvPr id="20" name="Shape 20"/>
          <p:cNvSpPr txBox="1"/>
          <p:nvPr/>
        </p:nvSpPr>
        <p:spPr>
          <a:xfrm>
            <a:off x="1327150" y="306705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契約</a:t>
            </a:r>
          </a:p>
        </p:txBody>
      </p:sp>
      <p:sp>
        <p:nvSpPr>
          <p:cNvPr id="21" name="Shape 21"/>
          <p:cNvSpPr txBox="1"/>
          <p:nvPr/>
        </p:nvSpPr>
        <p:spPr>
          <a:xfrm>
            <a:off x="1327150" y="346710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修繕</a:t>
            </a:r>
          </a:p>
        </p:txBody>
      </p:sp>
      <p:sp>
        <p:nvSpPr>
          <p:cNvPr id="22" name="Shape 22"/>
          <p:cNvSpPr txBox="1"/>
          <p:nvPr/>
        </p:nvSpPr>
        <p:spPr>
          <a:xfrm>
            <a:off x="1327150" y="386715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書類</a:t>
            </a:r>
          </a:p>
        </p:txBody>
      </p:sp>
      <p:sp>
        <p:nvSpPr>
          <p:cNvPr id="23" name="Shape 23"/>
          <p:cNvSpPr txBox="1"/>
          <p:nvPr/>
        </p:nvSpPr>
        <p:spPr>
          <a:xfrm>
            <a:off x="1327150" y="426720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検索</a:t>
            </a:r>
          </a:p>
        </p:txBody>
      </p:sp>
      <p:sp>
        <p:nvSpPr>
          <p:cNvPr id="24" name="Shape 24"/>
          <p:cNvSpPr txBox="1"/>
          <p:nvPr/>
        </p:nvSpPr>
        <p:spPr>
          <a:xfrm>
            <a:off x="1377950" y="5448300"/>
            <a:ext cx="838200" cy="19050"/>
          </a:xfrm>
          <a:prstGeom prst="rect">
            <a:avLst/>
          </a:prstGeom>
          <a:solidFill>
            <a:srgbClr val="4c4c53"/>
          </a:solidFill>
          <a:ln w="6350">
            <a:solidFill>
              <a:srgbClr val="4c4c53"/>
            </a:solidFill>
          </a:ln>
        </p:spPr>
      </p:sp>
      <p:sp>
        <p:nvSpPr>
          <p:cNvPr id="25" name="Shape 25"/>
          <p:cNvSpPr txBox="1"/>
          <p:nvPr/>
        </p:nvSpPr>
        <p:spPr>
          <a:xfrm>
            <a:off x="1403350" y="5626100"/>
            <a:ext cx="215900" cy="215900"/>
          </a:xfrm>
          <a:prstGeom prst="ellipse">
            <a:avLst/>
          </a:prstGeom>
          <a:solidFill>
            <a:srgbClr val="f1f1f1"/>
          </a:solidFill>
          <a:ln w="6350">
            <a:solidFill>
              <a:srgbClr val="f1f1f1"/>
            </a:solidFill>
          </a:ln>
        </p:spPr>
      </p:sp>
      <p:sp>
        <p:nvSpPr>
          <p:cNvPr id="26" name="Text 26"/>
          <p:cNvSpPr txBox="1"/>
          <p:nvPr/>
        </p:nvSpPr>
        <p:spPr>
          <a:xfrm>
            <a:off x="1720850" y="5651500"/>
            <a:ext cx="508000" cy="139700"/>
          </a:xfrm>
          <a:prstGeom prst="rect">
            <a:avLst/>
          </a:prstGeom>
          <a:noFill/>
          <a:ln>
            <a:noFill/>
          </a:ln>
        </p:spPr>
        <p:txBody>
          <a:bodyPr wrap="square" anchor="t" lIns="12700" tIns="12700" rIns="12700" bIns="12700"/>
          <a:lstStyle/>
          <a:p>
            <a:pPr algn="l"/>
            <a:r>
              <a:rPr lang="ja-JP" sz="1300">
                <a:solidFill>
                  <a:srgbClr val="d0d0d0"/>
                </a:solidFill>
                <a:latin typeface="Yu Gothic"/>
                <a:ea typeface="Yu Gothic"/>
              </a:rPr>
              <a:t>設定</a:t>
            </a:r>
          </a:p>
        </p:txBody>
      </p:sp>
      <p:sp>
        <p:nvSpPr>
          <p:cNvPr id="27" name="Shape 27"/>
          <p:cNvSpPr txBox="1"/>
          <p:nvPr/>
        </p:nvSpPr>
        <p:spPr>
          <a:xfrm>
            <a:off x="2825750" y="2266950"/>
            <a:ext cx="1936750" cy="1206500"/>
          </a:xfrm>
          <a:prstGeom prst="roundRect">
            <a:avLst/>
          </a:prstGeom>
          <a:solidFill>
            <a:srgbClr val="f5f5f5"/>
          </a:solidFill>
          <a:ln w="6350">
            <a:solidFill>
              <a:srgbClr val="dedede"/>
            </a:solidFill>
          </a:ln>
        </p:spPr>
      </p:sp>
      <p:sp>
        <p:nvSpPr>
          <p:cNvPr id="28" name="Text 28"/>
          <p:cNvSpPr txBox="1"/>
          <p:nvPr/>
        </p:nvSpPr>
        <p:spPr>
          <a:xfrm>
            <a:off x="2965450" y="2393950"/>
            <a:ext cx="825500" cy="1905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物件情報</a:t>
            </a:r>
          </a:p>
        </p:txBody>
      </p:sp>
      <p:sp>
        <p:nvSpPr>
          <p:cNvPr id="29" name="Text 29"/>
          <p:cNvSpPr txBox="1"/>
          <p:nvPr/>
        </p:nvSpPr>
        <p:spPr>
          <a:xfrm>
            <a:off x="2965450" y="2698750"/>
            <a:ext cx="1492250" cy="635000"/>
          </a:xfrm>
          <a:prstGeom prst="rect">
            <a:avLst/>
          </a:prstGeom>
          <a:noFill/>
          <a:ln>
            <a:noFill/>
          </a:ln>
        </p:spPr>
        <p:txBody>
          <a:bodyPr wrap="square" anchor="t" lIns="12700" tIns="12700" rIns="12700" bIns="12700"/>
          <a:lstStyle/>
          <a:p>
            <a:pPr algn="l"/>
            <a:r>
              <a:rPr lang="ja-JP" sz="1300">
                <a:solidFill>
                  <a:srgbClr val="333333"/>
                </a:solidFill>
                <a:latin typeface="Yu Gothic"/>
                <a:ea typeface="Yu Gothic"/>
              </a:rPr>
              <a:t>所在地　東京都〇〇区</a:t>
            </a:r>
          </a:p>
          <a:p>
            <a:pPr algn="l"/>
            <a:r>
              <a:rPr lang="ja-JP" sz="1300">
                <a:solidFill>
                  <a:srgbClr val="333333"/>
                </a:solidFill>
                <a:latin typeface="Yu Gothic"/>
                <a:ea typeface="Yu Gothic"/>
              </a:rPr>
              <a:t>契約状況　更新確認中</a:t>
            </a:r>
          </a:p>
          <a:p>
            <a:pPr algn="l"/>
            <a:r>
              <a:rPr lang="ja-JP" sz="1300">
                <a:solidFill>
                  <a:srgbClr val="333333"/>
                </a:solidFill>
                <a:latin typeface="Yu Gothic"/>
                <a:ea typeface="Yu Gothic"/>
              </a:rPr>
              <a:t>担当者　営業部 A様</a:t>
            </a:r>
          </a:p>
          <a:p>
            <a:pPr algn="l"/>
            <a:r>
              <a:rPr lang="ja-JP" sz="1300">
                <a:solidFill>
                  <a:srgbClr val="333333"/>
                </a:solidFill>
                <a:latin typeface="Yu Gothic"/>
                <a:ea typeface="Yu Gothic"/>
              </a:rPr>
              <a:t>優先度　高</a:t>
            </a:r>
          </a:p>
        </p:txBody>
      </p:sp>
      <p:sp>
        <p:nvSpPr>
          <p:cNvPr id="30" name="Shape 30"/>
          <p:cNvSpPr txBox="1"/>
          <p:nvPr/>
        </p:nvSpPr>
        <p:spPr>
          <a:xfrm>
            <a:off x="5378450" y="2489200"/>
            <a:ext cx="38100" cy="2603500"/>
          </a:xfrm>
          <a:prstGeom prst="rect">
            <a:avLst/>
          </a:prstGeom>
          <a:solidFill>
            <a:srgbClr val="d1d1d1"/>
          </a:solidFill>
          <a:ln>
            <a:noFill/>
          </a:ln>
        </p:spPr>
      </p:sp>
      <p:sp>
        <p:nvSpPr>
          <p:cNvPr id="31" name="Shape 31"/>
          <p:cNvSpPr txBox="1"/>
          <p:nvPr/>
        </p:nvSpPr>
        <p:spPr>
          <a:xfrm>
            <a:off x="5283200" y="2470150"/>
            <a:ext cx="228600" cy="228600"/>
          </a:xfrm>
          <a:prstGeom prst="ellipse">
            <a:avLst/>
          </a:prstGeom>
          <a:solidFill>
            <a:srgbClr val="ff1818"/>
          </a:solidFill>
          <a:ln>
            <a:noFill/>
          </a:ln>
        </p:spPr>
      </p:sp>
      <p:sp>
        <p:nvSpPr>
          <p:cNvPr id="32" name="Text 32"/>
          <p:cNvSpPr txBox="1"/>
          <p:nvPr/>
        </p:nvSpPr>
        <p:spPr>
          <a:xfrm>
            <a:off x="5683250" y="2406650"/>
            <a:ext cx="698500" cy="1778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受付</a:t>
            </a:r>
          </a:p>
        </p:txBody>
      </p:sp>
      <p:sp>
        <p:nvSpPr>
          <p:cNvPr id="33" name="Text 33"/>
          <p:cNvSpPr txBox="1"/>
          <p:nvPr/>
        </p:nvSpPr>
        <p:spPr>
          <a:xfrm>
            <a:off x="5683250" y="2609850"/>
            <a:ext cx="1397000" cy="152400"/>
          </a:xfrm>
          <a:prstGeom prst="rect">
            <a:avLst/>
          </a:prstGeom>
          <a:noFill/>
          <a:ln>
            <a:noFill/>
          </a:ln>
        </p:spPr>
        <p:txBody>
          <a:bodyPr wrap="square" anchor="t" lIns="12700" tIns="12700" rIns="12700" bIns="12700"/>
          <a:lstStyle/>
          <a:p>
            <a:pPr algn="l"/>
            <a:r>
              <a:rPr lang="ja-JP" sz="1300">
                <a:solidFill>
                  <a:srgbClr val="666666"/>
                </a:solidFill>
                <a:latin typeface="Yu Gothic"/>
                <a:ea typeface="Yu Gothic"/>
              </a:rPr>
              <a:t>問い合わせを自動登録</a:t>
            </a:r>
          </a:p>
        </p:txBody>
      </p:sp>
      <p:sp>
        <p:nvSpPr>
          <p:cNvPr id="34" name="Shape 34"/>
          <p:cNvSpPr txBox="1"/>
          <p:nvPr/>
        </p:nvSpPr>
        <p:spPr>
          <a:xfrm>
            <a:off x="5283200" y="3143250"/>
            <a:ext cx="228600" cy="228600"/>
          </a:xfrm>
          <a:prstGeom prst="ellipse">
            <a:avLst/>
          </a:prstGeom>
          <a:solidFill>
            <a:srgbClr val="ff1818"/>
          </a:solidFill>
          <a:ln>
            <a:noFill/>
          </a:ln>
        </p:spPr>
      </p:sp>
      <p:sp>
        <p:nvSpPr>
          <p:cNvPr id="35" name="Text 35"/>
          <p:cNvSpPr txBox="1"/>
          <p:nvPr/>
        </p:nvSpPr>
        <p:spPr>
          <a:xfrm>
            <a:off x="5683250" y="3079750"/>
            <a:ext cx="698500" cy="1778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確認</a:t>
            </a:r>
          </a:p>
        </p:txBody>
      </p:sp>
      <p:sp>
        <p:nvSpPr>
          <p:cNvPr id="36" name="Text 36"/>
          <p:cNvSpPr txBox="1"/>
          <p:nvPr/>
        </p:nvSpPr>
        <p:spPr>
          <a:xfrm>
            <a:off x="5683250" y="3282950"/>
            <a:ext cx="1397000" cy="152400"/>
          </a:xfrm>
          <a:prstGeom prst="rect">
            <a:avLst/>
          </a:prstGeom>
          <a:noFill/>
          <a:ln>
            <a:noFill/>
          </a:ln>
        </p:spPr>
        <p:txBody>
          <a:bodyPr wrap="square" anchor="t" lIns="12700" tIns="12700" rIns="12700" bIns="12700"/>
          <a:lstStyle/>
          <a:p>
            <a:pPr algn="l"/>
            <a:r>
              <a:rPr lang="ja-JP" sz="1300">
                <a:solidFill>
                  <a:srgbClr val="666666"/>
                </a:solidFill>
                <a:latin typeface="Yu Gothic"/>
                <a:ea typeface="Yu Gothic"/>
              </a:rPr>
              <a:t>担当者が内容確認</a:t>
            </a:r>
          </a:p>
        </p:txBody>
      </p:sp>
      <p:sp>
        <p:nvSpPr>
          <p:cNvPr id="37" name="Shape 37"/>
          <p:cNvSpPr txBox="1"/>
          <p:nvPr/>
        </p:nvSpPr>
        <p:spPr>
          <a:xfrm>
            <a:off x="5283200" y="3816350"/>
            <a:ext cx="228600" cy="228600"/>
          </a:xfrm>
          <a:prstGeom prst="ellipse">
            <a:avLst/>
          </a:prstGeom>
          <a:solidFill>
            <a:srgbClr val="ff1818"/>
          </a:solidFill>
          <a:ln>
            <a:noFill/>
          </a:ln>
        </p:spPr>
      </p:sp>
      <p:sp>
        <p:nvSpPr>
          <p:cNvPr id="38" name="Text 38"/>
          <p:cNvSpPr txBox="1"/>
          <p:nvPr/>
        </p:nvSpPr>
        <p:spPr>
          <a:xfrm>
            <a:off x="5683250" y="3752850"/>
            <a:ext cx="698500" cy="1778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承認</a:t>
            </a:r>
          </a:p>
        </p:txBody>
      </p:sp>
      <p:sp>
        <p:nvSpPr>
          <p:cNvPr id="39" name="Text 39"/>
          <p:cNvSpPr txBox="1"/>
          <p:nvPr/>
        </p:nvSpPr>
        <p:spPr>
          <a:xfrm>
            <a:off x="5683250" y="3956050"/>
            <a:ext cx="1397000" cy="152400"/>
          </a:xfrm>
          <a:prstGeom prst="rect">
            <a:avLst/>
          </a:prstGeom>
          <a:noFill/>
          <a:ln>
            <a:noFill/>
          </a:ln>
        </p:spPr>
        <p:txBody>
          <a:bodyPr wrap="square" anchor="t" lIns="12700" tIns="12700" rIns="12700" bIns="12700"/>
          <a:lstStyle/>
          <a:p>
            <a:pPr algn="l"/>
            <a:r>
              <a:rPr lang="ja-JP" sz="1300">
                <a:solidFill>
                  <a:srgbClr val="666666"/>
                </a:solidFill>
                <a:latin typeface="Yu Gothic"/>
                <a:ea typeface="Yu Gothic"/>
              </a:rPr>
              <a:t>上長承認・通知</a:t>
            </a:r>
          </a:p>
        </p:txBody>
      </p:sp>
      <p:sp>
        <p:nvSpPr>
          <p:cNvPr id="40" name="Shape 40"/>
          <p:cNvSpPr txBox="1"/>
          <p:nvPr/>
        </p:nvSpPr>
        <p:spPr>
          <a:xfrm>
            <a:off x="5283200" y="4489450"/>
            <a:ext cx="228600" cy="228600"/>
          </a:xfrm>
          <a:prstGeom prst="ellipse">
            <a:avLst/>
          </a:prstGeom>
          <a:solidFill>
            <a:srgbClr val="bdbdbd"/>
          </a:solidFill>
          <a:ln>
            <a:noFill/>
          </a:ln>
        </p:spPr>
      </p:sp>
      <p:sp>
        <p:nvSpPr>
          <p:cNvPr id="41" name="Text 41"/>
          <p:cNvSpPr txBox="1"/>
          <p:nvPr/>
        </p:nvSpPr>
        <p:spPr>
          <a:xfrm>
            <a:off x="5683250" y="4425950"/>
            <a:ext cx="698500" cy="1778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完了</a:t>
            </a:r>
          </a:p>
        </p:txBody>
      </p:sp>
      <p:sp>
        <p:nvSpPr>
          <p:cNvPr id="42" name="Text 42"/>
          <p:cNvSpPr txBox="1"/>
          <p:nvPr/>
        </p:nvSpPr>
        <p:spPr>
          <a:xfrm>
            <a:off x="5683250" y="4629150"/>
            <a:ext cx="1397000" cy="152400"/>
          </a:xfrm>
          <a:prstGeom prst="rect">
            <a:avLst/>
          </a:prstGeom>
          <a:noFill/>
          <a:ln>
            <a:noFill/>
          </a:ln>
        </p:spPr>
        <p:txBody>
          <a:bodyPr wrap="square" anchor="t" lIns="12700" tIns="12700" rIns="12700" bIns="12700"/>
          <a:lstStyle/>
          <a:p>
            <a:pPr algn="l"/>
            <a:r>
              <a:rPr lang="ja-JP" sz="1300">
                <a:solidFill>
                  <a:srgbClr val="666666"/>
                </a:solidFill>
                <a:latin typeface="Yu Gothic"/>
                <a:ea typeface="Yu Gothic"/>
              </a:rPr>
              <a:t>対応履歴として保存</a:t>
            </a:r>
          </a:p>
        </p:txBody>
      </p:sp>
      <p:sp>
        <p:nvSpPr>
          <p:cNvPr id="43" name="Shape 43"/>
          <p:cNvSpPr txBox="1"/>
          <p:nvPr/>
        </p:nvSpPr>
        <p:spPr>
          <a:xfrm>
            <a:off x="7270750" y="2266950"/>
            <a:ext cx="2032000" cy="3524250"/>
          </a:xfrm>
          <a:prstGeom prst="roundRect">
            <a:avLst/>
          </a:prstGeom>
          <a:solidFill>
            <a:srgbClr val="f5f5f5"/>
          </a:solidFill>
          <a:ln w="6350">
            <a:solidFill>
              <a:srgbClr val="dedede"/>
            </a:solidFill>
          </a:ln>
        </p:spPr>
      </p:sp>
      <p:sp>
        <p:nvSpPr>
          <p:cNvPr id="44" name="Text 44"/>
          <p:cNvSpPr txBox="1"/>
          <p:nvPr/>
        </p:nvSpPr>
        <p:spPr>
          <a:xfrm>
            <a:off x="7423150" y="2406650"/>
            <a:ext cx="1460500" cy="177800"/>
          </a:xfrm>
          <a:prstGeom prst="rect">
            <a:avLst/>
          </a:prstGeom>
          <a:noFill/>
          <a:ln>
            <a:noFill/>
          </a:ln>
        </p:spPr>
        <p:txBody>
          <a:bodyPr wrap="square" anchor="t" lIns="12700" tIns="12700" rIns="12700" bIns="12700"/>
          <a:lstStyle/>
          <a:p>
            <a:pPr algn="l"/>
            <a:r>
              <a:rPr lang="ja-JP" sz="1700" b="1">
                <a:solidFill>
                  <a:srgbClr val="111111"/>
                </a:solidFill>
                <a:latin typeface="Yu Gothic"/>
                <a:ea typeface="Yu Gothic"/>
              </a:rPr>
              <a:t>関連書類 / メモ</a:t>
            </a:r>
          </a:p>
        </p:txBody>
      </p:sp>
      <p:sp>
        <p:nvSpPr>
          <p:cNvPr id="45" name="Shape 45"/>
          <p:cNvSpPr txBox="1"/>
          <p:nvPr/>
        </p:nvSpPr>
        <p:spPr>
          <a:xfrm>
            <a:off x="7423150" y="2762250"/>
            <a:ext cx="1701800" cy="279400"/>
          </a:xfrm>
          <a:prstGeom prst="roundRect">
            <a:avLst/>
          </a:prstGeom>
          <a:solidFill>
            <a:srgbClr val="ffffff"/>
          </a:solidFill>
          <a:ln w="6350">
            <a:solidFill>
              <a:srgbClr val="dedede"/>
            </a:solidFill>
          </a:ln>
        </p:spPr>
      </p:sp>
      <p:sp>
        <p:nvSpPr>
          <p:cNvPr id="46" name="Text 46"/>
          <p:cNvSpPr txBox="1"/>
          <p:nvPr/>
        </p:nvSpPr>
        <p:spPr>
          <a:xfrm>
            <a:off x="7537450" y="2832100"/>
            <a:ext cx="1333500" cy="127000"/>
          </a:xfrm>
          <a:prstGeom prst="rect">
            <a:avLst/>
          </a:prstGeom>
          <a:noFill/>
          <a:ln>
            <a:noFill/>
          </a:ln>
        </p:spPr>
        <p:txBody>
          <a:bodyPr wrap="square" anchor="t" lIns="12700" tIns="12700" rIns="12700" bIns="12700"/>
          <a:lstStyle/>
          <a:p>
            <a:pPr algn="l"/>
            <a:r>
              <a:rPr lang="ja-JP" sz="1300" b="1">
                <a:solidFill>
                  <a:srgbClr val="111111"/>
                </a:solidFill>
                <a:latin typeface="Yu Gothic"/>
                <a:ea typeface="Yu Gothic"/>
              </a:rPr>
              <a:t>契約書ドラフト</a:t>
            </a:r>
          </a:p>
        </p:txBody>
      </p:sp>
      <p:sp>
        <p:nvSpPr>
          <p:cNvPr id="47" name="Shape 47"/>
          <p:cNvSpPr txBox="1"/>
          <p:nvPr/>
        </p:nvSpPr>
        <p:spPr>
          <a:xfrm>
            <a:off x="7423150" y="3181350"/>
            <a:ext cx="1701800" cy="279400"/>
          </a:xfrm>
          <a:prstGeom prst="roundRect">
            <a:avLst/>
          </a:prstGeom>
          <a:solidFill>
            <a:srgbClr val="ffffff"/>
          </a:solidFill>
          <a:ln w="6350">
            <a:solidFill>
              <a:srgbClr val="dedede"/>
            </a:solidFill>
          </a:ln>
        </p:spPr>
      </p:sp>
      <p:sp>
        <p:nvSpPr>
          <p:cNvPr id="48" name="Text 48"/>
          <p:cNvSpPr txBox="1"/>
          <p:nvPr/>
        </p:nvSpPr>
        <p:spPr>
          <a:xfrm>
            <a:off x="7537450" y="3251200"/>
            <a:ext cx="1333500" cy="127000"/>
          </a:xfrm>
          <a:prstGeom prst="rect">
            <a:avLst/>
          </a:prstGeom>
          <a:noFill/>
          <a:ln>
            <a:noFill/>
          </a:ln>
        </p:spPr>
        <p:txBody>
          <a:bodyPr wrap="square" anchor="t" lIns="12700" tIns="12700" rIns="12700" bIns="12700"/>
          <a:lstStyle/>
          <a:p>
            <a:pPr algn="l"/>
            <a:r>
              <a:rPr lang="ja-JP" sz="1300" b="1">
                <a:solidFill>
                  <a:srgbClr val="111111"/>
                </a:solidFill>
                <a:latin typeface="Yu Gothic"/>
                <a:ea typeface="Yu Gothic"/>
              </a:rPr>
              <a:t>見積依頼</a:t>
            </a:r>
          </a:p>
        </p:txBody>
      </p:sp>
      <p:sp>
        <p:nvSpPr>
          <p:cNvPr id="49" name="Shape 49"/>
          <p:cNvSpPr txBox="1"/>
          <p:nvPr/>
        </p:nvSpPr>
        <p:spPr>
          <a:xfrm>
            <a:off x="7423150" y="3600450"/>
            <a:ext cx="1701800" cy="279400"/>
          </a:xfrm>
          <a:prstGeom prst="roundRect">
            <a:avLst/>
          </a:prstGeom>
          <a:solidFill>
            <a:srgbClr val="ffffff"/>
          </a:solidFill>
          <a:ln w="6350">
            <a:solidFill>
              <a:srgbClr val="dedede"/>
            </a:solidFill>
          </a:ln>
        </p:spPr>
      </p:sp>
      <p:sp>
        <p:nvSpPr>
          <p:cNvPr id="50" name="Text 50"/>
          <p:cNvSpPr txBox="1"/>
          <p:nvPr/>
        </p:nvSpPr>
        <p:spPr>
          <a:xfrm>
            <a:off x="7537450" y="3670300"/>
            <a:ext cx="1333500" cy="127000"/>
          </a:xfrm>
          <a:prstGeom prst="rect">
            <a:avLst/>
          </a:prstGeom>
          <a:noFill/>
          <a:ln>
            <a:noFill/>
          </a:ln>
        </p:spPr>
        <p:txBody>
          <a:bodyPr wrap="square" anchor="t" lIns="12700" tIns="12700" rIns="12700" bIns="12700"/>
          <a:lstStyle/>
          <a:p>
            <a:pPr algn="l"/>
            <a:r>
              <a:rPr lang="ja-JP" sz="1300" b="1">
                <a:solidFill>
                  <a:srgbClr val="111111"/>
                </a:solidFill>
                <a:latin typeface="Yu Gothic"/>
                <a:ea typeface="Yu Gothic"/>
              </a:rPr>
              <a:t>入居者様問い合わせ</a:t>
            </a:r>
          </a:p>
        </p:txBody>
      </p:sp>
      <p:sp>
        <p:nvSpPr>
          <p:cNvPr id="51" name="Shape 51"/>
          <p:cNvSpPr txBox="1"/>
          <p:nvPr/>
        </p:nvSpPr>
        <p:spPr>
          <a:xfrm>
            <a:off x="7423150" y="4019550"/>
            <a:ext cx="1701800" cy="279400"/>
          </a:xfrm>
          <a:prstGeom prst="roundRect">
            <a:avLst/>
          </a:prstGeom>
          <a:solidFill>
            <a:srgbClr val="ffffff"/>
          </a:solidFill>
          <a:ln w="6350">
            <a:solidFill>
              <a:srgbClr val="dedede"/>
            </a:solidFill>
          </a:ln>
        </p:spPr>
      </p:sp>
      <p:sp>
        <p:nvSpPr>
          <p:cNvPr id="52" name="Text 52"/>
          <p:cNvSpPr txBox="1"/>
          <p:nvPr/>
        </p:nvSpPr>
        <p:spPr>
          <a:xfrm>
            <a:off x="7537450" y="4089400"/>
            <a:ext cx="1333500" cy="127000"/>
          </a:xfrm>
          <a:prstGeom prst="rect">
            <a:avLst/>
          </a:prstGeom>
          <a:noFill/>
          <a:ln>
            <a:noFill/>
          </a:ln>
        </p:spPr>
        <p:txBody>
          <a:bodyPr wrap="square" anchor="t" lIns="12700" tIns="12700" rIns="12700" bIns="12700"/>
          <a:lstStyle/>
          <a:p>
            <a:pPr algn="l"/>
            <a:r>
              <a:rPr lang="ja-JP" sz="1300" b="1">
                <a:solidFill>
                  <a:srgbClr val="111111"/>
                </a:solidFill>
                <a:latin typeface="Yu Gothic"/>
                <a:ea typeface="Yu Gothic"/>
              </a:rPr>
              <a:t>オーナー様報告メモ</a:t>
            </a:r>
          </a:p>
        </p:txBody>
      </p:sp>
      <p:sp>
        <p:nvSpPr>
          <p:cNvPr id="53" name="Shape 53"/>
          <p:cNvSpPr txBox="1"/>
          <p:nvPr/>
        </p:nvSpPr>
        <p:spPr>
          <a:xfrm>
            <a:off x="7423150" y="4438650"/>
            <a:ext cx="1701800" cy="279400"/>
          </a:xfrm>
          <a:prstGeom prst="roundRect">
            <a:avLst/>
          </a:prstGeom>
          <a:solidFill>
            <a:srgbClr val="ffffff"/>
          </a:solidFill>
          <a:ln w="6350">
            <a:solidFill>
              <a:srgbClr val="dedede"/>
            </a:solidFill>
          </a:ln>
        </p:spPr>
      </p:sp>
      <p:sp>
        <p:nvSpPr>
          <p:cNvPr id="54" name="Text 54"/>
          <p:cNvSpPr txBox="1"/>
          <p:nvPr/>
        </p:nvSpPr>
        <p:spPr>
          <a:xfrm>
            <a:off x="7537450" y="4508500"/>
            <a:ext cx="1333500" cy="127000"/>
          </a:xfrm>
          <a:prstGeom prst="rect">
            <a:avLst/>
          </a:prstGeom>
          <a:noFill/>
          <a:ln>
            <a:noFill/>
          </a:ln>
        </p:spPr>
        <p:txBody>
          <a:bodyPr wrap="square" anchor="t" lIns="12700" tIns="12700" rIns="12700" bIns="12700"/>
          <a:lstStyle/>
          <a:p>
            <a:pPr algn="l"/>
            <a:r>
              <a:rPr lang="ja-JP" sz="1300" b="1">
                <a:solidFill>
                  <a:srgbClr val="111111"/>
                </a:solidFill>
                <a:latin typeface="Yu Gothic"/>
                <a:ea typeface="Yu Gothic"/>
              </a:rPr>
              <a:t>過去対応履歴</a:t>
            </a:r>
          </a:p>
        </p:txBody>
      </p:sp>
      <p:sp>
        <p:nvSpPr>
          <p:cNvPr id="55" name="Shape 55"/>
          <p:cNvSpPr txBox="1"/>
          <p:nvPr/>
        </p:nvSpPr>
        <p:spPr>
          <a:xfrm>
            <a:off x="9842500" y="1651000"/>
            <a:ext cx="1905000" cy="4381500"/>
          </a:xfrm>
          <a:prstGeom prst="roundRect">
            <a:avLst/>
          </a:prstGeom>
          <a:solidFill>
            <a:srgbClr val="ffffff"/>
          </a:solidFill>
          <a:ln w="6350">
            <a:solidFill>
              <a:srgbClr val="dedede"/>
            </a:solidFill>
          </a:ln>
        </p:spPr>
      </p:sp>
      <p:sp>
        <p:nvSpPr>
          <p:cNvPr id="56" name="Text 56"/>
          <p:cNvSpPr txBox="1"/>
          <p:nvPr/>
        </p:nvSpPr>
        <p:spPr>
          <a:xfrm>
            <a:off x="10096500" y="1892300"/>
            <a:ext cx="1143000" cy="190500"/>
          </a:xfrm>
          <a:prstGeom prst="rect">
            <a:avLst/>
          </a:prstGeom>
          <a:noFill/>
          <a:ln>
            <a:noFill/>
          </a:ln>
        </p:spPr>
        <p:txBody>
          <a:bodyPr wrap="square" anchor="t" lIns="12700" tIns="12700" rIns="12700" bIns="12700"/>
          <a:lstStyle/>
          <a:p>
            <a:pPr algn="l"/>
            <a:r>
              <a:rPr lang="ja-JP" sz="2200" b="1">
                <a:solidFill>
                  <a:srgbClr val="ff1818"/>
                </a:solidFill>
                <a:latin typeface="Yu Gothic"/>
                <a:ea typeface="Yu Gothic"/>
              </a:rPr>
              <a:t>主な機能</a:t>
            </a:r>
          </a:p>
        </p:txBody>
      </p:sp>
      <p:sp>
        <p:nvSpPr>
          <p:cNvPr id="57" name="Shape 57"/>
          <p:cNvSpPr txBox="1"/>
          <p:nvPr/>
        </p:nvSpPr>
        <p:spPr>
          <a:xfrm>
            <a:off x="10064750" y="2413000"/>
            <a:ext cx="482600" cy="482600"/>
          </a:xfrm>
          <a:prstGeom prst="ellipse">
            <a:avLst/>
          </a:prstGeom>
          <a:solidFill>
            <a:srgbClr val="ffeaea"/>
          </a:solidFill>
          <a:ln w="6350">
            <a:solidFill>
              <a:srgbClr val="ffeaea"/>
            </a:solidFill>
          </a:ln>
        </p:spPr>
      </p:sp>
      <p:sp>
        <p:nvSpPr>
          <p:cNvPr id="58" name="Text 58"/>
          <p:cNvSpPr txBox="1"/>
          <p:nvPr/>
        </p:nvSpPr>
        <p:spPr>
          <a:xfrm>
            <a:off x="10191750" y="2501900"/>
            <a:ext cx="228600" cy="190500"/>
          </a:xfrm>
          <a:prstGeom prst="rect">
            <a:avLst/>
          </a:prstGeom>
          <a:noFill/>
          <a:ln>
            <a:noFill/>
          </a:ln>
        </p:spPr>
        <p:txBody>
          <a:bodyPr wrap="square" anchor="t" lIns="12700" tIns="12700" rIns="12700" bIns="12700"/>
          <a:lstStyle/>
          <a:p>
            <a:pPr algn="c"/>
            <a:r>
              <a:rPr lang="ja-JP" sz="3000" b="1">
                <a:solidFill>
                  <a:srgbClr val="ff1818"/>
                </a:solidFill>
                <a:latin typeface="Yu Gothic"/>
                <a:ea typeface="Yu Gothic"/>
              </a:rPr>
              <a:t>✓</a:t>
            </a:r>
          </a:p>
        </p:txBody>
      </p:sp>
      <p:sp>
        <p:nvSpPr>
          <p:cNvPr id="59" name="Text 59"/>
          <p:cNvSpPr txBox="1"/>
          <p:nvPr/>
        </p:nvSpPr>
        <p:spPr>
          <a:xfrm>
            <a:off x="10687050" y="2444750"/>
            <a:ext cx="1333500" cy="1778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一画面管理</a:t>
            </a:r>
          </a:p>
        </p:txBody>
      </p:sp>
      <p:sp>
        <p:nvSpPr>
          <p:cNvPr id="60" name="Text 60"/>
          <p:cNvSpPr txBox="1"/>
          <p:nvPr/>
        </p:nvSpPr>
        <p:spPr>
          <a:xfrm>
            <a:off x="10687050" y="2698750"/>
            <a:ext cx="1333500" cy="215900"/>
          </a:xfrm>
          <a:prstGeom prst="rect">
            <a:avLst/>
          </a:prstGeom>
          <a:noFill/>
          <a:ln>
            <a:noFill/>
          </a:ln>
        </p:spPr>
        <p:txBody>
          <a:bodyPr wrap="square" anchor="t" lIns="12700" tIns="12700" rIns="12700" bIns="12700"/>
          <a:lstStyle/>
          <a:p>
            <a:pPr algn="l"/>
            <a:r>
              <a:rPr lang="ja-JP" sz="1400">
                <a:solidFill>
                  <a:srgbClr val="666666"/>
                </a:solidFill>
                <a:latin typeface="Yu Gothic"/>
                <a:ea typeface="Yu Gothic"/>
              </a:rPr>
              <a:t>物件・契約・履歴を確認</a:t>
            </a:r>
          </a:p>
        </p:txBody>
      </p:sp>
      <p:sp>
        <p:nvSpPr>
          <p:cNvPr id="61" name="Shape 61"/>
          <p:cNvSpPr txBox="1"/>
          <p:nvPr/>
        </p:nvSpPr>
        <p:spPr>
          <a:xfrm>
            <a:off x="10064750" y="3429000"/>
            <a:ext cx="482600" cy="482600"/>
          </a:xfrm>
          <a:prstGeom prst="ellipse">
            <a:avLst/>
          </a:prstGeom>
          <a:solidFill>
            <a:srgbClr val="ffeaea"/>
          </a:solidFill>
          <a:ln w="6350">
            <a:solidFill>
              <a:srgbClr val="ffeaea"/>
            </a:solidFill>
          </a:ln>
        </p:spPr>
      </p:sp>
      <p:sp>
        <p:nvSpPr>
          <p:cNvPr id="62" name="Text 62"/>
          <p:cNvSpPr txBox="1"/>
          <p:nvPr/>
        </p:nvSpPr>
        <p:spPr>
          <a:xfrm>
            <a:off x="10191750" y="3517900"/>
            <a:ext cx="228600" cy="190500"/>
          </a:xfrm>
          <a:prstGeom prst="rect">
            <a:avLst/>
          </a:prstGeom>
          <a:noFill/>
          <a:ln>
            <a:noFill/>
          </a:ln>
        </p:spPr>
        <p:txBody>
          <a:bodyPr wrap="square" anchor="t" lIns="12700" tIns="12700" rIns="12700" bIns="12700"/>
          <a:lstStyle/>
          <a:p>
            <a:pPr algn="c"/>
            <a:r>
              <a:rPr lang="ja-JP" sz="3000" b="1">
                <a:solidFill>
                  <a:srgbClr val="ff1818"/>
                </a:solidFill>
                <a:latin typeface="Yu Gothic"/>
                <a:ea typeface="Yu Gothic"/>
              </a:rPr>
              <a:t>✓</a:t>
            </a:r>
          </a:p>
        </p:txBody>
      </p:sp>
      <p:sp>
        <p:nvSpPr>
          <p:cNvPr id="63" name="Text 63"/>
          <p:cNvSpPr txBox="1"/>
          <p:nvPr/>
        </p:nvSpPr>
        <p:spPr>
          <a:xfrm>
            <a:off x="10687050" y="3460750"/>
            <a:ext cx="1333500" cy="1778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進捗管理</a:t>
            </a:r>
          </a:p>
        </p:txBody>
      </p:sp>
      <p:sp>
        <p:nvSpPr>
          <p:cNvPr id="64" name="Text 64"/>
          <p:cNvSpPr txBox="1"/>
          <p:nvPr/>
        </p:nvSpPr>
        <p:spPr>
          <a:xfrm>
            <a:off x="10687050" y="3714750"/>
            <a:ext cx="1333500" cy="215900"/>
          </a:xfrm>
          <a:prstGeom prst="rect">
            <a:avLst/>
          </a:prstGeom>
          <a:noFill/>
          <a:ln>
            <a:noFill/>
          </a:ln>
        </p:spPr>
        <p:txBody>
          <a:bodyPr wrap="square" anchor="t" lIns="12700" tIns="12700" rIns="12700" bIns="12700"/>
          <a:lstStyle/>
          <a:p>
            <a:pPr algn="l"/>
            <a:r>
              <a:rPr lang="ja-JP" sz="1400">
                <a:solidFill>
                  <a:srgbClr val="666666"/>
                </a:solidFill>
                <a:latin typeface="Yu Gothic"/>
                <a:ea typeface="Yu Gothic"/>
              </a:rPr>
              <a:t>承認から完了まで可視化</a:t>
            </a:r>
          </a:p>
        </p:txBody>
      </p:sp>
      <p:sp>
        <p:nvSpPr>
          <p:cNvPr id="65" name="Shape 65"/>
          <p:cNvSpPr txBox="1"/>
          <p:nvPr/>
        </p:nvSpPr>
        <p:spPr>
          <a:xfrm>
            <a:off x="10064750" y="4445000"/>
            <a:ext cx="482600" cy="482600"/>
          </a:xfrm>
          <a:prstGeom prst="ellipse">
            <a:avLst/>
          </a:prstGeom>
          <a:solidFill>
            <a:srgbClr val="ffeaea"/>
          </a:solidFill>
          <a:ln w="6350">
            <a:solidFill>
              <a:srgbClr val="ffeaea"/>
            </a:solidFill>
          </a:ln>
        </p:spPr>
      </p:sp>
      <p:sp>
        <p:nvSpPr>
          <p:cNvPr id="66" name="Text 66"/>
          <p:cNvSpPr txBox="1"/>
          <p:nvPr/>
        </p:nvSpPr>
        <p:spPr>
          <a:xfrm>
            <a:off x="10191750" y="4533900"/>
            <a:ext cx="228600" cy="190500"/>
          </a:xfrm>
          <a:prstGeom prst="rect">
            <a:avLst/>
          </a:prstGeom>
          <a:noFill/>
          <a:ln>
            <a:noFill/>
          </a:ln>
        </p:spPr>
        <p:txBody>
          <a:bodyPr wrap="square" anchor="t" lIns="12700" tIns="12700" rIns="12700" bIns="12700"/>
          <a:lstStyle/>
          <a:p>
            <a:pPr algn="c"/>
            <a:r>
              <a:rPr lang="ja-JP" sz="3000" b="1">
                <a:solidFill>
                  <a:srgbClr val="ff1818"/>
                </a:solidFill>
                <a:latin typeface="Yu Gothic"/>
                <a:ea typeface="Yu Gothic"/>
              </a:rPr>
              <a:t>✓</a:t>
            </a:r>
          </a:p>
        </p:txBody>
      </p:sp>
      <p:sp>
        <p:nvSpPr>
          <p:cNvPr id="67" name="Text 67"/>
          <p:cNvSpPr txBox="1"/>
          <p:nvPr/>
        </p:nvSpPr>
        <p:spPr>
          <a:xfrm>
            <a:off x="10687050" y="4476750"/>
            <a:ext cx="1333500" cy="1778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書類連携</a:t>
            </a:r>
          </a:p>
        </p:txBody>
      </p:sp>
      <p:sp>
        <p:nvSpPr>
          <p:cNvPr id="68" name="Text 68"/>
          <p:cNvSpPr txBox="1"/>
          <p:nvPr/>
        </p:nvSpPr>
        <p:spPr>
          <a:xfrm>
            <a:off x="10687050" y="4730750"/>
            <a:ext cx="1333500" cy="215900"/>
          </a:xfrm>
          <a:prstGeom prst="rect">
            <a:avLst/>
          </a:prstGeom>
          <a:noFill/>
          <a:ln>
            <a:noFill/>
          </a:ln>
        </p:spPr>
        <p:txBody>
          <a:bodyPr wrap="square" anchor="t" lIns="12700" tIns="12700" rIns="12700" bIns="12700"/>
          <a:lstStyle/>
          <a:p>
            <a:pPr algn="l"/>
            <a:r>
              <a:rPr lang="ja-JP" sz="1400">
                <a:solidFill>
                  <a:srgbClr val="666666"/>
                </a:solidFill>
                <a:latin typeface="Yu Gothic"/>
                <a:ea typeface="Yu Gothic"/>
              </a:rPr>
              <a:t>契約書自動作成へ接続</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0" y="0"/>
            <a:ext cx="876300" cy="6858000"/>
          </a:xfrm>
          <a:prstGeom prst="rect">
            <a:avLst/>
          </a:prstGeom>
          <a:solidFill>
            <a:srgbClr val="ff1818"/>
          </a:solidFill>
          <a:ln w="6350">
            <a:solidFill>
              <a:srgbClr val="ff1818"/>
            </a:solidFill>
          </a:ln>
        </p:spPr>
      </p:sp>
      <p:sp>
        <p:nvSpPr>
          <p:cNvPr id="3" name="Text 3"/>
          <p:cNvSpPr txBox="1"/>
          <p:nvPr/>
        </p:nvSpPr>
        <p:spPr>
          <a:xfrm>
            <a:off x="209550" y="355600"/>
            <a:ext cx="457200" cy="152400"/>
          </a:xfrm>
          <a:prstGeom prst="rect">
            <a:avLst/>
          </a:prstGeom>
          <a:noFill/>
          <a:ln>
            <a:noFill/>
          </a:ln>
        </p:spPr>
        <p:txBody>
          <a:bodyPr wrap="square" anchor="t" lIns="12700" tIns="12700" rIns="12700" bIns="12700"/>
          <a:lstStyle/>
          <a:p>
            <a:pPr algn="c"/>
            <a:r>
              <a:rPr lang="ja-JP" sz="1400" b="1">
                <a:solidFill>
                  <a:srgbClr val="ffffff"/>
                </a:solidFill>
                <a:latin typeface="Yu Gothic"/>
                <a:ea typeface="Yu Gothic"/>
              </a:rPr>
              <a:t>Chapter</a:t>
            </a:r>
          </a:p>
        </p:txBody>
      </p:sp>
      <p:sp>
        <p:nvSpPr>
          <p:cNvPr id="4" name="Text 4"/>
          <p:cNvSpPr txBox="1"/>
          <p:nvPr/>
        </p:nvSpPr>
        <p:spPr>
          <a:xfrm>
            <a:off x="114300" y="609600"/>
            <a:ext cx="647700" cy="444500"/>
          </a:xfrm>
          <a:prstGeom prst="rect">
            <a:avLst/>
          </a:prstGeom>
          <a:noFill/>
          <a:ln>
            <a:noFill/>
          </a:ln>
        </p:spPr>
        <p:txBody>
          <a:bodyPr wrap="square" anchor="t" lIns="12700" tIns="12700" rIns="12700" bIns="12700"/>
          <a:lstStyle/>
          <a:p>
            <a:pPr algn="c"/>
            <a:r>
              <a:rPr lang="ja-JP" sz="5600" b="1">
                <a:solidFill>
                  <a:srgbClr val="ffffff"/>
                </a:solidFill>
                <a:latin typeface="Yu Gothic"/>
                <a:ea typeface="Yu Gothic"/>
              </a:rPr>
              <a:t>02</a:t>
            </a:r>
          </a:p>
        </p:txBody>
      </p:sp>
      <p:sp>
        <p:nvSpPr>
          <p:cNvPr id="5" name="Shape 5"/>
          <p:cNvSpPr txBox="1"/>
          <p:nvPr/>
        </p:nvSpPr>
        <p:spPr>
          <a:xfrm>
            <a:off x="209550" y="1193800"/>
            <a:ext cx="457200" cy="31750"/>
          </a:xfrm>
          <a:prstGeom prst="rect">
            <a:avLst/>
          </a:prstGeom>
          <a:solidFill>
            <a:srgbClr val="ffffff"/>
          </a:solidFill>
          <a:ln w="6350">
            <a:solidFill>
              <a:srgbClr val="ffffff"/>
            </a:solidFill>
          </a:ln>
        </p:spPr>
      </p:sp>
      <p:sp>
        <p:nvSpPr>
          <p:cNvPr id="6" name="Text 6"/>
          <p:cNvSpPr txBox="1"/>
          <p:nvPr/>
        </p:nvSpPr>
        <p:spPr>
          <a:xfrm>
            <a:off x="254000" y="6413500"/>
            <a:ext cx="342900" cy="215900"/>
          </a:xfrm>
          <a:prstGeom prst="rect">
            <a:avLst/>
          </a:prstGeom>
          <a:noFill/>
          <a:ln>
            <a:noFill/>
          </a:ln>
        </p:spPr>
        <p:txBody>
          <a:bodyPr wrap="square" anchor="t" lIns="12700" tIns="12700" rIns="12700" bIns="12700"/>
          <a:lstStyle/>
          <a:p>
            <a:pPr algn="c"/>
            <a:r>
              <a:rPr lang="ja-JP" sz="2200" b="1">
                <a:solidFill>
                  <a:srgbClr val="ffffff"/>
                </a:solidFill>
                <a:latin typeface="Yu Gothic"/>
                <a:ea typeface="Yu Gothic"/>
              </a:rPr>
              <a:t>11</a:t>
            </a:r>
          </a:p>
        </p:txBody>
      </p:sp>
      <p:sp>
        <p:nvSpPr>
          <p:cNvPr id="7" name="Shape 7"/>
          <p:cNvSpPr txBox="1"/>
          <p:nvPr/>
        </p:nvSpPr>
        <p:spPr>
          <a:xfrm>
            <a:off x="1174750" y="469900"/>
            <a:ext cx="952500" cy="88900"/>
          </a:xfrm>
          <a:prstGeom prst="rect">
            <a:avLst/>
          </a:prstGeom>
          <a:solidFill>
            <a:srgbClr val="ff1818"/>
          </a:solidFill>
          <a:ln w="6350">
            <a:solidFill>
              <a:srgbClr val="ff1818"/>
            </a:solidFill>
          </a:ln>
        </p:spPr>
      </p:sp>
      <p:sp>
        <p:nvSpPr>
          <p:cNvPr id="8" name="Text 8"/>
          <p:cNvSpPr txBox="1"/>
          <p:nvPr/>
        </p:nvSpPr>
        <p:spPr>
          <a:xfrm>
            <a:off x="1174750" y="711200"/>
            <a:ext cx="7937500" cy="342900"/>
          </a:xfrm>
          <a:prstGeom prst="rect">
            <a:avLst/>
          </a:prstGeom>
          <a:noFill/>
          <a:ln>
            <a:noFill/>
          </a:ln>
        </p:spPr>
        <p:txBody>
          <a:bodyPr wrap="square" anchor="t" lIns="12700" tIns="12700" rIns="12700" bIns="12700"/>
          <a:lstStyle/>
          <a:p>
            <a:pPr algn="l"/>
            <a:r>
              <a:rPr lang="ja-JP" sz="3200" b="1">
                <a:solidFill>
                  <a:srgbClr val="111111"/>
                </a:solidFill>
                <a:latin typeface="Yu Gothic"/>
                <a:ea typeface="Yu Gothic"/>
              </a:rPr>
              <a:t>スクショ資料3：社内FAQ・横断検索</a:t>
            </a:r>
          </a:p>
        </p:txBody>
      </p:sp>
      <p:sp>
        <p:nvSpPr>
          <p:cNvPr id="9" name="Text 9"/>
          <p:cNvSpPr txBox="1"/>
          <p:nvPr/>
        </p:nvSpPr>
        <p:spPr>
          <a:xfrm>
            <a:off x="1174750" y="1104900"/>
            <a:ext cx="3810000" cy="152400"/>
          </a:xfrm>
          <a:prstGeom prst="rect">
            <a:avLst/>
          </a:prstGeom>
          <a:noFill/>
          <a:ln>
            <a:noFill/>
          </a:ln>
        </p:spPr>
        <p:txBody>
          <a:bodyPr wrap="square" anchor="t" lIns="12700" tIns="12700" rIns="12700" bIns="12700"/>
          <a:lstStyle/>
          <a:p>
            <a:pPr algn="l"/>
            <a:r>
              <a:rPr lang="ja-JP" sz="1500" b="1">
                <a:solidFill>
                  <a:srgbClr val="666666"/>
                </a:solidFill>
                <a:latin typeface="Yu Gothic"/>
                <a:ea typeface="Yu Gothic"/>
              </a:rPr>
              <a:t>Chapter2</a:t>
            </a:r>
          </a:p>
        </p:txBody>
      </p:sp>
      <p:sp>
        <p:nvSpPr>
          <p:cNvPr id="10" name="Text 10"/>
          <p:cNvSpPr txBox="1"/>
          <p:nvPr/>
        </p:nvSpPr>
        <p:spPr>
          <a:xfrm>
            <a:off x="1365250" y="6464300"/>
            <a:ext cx="4445000" cy="190500"/>
          </a:xfrm>
          <a:prstGeom prst="rect">
            <a:avLst/>
          </a:prstGeom>
          <a:noFill/>
          <a:ln>
            <a:noFill/>
          </a:ln>
        </p:spPr>
        <p:txBody>
          <a:bodyPr wrap="square" anchor="t" lIns="12700" tIns="12700" rIns="12700" bIns="12700"/>
          <a:lstStyle/>
          <a:p>
            <a:pPr algn="l"/>
            <a:r>
              <a:rPr lang="ja-JP" sz="1200" b="1">
                <a:solidFill>
                  <a:srgbClr val="999999"/>
                </a:solidFill>
                <a:latin typeface="Yu Gothic"/>
                <a:ea typeface="Yu Gothic"/>
              </a:rPr>
              <a:t>Copyright @Field X inc. All rights reserved.</a:t>
            </a:r>
          </a:p>
        </p:txBody>
      </p:sp>
      <p:sp>
        <p:nvSpPr>
          <p:cNvPr id="11" name="Shape 11"/>
          <p:cNvSpPr txBox="1"/>
          <p:nvPr/>
        </p:nvSpPr>
        <p:spPr>
          <a:xfrm>
            <a:off x="1174750" y="1555750"/>
            <a:ext cx="8382000" cy="4476750"/>
          </a:xfrm>
          <a:prstGeom prst="roundRect">
            <a:avLst/>
          </a:prstGeom>
          <a:solidFill>
            <a:srgbClr val="ffffff"/>
          </a:solidFill>
          <a:ln w="12700">
            <a:solidFill>
              <a:srgbClr val="dedede"/>
            </a:solidFill>
          </a:ln>
        </p:spPr>
      </p:sp>
      <p:sp>
        <p:nvSpPr>
          <p:cNvPr id="12" name="Shape 12"/>
          <p:cNvSpPr txBox="1"/>
          <p:nvPr/>
        </p:nvSpPr>
        <p:spPr>
          <a:xfrm>
            <a:off x="1174750" y="1555750"/>
            <a:ext cx="1301750" cy="4476750"/>
          </a:xfrm>
          <a:prstGeom prst="rect">
            <a:avLst/>
          </a:prstGeom>
          <a:solidFill>
            <a:srgbClr val="15151b"/>
          </a:solidFill>
          <a:ln w="6350">
            <a:solidFill>
              <a:srgbClr val="15151b"/>
            </a:solidFill>
          </a:ln>
        </p:spPr>
      </p:sp>
      <p:sp>
        <p:nvSpPr>
          <p:cNvPr id="13" name="Shape 13"/>
          <p:cNvSpPr txBox="1"/>
          <p:nvPr/>
        </p:nvSpPr>
        <p:spPr>
          <a:xfrm>
            <a:off x="1377950" y="1771650"/>
            <a:ext cx="266700" cy="266700"/>
          </a:xfrm>
          <a:prstGeom prst="ellipse">
            <a:avLst/>
          </a:prstGeom>
          <a:solidFill>
            <a:srgbClr val="ff1818"/>
          </a:solidFill>
          <a:ln w="6350">
            <a:solidFill>
              <a:srgbClr val="ff1818"/>
            </a:solidFill>
          </a:ln>
        </p:spPr>
      </p:sp>
      <p:sp>
        <p:nvSpPr>
          <p:cNvPr id="14" name="Text 14"/>
          <p:cNvSpPr txBox="1"/>
          <p:nvPr/>
        </p:nvSpPr>
        <p:spPr>
          <a:xfrm>
            <a:off x="1720850" y="1778000"/>
            <a:ext cx="609600" cy="215900"/>
          </a:xfrm>
          <a:prstGeom prst="rect">
            <a:avLst/>
          </a:prstGeom>
          <a:noFill/>
          <a:ln>
            <a:noFill/>
          </a:ln>
        </p:spPr>
        <p:txBody>
          <a:bodyPr wrap="square" anchor="t" lIns="12700" tIns="12700" rIns="12700" bIns="12700"/>
          <a:lstStyle/>
          <a:p>
            <a:pPr algn="l"/>
            <a:r>
              <a:rPr lang="ja-JP" sz="2200" b="1">
                <a:solidFill>
                  <a:srgbClr val="ffffff"/>
                </a:solidFill>
                <a:latin typeface="Yu Gothic"/>
                <a:ea typeface="Yu Gothic"/>
              </a:rPr>
              <a:t>Field X</a:t>
            </a:r>
          </a:p>
        </p:txBody>
      </p:sp>
      <p:sp>
        <p:nvSpPr>
          <p:cNvPr id="15" name="Shape 15"/>
          <p:cNvSpPr txBox="1"/>
          <p:nvPr/>
        </p:nvSpPr>
        <p:spPr>
          <a:xfrm>
            <a:off x="2476500" y="1555750"/>
            <a:ext cx="7080250" cy="533400"/>
          </a:xfrm>
          <a:prstGeom prst="rect">
            <a:avLst/>
          </a:prstGeom>
          <a:solidFill>
            <a:srgbClr val="fcfcfc"/>
          </a:solidFill>
          <a:ln w="6350">
            <a:solidFill>
              <a:srgbClr val="dedede"/>
            </a:solidFill>
          </a:ln>
        </p:spPr>
      </p:sp>
      <p:sp>
        <p:nvSpPr>
          <p:cNvPr id="16" name="Text 16"/>
          <p:cNvSpPr txBox="1"/>
          <p:nvPr/>
        </p:nvSpPr>
        <p:spPr>
          <a:xfrm>
            <a:off x="2730500" y="1733550"/>
            <a:ext cx="4445000" cy="203200"/>
          </a:xfrm>
          <a:prstGeom prst="rect">
            <a:avLst/>
          </a:prstGeom>
          <a:noFill/>
          <a:ln>
            <a:noFill/>
          </a:ln>
        </p:spPr>
        <p:txBody>
          <a:bodyPr wrap="square" anchor="t" lIns="12700" tIns="12700" rIns="12700" bIns="12700"/>
          <a:lstStyle/>
          <a:p>
            <a:pPr algn="l"/>
            <a:r>
              <a:rPr lang="ja-JP" sz="1900" b="1">
                <a:solidFill>
                  <a:srgbClr val="111111"/>
                </a:solidFill>
                <a:latin typeface="Yu Gothic"/>
                <a:ea typeface="Yu Gothic"/>
              </a:rPr>
              <a:t>社内FAQ・横断検索</a:t>
            </a:r>
          </a:p>
        </p:txBody>
      </p:sp>
      <p:sp>
        <p:nvSpPr>
          <p:cNvPr id="17" name="Text 17"/>
          <p:cNvSpPr txBox="1"/>
          <p:nvPr/>
        </p:nvSpPr>
        <p:spPr>
          <a:xfrm>
            <a:off x="8401050" y="1746250"/>
            <a:ext cx="603250" cy="152400"/>
          </a:xfrm>
          <a:prstGeom prst="rect">
            <a:avLst/>
          </a:prstGeom>
          <a:noFill/>
          <a:ln>
            <a:noFill/>
          </a:ln>
        </p:spPr>
        <p:txBody>
          <a:bodyPr wrap="square" anchor="t" lIns="12700" tIns="12700" rIns="12700" bIns="12700"/>
          <a:lstStyle/>
          <a:p>
            <a:pPr algn="l"/>
            <a:r>
              <a:rPr lang="ja-JP" sz="1400">
                <a:solidFill>
                  <a:srgbClr val="666666"/>
                </a:solidFill>
                <a:latin typeface="Yu Gothic"/>
                <a:ea typeface="Yu Gothic"/>
              </a:rPr>
              <a:t>担当者</a:t>
            </a:r>
          </a:p>
        </p:txBody>
      </p:sp>
      <p:sp>
        <p:nvSpPr>
          <p:cNvPr id="18" name="Shape 18"/>
          <p:cNvSpPr txBox="1"/>
          <p:nvPr/>
        </p:nvSpPr>
        <p:spPr>
          <a:xfrm>
            <a:off x="1327150" y="2266950"/>
            <a:ext cx="1003300" cy="279400"/>
          </a:xfrm>
          <a:prstGeom prst="roundRect">
            <a:avLst/>
          </a:prstGeom>
          <a:solidFill>
            <a:srgbClr val="ff1818"/>
          </a:solidFill>
          <a:ln w="6350">
            <a:solidFill>
              <a:srgbClr val="ff1818"/>
            </a:solidFill>
          </a:ln>
        </p:spPr>
        <p:txBody>
          <a:bodyPr wrap="square" anchor="ctr" lIns="76200" tIns="76200" rIns="76200" bIns="76200"/>
          <a:lstStyle/>
          <a:p>
            <a:pPr algn="c"/>
            <a:r>
              <a:rPr lang="ja-JP" sz="1500" b="1">
                <a:solidFill>
                  <a:srgbClr val="ffffff"/>
                </a:solidFill>
                <a:latin typeface="Yu Gothic"/>
                <a:ea typeface="Yu Gothic"/>
              </a:rPr>
              <a:t>総合</a:t>
            </a:r>
          </a:p>
        </p:txBody>
      </p:sp>
      <p:sp>
        <p:nvSpPr>
          <p:cNvPr id="19" name="Shape 19"/>
          <p:cNvSpPr txBox="1"/>
          <p:nvPr/>
        </p:nvSpPr>
        <p:spPr>
          <a:xfrm>
            <a:off x="1327150" y="266700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物件</a:t>
            </a:r>
          </a:p>
        </p:txBody>
      </p:sp>
      <p:sp>
        <p:nvSpPr>
          <p:cNvPr id="20" name="Shape 20"/>
          <p:cNvSpPr txBox="1"/>
          <p:nvPr/>
        </p:nvSpPr>
        <p:spPr>
          <a:xfrm>
            <a:off x="1327150" y="306705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契約</a:t>
            </a:r>
          </a:p>
        </p:txBody>
      </p:sp>
      <p:sp>
        <p:nvSpPr>
          <p:cNvPr id="21" name="Shape 21"/>
          <p:cNvSpPr txBox="1"/>
          <p:nvPr/>
        </p:nvSpPr>
        <p:spPr>
          <a:xfrm>
            <a:off x="1327150" y="346710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修繕</a:t>
            </a:r>
          </a:p>
        </p:txBody>
      </p:sp>
      <p:sp>
        <p:nvSpPr>
          <p:cNvPr id="22" name="Shape 22"/>
          <p:cNvSpPr txBox="1"/>
          <p:nvPr/>
        </p:nvSpPr>
        <p:spPr>
          <a:xfrm>
            <a:off x="1327150" y="386715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書類</a:t>
            </a:r>
          </a:p>
        </p:txBody>
      </p:sp>
      <p:sp>
        <p:nvSpPr>
          <p:cNvPr id="23" name="Shape 23"/>
          <p:cNvSpPr txBox="1"/>
          <p:nvPr/>
        </p:nvSpPr>
        <p:spPr>
          <a:xfrm>
            <a:off x="1327150" y="426720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検索</a:t>
            </a:r>
          </a:p>
        </p:txBody>
      </p:sp>
      <p:sp>
        <p:nvSpPr>
          <p:cNvPr id="24" name="Shape 24"/>
          <p:cNvSpPr txBox="1"/>
          <p:nvPr/>
        </p:nvSpPr>
        <p:spPr>
          <a:xfrm>
            <a:off x="1377950" y="5448300"/>
            <a:ext cx="838200" cy="19050"/>
          </a:xfrm>
          <a:prstGeom prst="rect">
            <a:avLst/>
          </a:prstGeom>
          <a:solidFill>
            <a:srgbClr val="4c4c53"/>
          </a:solidFill>
          <a:ln w="6350">
            <a:solidFill>
              <a:srgbClr val="4c4c53"/>
            </a:solidFill>
          </a:ln>
        </p:spPr>
      </p:sp>
      <p:sp>
        <p:nvSpPr>
          <p:cNvPr id="25" name="Shape 25"/>
          <p:cNvSpPr txBox="1"/>
          <p:nvPr/>
        </p:nvSpPr>
        <p:spPr>
          <a:xfrm>
            <a:off x="1403350" y="5626100"/>
            <a:ext cx="215900" cy="215900"/>
          </a:xfrm>
          <a:prstGeom prst="ellipse">
            <a:avLst/>
          </a:prstGeom>
          <a:solidFill>
            <a:srgbClr val="f1f1f1"/>
          </a:solidFill>
          <a:ln w="6350">
            <a:solidFill>
              <a:srgbClr val="f1f1f1"/>
            </a:solidFill>
          </a:ln>
        </p:spPr>
      </p:sp>
      <p:sp>
        <p:nvSpPr>
          <p:cNvPr id="26" name="Text 26"/>
          <p:cNvSpPr txBox="1"/>
          <p:nvPr/>
        </p:nvSpPr>
        <p:spPr>
          <a:xfrm>
            <a:off x="1720850" y="5651500"/>
            <a:ext cx="508000" cy="139700"/>
          </a:xfrm>
          <a:prstGeom prst="rect">
            <a:avLst/>
          </a:prstGeom>
          <a:noFill/>
          <a:ln>
            <a:noFill/>
          </a:ln>
        </p:spPr>
        <p:txBody>
          <a:bodyPr wrap="square" anchor="t" lIns="12700" tIns="12700" rIns="12700" bIns="12700"/>
          <a:lstStyle/>
          <a:p>
            <a:pPr algn="l"/>
            <a:r>
              <a:rPr lang="ja-JP" sz="1300">
                <a:solidFill>
                  <a:srgbClr val="d0d0d0"/>
                </a:solidFill>
                <a:latin typeface="Yu Gothic"/>
                <a:ea typeface="Yu Gothic"/>
              </a:rPr>
              <a:t>設定</a:t>
            </a:r>
          </a:p>
        </p:txBody>
      </p:sp>
      <p:sp>
        <p:nvSpPr>
          <p:cNvPr id="27" name="Shape 27"/>
          <p:cNvSpPr txBox="1"/>
          <p:nvPr/>
        </p:nvSpPr>
        <p:spPr>
          <a:xfrm>
            <a:off x="2825750" y="2266950"/>
            <a:ext cx="6413500" cy="444500"/>
          </a:xfrm>
          <a:prstGeom prst="roundRect">
            <a:avLst/>
          </a:prstGeom>
          <a:solidFill>
            <a:srgbClr val="f5f5f5"/>
          </a:solidFill>
          <a:ln w="6350">
            <a:solidFill>
              <a:srgbClr val="dedede"/>
            </a:solidFill>
          </a:ln>
        </p:spPr>
      </p:sp>
      <p:sp>
        <p:nvSpPr>
          <p:cNvPr id="28" name="Text 28"/>
          <p:cNvSpPr txBox="1"/>
          <p:nvPr/>
        </p:nvSpPr>
        <p:spPr>
          <a:xfrm>
            <a:off x="2978150" y="2393950"/>
            <a:ext cx="3302000" cy="177800"/>
          </a:xfrm>
          <a:prstGeom prst="rect">
            <a:avLst/>
          </a:prstGeom>
          <a:noFill/>
          <a:ln>
            <a:noFill/>
          </a:ln>
        </p:spPr>
        <p:txBody>
          <a:bodyPr wrap="square" anchor="t" lIns="12700" tIns="12700" rIns="12700" bIns="12700"/>
          <a:lstStyle/>
          <a:p>
            <a:pPr algn="l"/>
            <a:r>
              <a:rPr lang="ja-JP" sz="1900" b="1">
                <a:solidFill>
                  <a:srgbClr val="111111"/>
                </a:solidFill>
                <a:latin typeface="Yu Gothic"/>
                <a:ea typeface="Yu Gothic"/>
              </a:rPr>
              <a:t>契約更新時の注意点を検索</a:t>
            </a:r>
          </a:p>
        </p:txBody>
      </p:sp>
      <p:sp>
        <p:nvSpPr>
          <p:cNvPr id="29" name="Shape 29"/>
          <p:cNvSpPr txBox="1"/>
          <p:nvPr/>
        </p:nvSpPr>
        <p:spPr>
          <a:xfrm>
            <a:off x="2825750" y="3028950"/>
            <a:ext cx="2476500" cy="876300"/>
          </a:xfrm>
          <a:prstGeom prst="roundRect">
            <a:avLst/>
          </a:prstGeom>
          <a:solidFill>
            <a:srgbClr val="ffffff"/>
          </a:solidFill>
          <a:ln w="6350">
            <a:solidFill>
              <a:srgbClr val="dedede"/>
            </a:solidFill>
          </a:ln>
        </p:spPr>
      </p:sp>
      <p:sp>
        <p:nvSpPr>
          <p:cNvPr id="30" name="Shape 30"/>
          <p:cNvSpPr txBox="1"/>
          <p:nvPr/>
        </p:nvSpPr>
        <p:spPr>
          <a:xfrm>
            <a:off x="2965450" y="3143250"/>
            <a:ext cx="952500" cy="241300"/>
          </a:xfrm>
          <a:prstGeom prst="roundRect">
            <a:avLst/>
          </a:prstGeom>
          <a:solidFill>
            <a:srgbClr val="ffeaea"/>
          </a:solidFill>
          <a:ln w="6350">
            <a:solidFill>
              <a:srgbClr val="ffeaea"/>
            </a:solidFill>
          </a:ln>
        </p:spPr>
        <p:txBody>
          <a:bodyPr wrap="square" anchor="ctr" lIns="76200" tIns="76200" rIns="76200" bIns="76200"/>
          <a:lstStyle/>
          <a:p>
            <a:pPr algn="c"/>
            <a:r>
              <a:rPr lang="ja-JP" sz="1400" b="1">
                <a:solidFill>
                  <a:srgbClr val="ff1818"/>
                </a:solidFill>
                <a:latin typeface="Yu Gothic"/>
                <a:ea typeface="Yu Gothic"/>
              </a:rPr>
              <a:t>社内FAQ</a:t>
            </a:r>
          </a:p>
        </p:txBody>
      </p:sp>
      <p:sp>
        <p:nvSpPr>
          <p:cNvPr id="31" name="Text 31"/>
          <p:cNvSpPr txBox="1"/>
          <p:nvPr/>
        </p:nvSpPr>
        <p:spPr>
          <a:xfrm>
            <a:off x="2978150" y="3498850"/>
            <a:ext cx="2095500" cy="266700"/>
          </a:xfrm>
          <a:prstGeom prst="rect">
            <a:avLst/>
          </a:prstGeom>
          <a:noFill/>
          <a:ln>
            <a:noFill/>
          </a:ln>
        </p:spPr>
        <p:txBody>
          <a:bodyPr wrap="square" anchor="t" lIns="12700" tIns="12700" rIns="12700" bIns="12700"/>
          <a:lstStyle/>
          <a:p>
            <a:pPr algn="l"/>
            <a:r>
              <a:rPr lang="ja-JP" sz="1300">
                <a:solidFill>
                  <a:srgbClr val="333333"/>
                </a:solidFill>
                <a:latin typeface="Yu Gothic"/>
                <a:ea typeface="Yu Gothic"/>
              </a:rPr>
              <a:t>更新案内、請求、インボイス対応の社内手順を提示</a:t>
            </a:r>
          </a:p>
        </p:txBody>
      </p:sp>
      <p:sp>
        <p:nvSpPr>
          <p:cNvPr id="32" name="Shape 32"/>
          <p:cNvSpPr txBox="1"/>
          <p:nvPr/>
        </p:nvSpPr>
        <p:spPr>
          <a:xfrm>
            <a:off x="5556250" y="3028950"/>
            <a:ext cx="2476500" cy="876300"/>
          </a:xfrm>
          <a:prstGeom prst="roundRect">
            <a:avLst/>
          </a:prstGeom>
          <a:solidFill>
            <a:srgbClr val="ffffff"/>
          </a:solidFill>
          <a:ln w="6350">
            <a:solidFill>
              <a:srgbClr val="dedede"/>
            </a:solidFill>
          </a:ln>
        </p:spPr>
      </p:sp>
      <p:sp>
        <p:nvSpPr>
          <p:cNvPr id="33" name="Shape 33"/>
          <p:cNvSpPr txBox="1"/>
          <p:nvPr/>
        </p:nvSpPr>
        <p:spPr>
          <a:xfrm>
            <a:off x="5695950" y="3143250"/>
            <a:ext cx="952500" cy="241300"/>
          </a:xfrm>
          <a:prstGeom prst="roundRect">
            <a:avLst/>
          </a:prstGeom>
          <a:solidFill>
            <a:srgbClr val="ffeaea"/>
          </a:solidFill>
          <a:ln w="6350">
            <a:solidFill>
              <a:srgbClr val="ffeaea"/>
            </a:solidFill>
          </a:ln>
        </p:spPr>
        <p:txBody>
          <a:bodyPr wrap="square" anchor="ctr" lIns="76200" tIns="76200" rIns="76200" bIns="76200"/>
          <a:lstStyle/>
          <a:p>
            <a:pPr algn="c"/>
            <a:r>
              <a:rPr lang="ja-JP" sz="1400" b="1">
                <a:solidFill>
                  <a:srgbClr val="ff1818"/>
                </a:solidFill>
                <a:latin typeface="Yu Gothic"/>
                <a:ea typeface="Yu Gothic"/>
              </a:rPr>
              <a:t>契約書</a:t>
            </a:r>
          </a:p>
        </p:txBody>
      </p:sp>
      <p:sp>
        <p:nvSpPr>
          <p:cNvPr id="34" name="Text 34"/>
          <p:cNvSpPr txBox="1"/>
          <p:nvPr/>
        </p:nvSpPr>
        <p:spPr>
          <a:xfrm>
            <a:off x="5708650" y="3498850"/>
            <a:ext cx="2095500" cy="266700"/>
          </a:xfrm>
          <a:prstGeom prst="rect">
            <a:avLst/>
          </a:prstGeom>
          <a:noFill/>
          <a:ln>
            <a:noFill/>
          </a:ln>
        </p:spPr>
        <p:txBody>
          <a:bodyPr wrap="square" anchor="t" lIns="12700" tIns="12700" rIns="12700" bIns="12700"/>
          <a:lstStyle/>
          <a:p>
            <a:pPr algn="l"/>
            <a:r>
              <a:rPr lang="ja-JP" sz="1300">
                <a:solidFill>
                  <a:srgbClr val="333333"/>
                </a:solidFill>
                <a:latin typeface="Yu Gothic"/>
                <a:ea typeface="Yu Gothic"/>
              </a:rPr>
              <a:t>関連条文と過去のドラフトを候補表示</a:t>
            </a:r>
          </a:p>
        </p:txBody>
      </p:sp>
      <p:sp>
        <p:nvSpPr>
          <p:cNvPr id="35" name="Shape 35"/>
          <p:cNvSpPr txBox="1"/>
          <p:nvPr/>
        </p:nvSpPr>
        <p:spPr>
          <a:xfrm>
            <a:off x="2825750" y="4171950"/>
            <a:ext cx="2476500" cy="876300"/>
          </a:xfrm>
          <a:prstGeom prst="roundRect">
            <a:avLst/>
          </a:prstGeom>
          <a:solidFill>
            <a:srgbClr val="ffffff"/>
          </a:solidFill>
          <a:ln w="6350">
            <a:solidFill>
              <a:srgbClr val="dedede"/>
            </a:solidFill>
          </a:ln>
        </p:spPr>
      </p:sp>
      <p:sp>
        <p:nvSpPr>
          <p:cNvPr id="36" name="Shape 36"/>
          <p:cNvSpPr txBox="1"/>
          <p:nvPr/>
        </p:nvSpPr>
        <p:spPr>
          <a:xfrm>
            <a:off x="2965450" y="4286250"/>
            <a:ext cx="952500" cy="241300"/>
          </a:xfrm>
          <a:prstGeom prst="roundRect">
            <a:avLst/>
          </a:prstGeom>
          <a:solidFill>
            <a:srgbClr val="ffeaea"/>
          </a:solidFill>
          <a:ln w="6350">
            <a:solidFill>
              <a:srgbClr val="ffeaea"/>
            </a:solidFill>
          </a:ln>
        </p:spPr>
        <p:txBody>
          <a:bodyPr wrap="square" anchor="ctr" lIns="76200" tIns="76200" rIns="76200" bIns="76200"/>
          <a:lstStyle/>
          <a:p>
            <a:pPr algn="c"/>
            <a:r>
              <a:rPr lang="ja-JP" sz="1400" b="1">
                <a:solidFill>
                  <a:srgbClr val="ff1818"/>
                </a:solidFill>
                <a:latin typeface="Yu Gothic"/>
                <a:ea typeface="Yu Gothic"/>
              </a:rPr>
              <a:t>対応履歴</a:t>
            </a:r>
          </a:p>
        </p:txBody>
      </p:sp>
      <p:sp>
        <p:nvSpPr>
          <p:cNvPr id="37" name="Text 37"/>
          <p:cNvSpPr txBox="1"/>
          <p:nvPr/>
        </p:nvSpPr>
        <p:spPr>
          <a:xfrm>
            <a:off x="2978150" y="4641850"/>
            <a:ext cx="2095500" cy="266700"/>
          </a:xfrm>
          <a:prstGeom prst="rect">
            <a:avLst/>
          </a:prstGeom>
          <a:noFill/>
          <a:ln>
            <a:noFill/>
          </a:ln>
        </p:spPr>
        <p:txBody>
          <a:bodyPr wrap="square" anchor="t" lIns="12700" tIns="12700" rIns="12700" bIns="12700"/>
          <a:lstStyle/>
          <a:p>
            <a:pPr algn="l"/>
            <a:r>
              <a:rPr lang="ja-JP" sz="1300">
                <a:solidFill>
                  <a:srgbClr val="333333"/>
                </a:solidFill>
                <a:latin typeface="Yu Gothic"/>
                <a:ea typeface="Yu Gothic"/>
              </a:rPr>
              <a:t>類似案件の入居者様対応履歴を要約</a:t>
            </a:r>
          </a:p>
        </p:txBody>
      </p:sp>
      <p:sp>
        <p:nvSpPr>
          <p:cNvPr id="38" name="Shape 38"/>
          <p:cNvSpPr txBox="1"/>
          <p:nvPr/>
        </p:nvSpPr>
        <p:spPr>
          <a:xfrm>
            <a:off x="5556250" y="4171950"/>
            <a:ext cx="2476500" cy="876300"/>
          </a:xfrm>
          <a:prstGeom prst="roundRect">
            <a:avLst/>
          </a:prstGeom>
          <a:solidFill>
            <a:srgbClr val="ffffff"/>
          </a:solidFill>
          <a:ln w="6350">
            <a:solidFill>
              <a:srgbClr val="dedede"/>
            </a:solidFill>
          </a:ln>
        </p:spPr>
      </p:sp>
      <p:sp>
        <p:nvSpPr>
          <p:cNvPr id="39" name="Shape 39"/>
          <p:cNvSpPr txBox="1"/>
          <p:nvPr/>
        </p:nvSpPr>
        <p:spPr>
          <a:xfrm>
            <a:off x="5695950" y="4286250"/>
            <a:ext cx="952500" cy="241300"/>
          </a:xfrm>
          <a:prstGeom prst="roundRect">
            <a:avLst/>
          </a:prstGeom>
          <a:solidFill>
            <a:srgbClr val="ffeaea"/>
          </a:solidFill>
          <a:ln w="6350">
            <a:solidFill>
              <a:srgbClr val="ffeaea"/>
            </a:solidFill>
          </a:ln>
        </p:spPr>
        <p:txBody>
          <a:bodyPr wrap="square" anchor="ctr" lIns="76200" tIns="76200" rIns="76200" bIns="76200"/>
          <a:lstStyle/>
          <a:p>
            <a:pPr algn="c"/>
            <a:r>
              <a:rPr lang="ja-JP" sz="1400" b="1">
                <a:solidFill>
                  <a:srgbClr val="ff1818"/>
                </a:solidFill>
                <a:latin typeface="Yu Gothic"/>
                <a:ea typeface="Yu Gothic"/>
              </a:rPr>
              <a:t>オーナー報告</a:t>
            </a:r>
          </a:p>
        </p:txBody>
      </p:sp>
      <p:sp>
        <p:nvSpPr>
          <p:cNvPr id="40" name="Text 40"/>
          <p:cNvSpPr txBox="1"/>
          <p:nvPr/>
        </p:nvSpPr>
        <p:spPr>
          <a:xfrm>
            <a:off x="5708650" y="4641850"/>
            <a:ext cx="2095500" cy="266700"/>
          </a:xfrm>
          <a:prstGeom prst="rect">
            <a:avLst/>
          </a:prstGeom>
          <a:noFill/>
          <a:ln>
            <a:noFill/>
          </a:ln>
        </p:spPr>
        <p:txBody>
          <a:bodyPr wrap="square" anchor="t" lIns="12700" tIns="12700" rIns="12700" bIns="12700"/>
          <a:lstStyle/>
          <a:p>
            <a:pPr algn="l"/>
            <a:r>
              <a:rPr lang="ja-JP" sz="1300">
                <a:solidFill>
                  <a:srgbClr val="333333"/>
                </a:solidFill>
                <a:latin typeface="Yu Gothic"/>
                <a:ea typeface="Yu Gothic"/>
              </a:rPr>
              <a:t>訪問前に物件・収支・過去提案を整理</a:t>
            </a:r>
          </a:p>
        </p:txBody>
      </p:sp>
      <p:sp>
        <p:nvSpPr>
          <p:cNvPr id="41" name="Shape 41"/>
          <p:cNvSpPr txBox="1"/>
          <p:nvPr/>
        </p:nvSpPr>
        <p:spPr>
          <a:xfrm>
            <a:off x="9842500" y="1651000"/>
            <a:ext cx="1905000" cy="4381500"/>
          </a:xfrm>
          <a:prstGeom prst="roundRect">
            <a:avLst/>
          </a:prstGeom>
          <a:solidFill>
            <a:srgbClr val="ffffff"/>
          </a:solidFill>
          <a:ln w="6350">
            <a:solidFill>
              <a:srgbClr val="dedede"/>
            </a:solidFill>
          </a:ln>
        </p:spPr>
      </p:sp>
      <p:sp>
        <p:nvSpPr>
          <p:cNvPr id="42" name="Text 42"/>
          <p:cNvSpPr txBox="1"/>
          <p:nvPr/>
        </p:nvSpPr>
        <p:spPr>
          <a:xfrm>
            <a:off x="10096500" y="1892300"/>
            <a:ext cx="1143000" cy="190500"/>
          </a:xfrm>
          <a:prstGeom prst="rect">
            <a:avLst/>
          </a:prstGeom>
          <a:noFill/>
          <a:ln>
            <a:noFill/>
          </a:ln>
        </p:spPr>
        <p:txBody>
          <a:bodyPr wrap="square" anchor="t" lIns="12700" tIns="12700" rIns="12700" bIns="12700"/>
          <a:lstStyle/>
          <a:p>
            <a:pPr algn="l"/>
            <a:r>
              <a:rPr lang="ja-JP" sz="2200" b="1">
                <a:solidFill>
                  <a:srgbClr val="ff1818"/>
                </a:solidFill>
                <a:latin typeface="Yu Gothic"/>
                <a:ea typeface="Yu Gothic"/>
              </a:rPr>
              <a:t>拡張時の価値</a:t>
            </a:r>
          </a:p>
        </p:txBody>
      </p:sp>
      <p:sp>
        <p:nvSpPr>
          <p:cNvPr id="43" name="Shape 43"/>
          <p:cNvSpPr txBox="1"/>
          <p:nvPr/>
        </p:nvSpPr>
        <p:spPr>
          <a:xfrm>
            <a:off x="10064750" y="2413000"/>
            <a:ext cx="482600" cy="482600"/>
          </a:xfrm>
          <a:prstGeom prst="ellipse">
            <a:avLst/>
          </a:prstGeom>
          <a:solidFill>
            <a:srgbClr val="ffeaea"/>
          </a:solidFill>
          <a:ln w="6350">
            <a:solidFill>
              <a:srgbClr val="ffeaea"/>
            </a:solidFill>
          </a:ln>
        </p:spPr>
      </p:sp>
      <p:sp>
        <p:nvSpPr>
          <p:cNvPr id="44" name="Text 44"/>
          <p:cNvSpPr txBox="1"/>
          <p:nvPr/>
        </p:nvSpPr>
        <p:spPr>
          <a:xfrm>
            <a:off x="10191750" y="2501900"/>
            <a:ext cx="228600" cy="190500"/>
          </a:xfrm>
          <a:prstGeom prst="rect">
            <a:avLst/>
          </a:prstGeom>
          <a:noFill/>
          <a:ln>
            <a:noFill/>
          </a:ln>
        </p:spPr>
        <p:txBody>
          <a:bodyPr wrap="square" anchor="t" lIns="12700" tIns="12700" rIns="12700" bIns="12700"/>
          <a:lstStyle/>
          <a:p>
            <a:pPr algn="c"/>
            <a:r>
              <a:rPr lang="ja-JP" sz="3000" b="1">
                <a:solidFill>
                  <a:srgbClr val="ff1818"/>
                </a:solidFill>
                <a:latin typeface="Yu Gothic"/>
                <a:ea typeface="Yu Gothic"/>
              </a:rPr>
              <a:t>✓</a:t>
            </a:r>
          </a:p>
        </p:txBody>
      </p:sp>
      <p:sp>
        <p:nvSpPr>
          <p:cNvPr id="45" name="Text 45"/>
          <p:cNvSpPr txBox="1"/>
          <p:nvPr/>
        </p:nvSpPr>
        <p:spPr>
          <a:xfrm>
            <a:off x="10687050" y="2444750"/>
            <a:ext cx="1333500" cy="1778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横断検索</a:t>
            </a:r>
          </a:p>
        </p:txBody>
      </p:sp>
      <p:sp>
        <p:nvSpPr>
          <p:cNvPr id="46" name="Text 46"/>
          <p:cNvSpPr txBox="1"/>
          <p:nvPr/>
        </p:nvSpPr>
        <p:spPr>
          <a:xfrm>
            <a:off x="10687050" y="2698750"/>
            <a:ext cx="1333500" cy="215900"/>
          </a:xfrm>
          <a:prstGeom prst="rect">
            <a:avLst/>
          </a:prstGeom>
          <a:noFill/>
          <a:ln>
            <a:noFill/>
          </a:ln>
        </p:spPr>
        <p:txBody>
          <a:bodyPr wrap="square" anchor="t" lIns="12700" tIns="12700" rIns="12700" bIns="12700"/>
          <a:lstStyle/>
          <a:p>
            <a:pPr algn="l"/>
            <a:r>
              <a:rPr lang="ja-JP" sz="1400">
                <a:solidFill>
                  <a:srgbClr val="666666"/>
                </a:solidFill>
                <a:latin typeface="Yu Gothic"/>
                <a:ea typeface="Yu Gothic"/>
              </a:rPr>
              <a:t>契約書・規程・履歴を検索</a:t>
            </a:r>
          </a:p>
        </p:txBody>
      </p:sp>
      <p:sp>
        <p:nvSpPr>
          <p:cNvPr id="47" name="Shape 47"/>
          <p:cNvSpPr txBox="1"/>
          <p:nvPr/>
        </p:nvSpPr>
        <p:spPr>
          <a:xfrm>
            <a:off x="10064750" y="3429000"/>
            <a:ext cx="482600" cy="482600"/>
          </a:xfrm>
          <a:prstGeom prst="ellipse">
            <a:avLst/>
          </a:prstGeom>
          <a:solidFill>
            <a:srgbClr val="ffeaea"/>
          </a:solidFill>
          <a:ln w="6350">
            <a:solidFill>
              <a:srgbClr val="ffeaea"/>
            </a:solidFill>
          </a:ln>
        </p:spPr>
      </p:sp>
      <p:sp>
        <p:nvSpPr>
          <p:cNvPr id="48" name="Text 48"/>
          <p:cNvSpPr txBox="1"/>
          <p:nvPr/>
        </p:nvSpPr>
        <p:spPr>
          <a:xfrm>
            <a:off x="10191750" y="3517900"/>
            <a:ext cx="228600" cy="190500"/>
          </a:xfrm>
          <a:prstGeom prst="rect">
            <a:avLst/>
          </a:prstGeom>
          <a:noFill/>
          <a:ln>
            <a:noFill/>
          </a:ln>
        </p:spPr>
        <p:txBody>
          <a:bodyPr wrap="square" anchor="t" lIns="12700" tIns="12700" rIns="12700" bIns="12700"/>
          <a:lstStyle/>
          <a:p>
            <a:pPr algn="c"/>
            <a:r>
              <a:rPr lang="ja-JP" sz="3000" b="1">
                <a:solidFill>
                  <a:srgbClr val="ff1818"/>
                </a:solidFill>
                <a:latin typeface="Yu Gothic"/>
                <a:ea typeface="Yu Gothic"/>
              </a:rPr>
              <a:t>✓</a:t>
            </a:r>
          </a:p>
        </p:txBody>
      </p:sp>
      <p:sp>
        <p:nvSpPr>
          <p:cNvPr id="49" name="Text 49"/>
          <p:cNvSpPr txBox="1"/>
          <p:nvPr/>
        </p:nvSpPr>
        <p:spPr>
          <a:xfrm>
            <a:off x="10687050" y="3460750"/>
            <a:ext cx="1333500" cy="1778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属人化軽減</a:t>
            </a:r>
          </a:p>
        </p:txBody>
      </p:sp>
      <p:sp>
        <p:nvSpPr>
          <p:cNvPr id="50" name="Text 50"/>
          <p:cNvSpPr txBox="1"/>
          <p:nvPr/>
        </p:nvSpPr>
        <p:spPr>
          <a:xfrm>
            <a:off x="10687050" y="3714750"/>
            <a:ext cx="1333500" cy="215900"/>
          </a:xfrm>
          <a:prstGeom prst="rect">
            <a:avLst/>
          </a:prstGeom>
          <a:noFill/>
          <a:ln>
            <a:noFill/>
          </a:ln>
        </p:spPr>
        <p:txBody>
          <a:bodyPr wrap="square" anchor="t" lIns="12700" tIns="12700" rIns="12700" bIns="12700"/>
          <a:lstStyle/>
          <a:p>
            <a:pPr algn="l"/>
            <a:r>
              <a:rPr lang="ja-JP" sz="1400">
                <a:solidFill>
                  <a:srgbClr val="666666"/>
                </a:solidFill>
                <a:latin typeface="Yu Gothic"/>
                <a:ea typeface="Yu Gothic"/>
              </a:rPr>
              <a:t>担当者ごとの差を小さくする</a:t>
            </a:r>
          </a:p>
        </p:txBody>
      </p:sp>
      <p:sp>
        <p:nvSpPr>
          <p:cNvPr id="51" name="Shape 51"/>
          <p:cNvSpPr txBox="1"/>
          <p:nvPr/>
        </p:nvSpPr>
        <p:spPr>
          <a:xfrm>
            <a:off x="10064750" y="4445000"/>
            <a:ext cx="482600" cy="482600"/>
          </a:xfrm>
          <a:prstGeom prst="ellipse">
            <a:avLst/>
          </a:prstGeom>
          <a:solidFill>
            <a:srgbClr val="ffeaea"/>
          </a:solidFill>
          <a:ln w="6350">
            <a:solidFill>
              <a:srgbClr val="ffeaea"/>
            </a:solidFill>
          </a:ln>
        </p:spPr>
      </p:sp>
      <p:sp>
        <p:nvSpPr>
          <p:cNvPr id="52" name="Text 52"/>
          <p:cNvSpPr txBox="1"/>
          <p:nvPr/>
        </p:nvSpPr>
        <p:spPr>
          <a:xfrm>
            <a:off x="10191750" y="4533900"/>
            <a:ext cx="228600" cy="190500"/>
          </a:xfrm>
          <a:prstGeom prst="rect">
            <a:avLst/>
          </a:prstGeom>
          <a:noFill/>
          <a:ln>
            <a:noFill/>
          </a:ln>
        </p:spPr>
        <p:txBody>
          <a:bodyPr wrap="square" anchor="t" lIns="12700" tIns="12700" rIns="12700" bIns="12700"/>
          <a:lstStyle/>
          <a:p>
            <a:pPr algn="c"/>
            <a:r>
              <a:rPr lang="ja-JP" sz="3000" b="1">
                <a:solidFill>
                  <a:srgbClr val="ff1818"/>
                </a:solidFill>
                <a:latin typeface="Yu Gothic"/>
                <a:ea typeface="Yu Gothic"/>
              </a:rPr>
              <a:t>✓</a:t>
            </a:r>
          </a:p>
        </p:txBody>
      </p:sp>
      <p:sp>
        <p:nvSpPr>
          <p:cNvPr id="53" name="Text 53"/>
          <p:cNvSpPr txBox="1"/>
          <p:nvPr/>
        </p:nvSpPr>
        <p:spPr>
          <a:xfrm>
            <a:off x="10687050" y="4476750"/>
            <a:ext cx="1333500" cy="1778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AI活用</a:t>
            </a:r>
          </a:p>
        </p:txBody>
      </p:sp>
      <p:sp>
        <p:nvSpPr>
          <p:cNvPr id="54" name="Text 54"/>
          <p:cNvSpPr txBox="1"/>
          <p:nvPr/>
        </p:nvSpPr>
        <p:spPr>
          <a:xfrm>
            <a:off x="10687050" y="4730750"/>
            <a:ext cx="1333500" cy="215900"/>
          </a:xfrm>
          <a:prstGeom prst="rect">
            <a:avLst/>
          </a:prstGeom>
          <a:noFill/>
          <a:ln>
            <a:noFill/>
          </a:ln>
        </p:spPr>
        <p:txBody>
          <a:bodyPr wrap="square" anchor="t" lIns="12700" tIns="12700" rIns="12700" bIns="12700"/>
          <a:lstStyle/>
          <a:p>
            <a:pPr algn="l"/>
            <a:r>
              <a:rPr lang="ja-JP" sz="1400">
                <a:solidFill>
                  <a:srgbClr val="666666"/>
                </a:solidFill>
                <a:latin typeface="Yu Gothic"/>
                <a:ea typeface="Yu Gothic"/>
              </a:rPr>
              <a:t>問い合わせ・営業準備に展開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0" y="0"/>
            <a:ext cx="12192000" cy="6858000"/>
          </a:xfrm>
          <a:prstGeom prst="rect">
            <a:avLst/>
          </a:prstGeom>
          <a:solidFill>
            <a:srgbClr val="ff1818"/>
          </a:solidFill>
          <a:ln w="6350">
            <a:solidFill>
              <a:srgbClr val="ff1818"/>
            </a:solidFill>
          </a:ln>
        </p:spPr>
      </p:sp>
      <p:sp>
        <p:nvSpPr>
          <p:cNvPr id="3" name="Text 3"/>
          <p:cNvSpPr txBox="1"/>
          <p:nvPr/>
        </p:nvSpPr>
        <p:spPr>
          <a:xfrm>
            <a:off x="539750" y="2508250"/>
            <a:ext cx="1651000" cy="952500"/>
          </a:xfrm>
          <a:prstGeom prst="rect">
            <a:avLst/>
          </a:prstGeom>
          <a:noFill/>
          <a:ln>
            <a:noFill/>
          </a:ln>
        </p:spPr>
        <p:txBody>
          <a:bodyPr wrap="square" anchor="t" lIns="12700" tIns="12700" rIns="12700" bIns="12700"/>
          <a:lstStyle/>
          <a:p>
            <a:pPr algn="l"/>
            <a:r>
              <a:rPr lang="ja-JP" sz="11800" b="1">
                <a:solidFill>
                  <a:srgbClr val="ffa6a6"/>
                </a:solidFill>
                <a:latin typeface="Yu Gothic"/>
                <a:ea typeface="Yu Gothic"/>
              </a:rPr>
              <a:t>03</a:t>
            </a:r>
          </a:p>
        </p:txBody>
      </p:sp>
      <p:sp>
        <p:nvSpPr>
          <p:cNvPr id="4" name="Text 4"/>
          <p:cNvSpPr txBox="1"/>
          <p:nvPr/>
        </p:nvSpPr>
        <p:spPr>
          <a:xfrm>
            <a:off x="2413000" y="3206750"/>
            <a:ext cx="6350000" cy="419100"/>
          </a:xfrm>
          <a:prstGeom prst="rect">
            <a:avLst/>
          </a:prstGeom>
          <a:noFill/>
          <a:ln>
            <a:noFill/>
          </a:ln>
        </p:spPr>
        <p:txBody>
          <a:bodyPr wrap="square" anchor="t" lIns="12700" tIns="12700" rIns="12700" bIns="12700"/>
          <a:lstStyle/>
          <a:p>
            <a:pPr algn="l"/>
            <a:r>
              <a:rPr lang="ja-JP" sz="3800" b="1">
                <a:solidFill>
                  <a:srgbClr val="ffffff"/>
                </a:solidFill>
                <a:latin typeface="Yu Gothic"/>
                <a:ea typeface="Yu Gothic"/>
              </a:rPr>
              <a:t>今後の進め方のイメージ</a:t>
            </a:r>
          </a:p>
        </p:txBody>
      </p:sp>
      <p:sp>
        <p:nvSpPr>
          <p:cNvPr id="5" name="Text 5"/>
          <p:cNvSpPr txBox="1"/>
          <p:nvPr/>
        </p:nvSpPr>
        <p:spPr>
          <a:xfrm>
            <a:off x="444500" y="6464300"/>
            <a:ext cx="4445000" cy="228600"/>
          </a:xfrm>
          <a:prstGeom prst="rect">
            <a:avLst/>
          </a:prstGeom>
          <a:noFill/>
          <a:ln>
            <a:noFill/>
          </a:ln>
        </p:spPr>
        <p:txBody>
          <a:bodyPr wrap="square" anchor="t" lIns="12700" tIns="12700" rIns="12700" bIns="12700"/>
          <a:lstStyle/>
          <a:p>
            <a:pPr algn="l"/>
            <a:r>
              <a:rPr lang="ja-JP" sz="1400" b="1">
                <a:solidFill>
                  <a:srgbClr val="ffdcdc"/>
                </a:solidFill>
                <a:latin typeface="Yu Gothic"/>
                <a:ea typeface="Yu Gothic"/>
              </a:rPr>
              <a:t>Copyright @Field X inc. All rights reserved.</a:t>
            </a:r>
          </a:p>
        </p:txBody>
      </p:sp>
      <p:sp>
        <p:nvSpPr>
          <p:cNvPr id="6" name="Text 6"/>
          <p:cNvSpPr txBox="1"/>
          <p:nvPr/>
        </p:nvSpPr>
        <p:spPr>
          <a:xfrm>
            <a:off x="11938000" y="6413500"/>
            <a:ext cx="215900" cy="241300"/>
          </a:xfrm>
          <a:prstGeom prst="rect">
            <a:avLst/>
          </a:prstGeom>
          <a:noFill/>
          <a:ln>
            <a:noFill/>
          </a:ln>
        </p:spPr>
        <p:txBody>
          <a:bodyPr wrap="square" anchor="t" lIns="12700" tIns="12700" rIns="12700" bIns="12700"/>
          <a:lstStyle/>
          <a:p>
            <a:pPr algn="l"/>
            <a:r>
              <a:rPr lang="ja-JP" sz="2000" b="1">
                <a:solidFill>
                  <a:srgbClr val="ffffff"/>
                </a:solidFill>
                <a:latin typeface="Yu Gothic"/>
                <a:ea typeface="Yu Gothic"/>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20700" y="368300"/>
            <a:ext cx="1397000" cy="177800"/>
          </a:xfrm>
          <a:prstGeom prst="rect">
            <a:avLst/>
          </a:prstGeom>
          <a:noFill/>
          <a:ln>
            <a:noFill/>
          </a:ln>
        </p:spPr>
        <p:txBody>
          <a:bodyPr wrap="square" anchor="t" lIns="12700" tIns="12700" rIns="12700" bIns="12700"/>
          <a:lstStyle/>
          <a:p>
            <a:pPr algn="l"/>
            <a:r>
              <a:rPr lang="ja-JP" sz="1500" b="1">
                <a:solidFill>
                  <a:srgbClr val="ff1818"/>
                </a:solidFill>
                <a:latin typeface="Yu Gothic"/>
                <a:ea typeface="Yu Gothic"/>
              </a:rPr>
              <a:t>Chapter3</a:t>
            </a:r>
          </a:p>
        </p:txBody>
      </p:sp>
      <p:sp>
        <p:nvSpPr>
          <p:cNvPr id="3" name="Text 3"/>
          <p:cNvSpPr txBox="1"/>
          <p:nvPr/>
        </p:nvSpPr>
        <p:spPr>
          <a:xfrm>
            <a:off x="520700" y="596900"/>
            <a:ext cx="7302500" cy="368300"/>
          </a:xfrm>
          <a:prstGeom prst="rect">
            <a:avLst/>
          </a:prstGeom>
          <a:noFill/>
          <a:ln>
            <a:noFill/>
          </a:ln>
        </p:spPr>
        <p:txBody>
          <a:bodyPr wrap="square" anchor="t" lIns="12700" tIns="12700" rIns="12700" bIns="12700"/>
          <a:lstStyle/>
          <a:p>
            <a:pPr algn="l"/>
            <a:r>
              <a:rPr lang="ja-JP" sz="3000" b="1">
                <a:solidFill>
                  <a:srgbClr val="111111"/>
                </a:solidFill>
                <a:latin typeface="Yu Gothic"/>
                <a:ea typeface="Yu Gothic"/>
              </a:rPr>
              <a:t>今後の進め方のイメージ</a:t>
            </a:r>
          </a:p>
        </p:txBody>
      </p:sp>
      <p:sp>
        <p:nvSpPr>
          <p:cNvPr id="4" name="Text 4"/>
          <p:cNvSpPr txBox="1"/>
          <p:nvPr/>
        </p:nvSpPr>
        <p:spPr>
          <a:xfrm>
            <a:off x="666750" y="1111250"/>
            <a:ext cx="10795000" cy="330200"/>
          </a:xfrm>
          <a:prstGeom prst="rect">
            <a:avLst/>
          </a:prstGeom>
          <a:noFill/>
          <a:ln>
            <a:noFill/>
          </a:ln>
        </p:spPr>
        <p:txBody>
          <a:bodyPr wrap="square" anchor="t" lIns="12700" tIns="12700" rIns="12700" bIns="12700"/>
          <a:lstStyle/>
          <a:p>
            <a:pPr algn="l"/>
            <a:r>
              <a:rPr lang="ja-JP" sz="2100" b="1">
                <a:solidFill>
                  <a:srgbClr val="111111"/>
                </a:solidFill>
                <a:latin typeface="Yu Gothic"/>
                <a:ea typeface="Yu Gothic"/>
              </a:rPr>
              <a:t>繁忙期であると推察されますので、できる限り現場の混乱を避け円滑に進めるため、下記のような流れで進めさせていただければ幸いです。</a:t>
            </a:r>
          </a:p>
        </p:txBody>
      </p:sp>
      <p:sp>
        <p:nvSpPr>
          <p:cNvPr id="5" name="Shape 5"/>
          <p:cNvSpPr txBox="1"/>
          <p:nvPr/>
        </p:nvSpPr>
        <p:spPr>
          <a:xfrm>
            <a:off x="622300" y="1873250"/>
            <a:ext cx="11176000" cy="4749800"/>
          </a:xfrm>
          <a:prstGeom prst="roundRect">
            <a:avLst/>
          </a:prstGeom>
          <a:solidFill>
            <a:srgbClr val="ffffff"/>
          </a:solidFill>
          <a:ln>
            <a:noFill/>
          </a:ln>
        </p:spPr>
      </p:sp>
      <p:sp>
        <p:nvSpPr>
          <p:cNvPr id="6" name="Shape 6"/>
          <p:cNvSpPr txBox="1"/>
          <p:nvPr/>
        </p:nvSpPr>
        <p:spPr>
          <a:xfrm>
            <a:off x="1270000" y="2146300"/>
            <a:ext cx="952500" cy="952500"/>
          </a:xfrm>
          <a:prstGeom prst="ellipse">
            <a:avLst/>
          </a:prstGeom>
          <a:solidFill>
            <a:srgbClr val="ffffff"/>
          </a:solidFill>
          <a:ln w="19050">
            <a:solidFill>
              <a:srgbClr val="d6d6d6"/>
            </a:solidFill>
          </a:ln>
        </p:spPr>
      </p:sp>
      <p:sp>
        <p:nvSpPr>
          <p:cNvPr id="7" name="Shape 7"/>
          <p:cNvSpPr txBox="1"/>
          <p:nvPr/>
        </p:nvSpPr>
        <p:spPr>
          <a:xfrm>
            <a:off x="1358900" y="2235200"/>
            <a:ext cx="774700" cy="774700"/>
          </a:xfrm>
          <a:prstGeom prst="ellipse">
            <a:avLst/>
          </a:prstGeom>
          <a:noFill/>
          <a:ln w="44450">
            <a:solidFill>
              <a:srgbClr val="ff7474"/>
            </a:solidFill>
          </a:ln>
        </p:spPr>
      </p:sp>
      <p:sp>
        <p:nvSpPr>
          <p:cNvPr id="8" name="Text 8"/>
          <p:cNvSpPr txBox="1"/>
          <p:nvPr/>
        </p:nvSpPr>
        <p:spPr>
          <a:xfrm>
            <a:off x="1511300" y="2444750"/>
            <a:ext cx="495300" cy="381000"/>
          </a:xfrm>
          <a:prstGeom prst="rect">
            <a:avLst/>
          </a:prstGeom>
          <a:noFill/>
          <a:ln>
            <a:noFill/>
          </a:ln>
        </p:spPr>
        <p:txBody>
          <a:bodyPr wrap="square" anchor="t" lIns="12700" tIns="12700" rIns="12700" bIns="12700"/>
          <a:lstStyle/>
          <a:p>
            <a:pPr algn="c"/>
            <a:r>
              <a:rPr lang="ja-JP" sz="3800" b="1">
                <a:solidFill>
                  <a:srgbClr val="ff1818"/>
                </a:solidFill>
                <a:latin typeface="Yu Gothic"/>
                <a:ea typeface="Yu Gothic"/>
              </a:rPr>
              <a:t>01</a:t>
            </a:r>
          </a:p>
        </p:txBody>
      </p:sp>
      <p:sp>
        <p:nvSpPr>
          <p:cNvPr id="9" name="Shape 9"/>
          <p:cNvSpPr txBox="1"/>
          <p:nvPr/>
        </p:nvSpPr>
        <p:spPr>
          <a:xfrm>
            <a:off x="2286000" y="2603500"/>
            <a:ext cx="698500" cy="38100"/>
          </a:xfrm>
          <a:prstGeom prst="rect">
            <a:avLst/>
          </a:prstGeom>
          <a:solidFill>
            <a:srgbClr val="ff7474"/>
          </a:solidFill>
          <a:ln>
            <a:noFill/>
          </a:ln>
        </p:spPr>
      </p:sp>
      <p:sp>
        <p:nvSpPr>
          <p:cNvPr id="10" name="Shape 10"/>
          <p:cNvSpPr txBox="1"/>
          <p:nvPr/>
        </p:nvSpPr>
        <p:spPr>
          <a:xfrm>
            <a:off x="2616200" y="2527300"/>
            <a:ext cx="114300" cy="190500"/>
          </a:xfrm>
          <a:prstGeom prst="ellipse">
            <a:avLst/>
          </a:prstGeom>
          <a:solidFill>
            <a:srgbClr val="ff1818"/>
          </a:solidFill>
          <a:ln>
            <a:noFill/>
          </a:ln>
        </p:spPr>
      </p:sp>
      <p:sp>
        <p:nvSpPr>
          <p:cNvPr id="11" name="Shape 11"/>
          <p:cNvSpPr txBox="1"/>
          <p:nvPr/>
        </p:nvSpPr>
        <p:spPr>
          <a:xfrm>
            <a:off x="793750" y="3238500"/>
            <a:ext cx="1714500" cy="444500"/>
          </a:xfrm>
          <a:prstGeom prst="rightArrow">
            <a:avLst/>
          </a:prstGeom>
          <a:solidFill>
            <a:srgbClr val="ff1818"/>
          </a:solidFill>
          <a:ln w="6350">
            <a:solidFill>
              <a:srgbClr val="ff1818"/>
            </a:solidFill>
          </a:ln>
        </p:spPr>
        <p:txBody>
          <a:bodyPr wrap="square" anchor="ctr" lIns="76200" tIns="76200" rIns="76200" bIns="76200"/>
          <a:lstStyle/>
          <a:p>
            <a:pPr algn="c"/>
            <a:r>
              <a:rPr lang="ja-JP" sz="1800" b="1">
                <a:solidFill>
                  <a:srgbClr val="ffffff"/>
                </a:solidFill>
                <a:latin typeface="Yu Gothic"/>
                <a:ea typeface="Yu Gothic"/>
              </a:rPr>
              <a:t>ご契約</a:t>
            </a:r>
          </a:p>
        </p:txBody>
      </p:sp>
      <p:sp>
        <p:nvSpPr>
          <p:cNvPr id="12" name="Shape 12"/>
          <p:cNvSpPr txBox="1"/>
          <p:nvPr/>
        </p:nvSpPr>
        <p:spPr>
          <a:xfrm>
            <a:off x="3048000" y="2146300"/>
            <a:ext cx="952500" cy="952500"/>
          </a:xfrm>
          <a:prstGeom prst="ellipse">
            <a:avLst/>
          </a:prstGeom>
          <a:solidFill>
            <a:srgbClr val="ffffff"/>
          </a:solidFill>
          <a:ln w="19050">
            <a:solidFill>
              <a:srgbClr val="d6d6d6"/>
            </a:solidFill>
          </a:ln>
        </p:spPr>
      </p:sp>
      <p:sp>
        <p:nvSpPr>
          <p:cNvPr id="13" name="Shape 13"/>
          <p:cNvSpPr txBox="1"/>
          <p:nvPr/>
        </p:nvSpPr>
        <p:spPr>
          <a:xfrm>
            <a:off x="3136900" y="2235200"/>
            <a:ext cx="774700" cy="774700"/>
          </a:xfrm>
          <a:prstGeom prst="ellipse">
            <a:avLst/>
          </a:prstGeom>
          <a:noFill/>
          <a:ln w="44450">
            <a:solidFill>
              <a:srgbClr val="ff7474"/>
            </a:solidFill>
          </a:ln>
        </p:spPr>
      </p:sp>
      <p:sp>
        <p:nvSpPr>
          <p:cNvPr id="14" name="Text 14"/>
          <p:cNvSpPr txBox="1"/>
          <p:nvPr/>
        </p:nvSpPr>
        <p:spPr>
          <a:xfrm>
            <a:off x="3289300" y="2444750"/>
            <a:ext cx="495300" cy="381000"/>
          </a:xfrm>
          <a:prstGeom prst="rect">
            <a:avLst/>
          </a:prstGeom>
          <a:noFill/>
          <a:ln>
            <a:noFill/>
          </a:ln>
        </p:spPr>
        <p:txBody>
          <a:bodyPr wrap="square" anchor="t" lIns="12700" tIns="12700" rIns="12700" bIns="12700"/>
          <a:lstStyle/>
          <a:p>
            <a:pPr algn="c"/>
            <a:r>
              <a:rPr lang="ja-JP" sz="3800" b="1">
                <a:solidFill>
                  <a:srgbClr val="ff1818"/>
                </a:solidFill>
                <a:latin typeface="Yu Gothic"/>
                <a:ea typeface="Yu Gothic"/>
              </a:rPr>
              <a:t>02</a:t>
            </a:r>
          </a:p>
        </p:txBody>
      </p:sp>
      <p:sp>
        <p:nvSpPr>
          <p:cNvPr id="15" name="Shape 15"/>
          <p:cNvSpPr txBox="1"/>
          <p:nvPr/>
        </p:nvSpPr>
        <p:spPr>
          <a:xfrm>
            <a:off x="4064000" y="2603500"/>
            <a:ext cx="698500" cy="38100"/>
          </a:xfrm>
          <a:prstGeom prst="rect">
            <a:avLst/>
          </a:prstGeom>
          <a:solidFill>
            <a:srgbClr val="ff7474"/>
          </a:solidFill>
          <a:ln>
            <a:noFill/>
          </a:ln>
        </p:spPr>
      </p:sp>
      <p:sp>
        <p:nvSpPr>
          <p:cNvPr id="16" name="Shape 16"/>
          <p:cNvSpPr txBox="1"/>
          <p:nvPr/>
        </p:nvSpPr>
        <p:spPr>
          <a:xfrm>
            <a:off x="4394200" y="2527300"/>
            <a:ext cx="114300" cy="190500"/>
          </a:xfrm>
          <a:prstGeom prst="ellipse">
            <a:avLst/>
          </a:prstGeom>
          <a:solidFill>
            <a:srgbClr val="ff1818"/>
          </a:solidFill>
          <a:ln>
            <a:noFill/>
          </a:ln>
        </p:spPr>
      </p:sp>
      <p:sp>
        <p:nvSpPr>
          <p:cNvPr id="17" name="Shape 17"/>
          <p:cNvSpPr txBox="1"/>
          <p:nvPr/>
        </p:nvSpPr>
        <p:spPr>
          <a:xfrm>
            <a:off x="2571750" y="3238500"/>
            <a:ext cx="1714500" cy="444500"/>
          </a:xfrm>
          <a:prstGeom prst="rightArrow">
            <a:avLst/>
          </a:prstGeom>
          <a:solidFill>
            <a:srgbClr val="ff1818"/>
          </a:solidFill>
          <a:ln w="6350">
            <a:solidFill>
              <a:srgbClr val="ff1818"/>
            </a:solidFill>
          </a:ln>
        </p:spPr>
        <p:txBody>
          <a:bodyPr wrap="square" anchor="ctr" lIns="76200" tIns="76200" rIns="76200" bIns="76200"/>
          <a:lstStyle/>
          <a:p>
            <a:pPr algn="c"/>
            <a:r>
              <a:rPr lang="ja-JP" sz="1800" b="1">
                <a:solidFill>
                  <a:srgbClr val="ffffff"/>
                </a:solidFill>
                <a:latin typeface="Yu Gothic"/>
                <a:ea typeface="Yu Gothic"/>
              </a:rPr>
              <a:t>進め方の確認</a:t>
            </a:r>
          </a:p>
        </p:txBody>
      </p:sp>
      <p:sp>
        <p:nvSpPr>
          <p:cNvPr id="18" name="Shape 18"/>
          <p:cNvSpPr txBox="1"/>
          <p:nvPr/>
        </p:nvSpPr>
        <p:spPr>
          <a:xfrm>
            <a:off x="4826000" y="2146300"/>
            <a:ext cx="952500" cy="952500"/>
          </a:xfrm>
          <a:prstGeom prst="ellipse">
            <a:avLst/>
          </a:prstGeom>
          <a:solidFill>
            <a:srgbClr val="ffffff"/>
          </a:solidFill>
          <a:ln w="19050">
            <a:solidFill>
              <a:srgbClr val="d6d6d6"/>
            </a:solidFill>
          </a:ln>
        </p:spPr>
      </p:sp>
      <p:sp>
        <p:nvSpPr>
          <p:cNvPr id="19" name="Shape 19"/>
          <p:cNvSpPr txBox="1"/>
          <p:nvPr/>
        </p:nvSpPr>
        <p:spPr>
          <a:xfrm>
            <a:off x="4914900" y="2235200"/>
            <a:ext cx="774700" cy="774700"/>
          </a:xfrm>
          <a:prstGeom prst="ellipse">
            <a:avLst/>
          </a:prstGeom>
          <a:noFill/>
          <a:ln w="44450">
            <a:solidFill>
              <a:srgbClr val="ff7474"/>
            </a:solidFill>
          </a:ln>
        </p:spPr>
      </p:sp>
      <p:sp>
        <p:nvSpPr>
          <p:cNvPr id="20" name="Text 20"/>
          <p:cNvSpPr txBox="1"/>
          <p:nvPr/>
        </p:nvSpPr>
        <p:spPr>
          <a:xfrm>
            <a:off x="5067300" y="2444750"/>
            <a:ext cx="495300" cy="381000"/>
          </a:xfrm>
          <a:prstGeom prst="rect">
            <a:avLst/>
          </a:prstGeom>
          <a:noFill/>
          <a:ln>
            <a:noFill/>
          </a:ln>
        </p:spPr>
        <p:txBody>
          <a:bodyPr wrap="square" anchor="t" lIns="12700" tIns="12700" rIns="12700" bIns="12700"/>
          <a:lstStyle/>
          <a:p>
            <a:pPr algn="c"/>
            <a:r>
              <a:rPr lang="ja-JP" sz="3800" b="1">
                <a:solidFill>
                  <a:srgbClr val="ff1818"/>
                </a:solidFill>
                <a:latin typeface="Yu Gothic"/>
                <a:ea typeface="Yu Gothic"/>
              </a:rPr>
              <a:t>03</a:t>
            </a:r>
          </a:p>
        </p:txBody>
      </p:sp>
      <p:sp>
        <p:nvSpPr>
          <p:cNvPr id="21" name="Shape 21"/>
          <p:cNvSpPr txBox="1"/>
          <p:nvPr/>
        </p:nvSpPr>
        <p:spPr>
          <a:xfrm>
            <a:off x="5842000" y="2603500"/>
            <a:ext cx="698500" cy="38100"/>
          </a:xfrm>
          <a:prstGeom prst="rect">
            <a:avLst/>
          </a:prstGeom>
          <a:solidFill>
            <a:srgbClr val="ff7474"/>
          </a:solidFill>
          <a:ln>
            <a:noFill/>
          </a:ln>
        </p:spPr>
      </p:sp>
      <p:sp>
        <p:nvSpPr>
          <p:cNvPr id="22" name="Shape 22"/>
          <p:cNvSpPr txBox="1"/>
          <p:nvPr/>
        </p:nvSpPr>
        <p:spPr>
          <a:xfrm>
            <a:off x="6172200" y="2527300"/>
            <a:ext cx="114300" cy="190500"/>
          </a:xfrm>
          <a:prstGeom prst="ellipse">
            <a:avLst/>
          </a:prstGeom>
          <a:solidFill>
            <a:srgbClr val="ff1818"/>
          </a:solidFill>
          <a:ln>
            <a:noFill/>
          </a:ln>
        </p:spPr>
      </p:sp>
      <p:sp>
        <p:nvSpPr>
          <p:cNvPr id="23" name="Shape 23"/>
          <p:cNvSpPr txBox="1"/>
          <p:nvPr/>
        </p:nvSpPr>
        <p:spPr>
          <a:xfrm>
            <a:off x="4349750" y="3238500"/>
            <a:ext cx="1714500" cy="444500"/>
          </a:xfrm>
          <a:prstGeom prst="rightArrow">
            <a:avLst/>
          </a:prstGeom>
          <a:solidFill>
            <a:srgbClr val="ff1818"/>
          </a:solidFill>
          <a:ln w="6350">
            <a:solidFill>
              <a:srgbClr val="ff1818"/>
            </a:solidFill>
          </a:ln>
        </p:spPr>
        <p:txBody>
          <a:bodyPr wrap="square" anchor="ctr" lIns="76200" tIns="76200" rIns="76200" bIns="76200"/>
          <a:lstStyle/>
          <a:p>
            <a:pPr algn="c"/>
            <a:r>
              <a:rPr lang="ja-JP" sz="1800" b="1">
                <a:solidFill>
                  <a:srgbClr val="ffffff"/>
                </a:solidFill>
                <a:latin typeface="Yu Gothic"/>
                <a:ea typeface="Yu Gothic"/>
              </a:rPr>
              <a:t>データ移行先の準備</a:t>
            </a:r>
          </a:p>
        </p:txBody>
      </p:sp>
      <p:sp>
        <p:nvSpPr>
          <p:cNvPr id="24" name="Shape 24"/>
          <p:cNvSpPr txBox="1"/>
          <p:nvPr/>
        </p:nvSpPr>
        <p:spPr>
          <a:xfrm>
            <a:off x="6604000" y="2146300"/>
            <a:ext cx="952500" cy="952500"/>
          </a:xfrm>
          <a:prstGeom prst="ellipse">
            <a:avLst/>
          </a:prstGeom>
          <a:solidFill>
            <a:srgbClr val="ffffff"/>
          </a:solidFill>
          <a:ln w="19050">
            <a:solidFill>
              <a:srgbClr val="d6d6d6"/>
            </a:solidFill>
          </a:ln>
        </p:spPr>
      </p:sp>
      <p:sp>
        <p:nvSpPr>
          <p:cNvPr id="25" name="Shape 25"/>
          <p:cNvSpPr txBox="1"/>
          <p:nvPr/>
        </p:nvSpPr>
        <p:spPr>
          <a:xfrm>
            <a:off x="6692900" y="2235200"/>
            <a:ext cx="774700" cy="774700"/>
          </a:xfrm>
          <a:prstGeom prst="ellipse">
            <a:avLst/>
          </a:prstGeom>
          <a:noFill/>
          <a:ln w="44450">
            <a:solidFill>
              <a:srgbClr val="ff7474"/>
            </a:solidFill>
          </a:ln>
        </p:spPr>
      </p:sp>
      <p:sp>
        <p:nvSpPr>
          <p:cNvPr id="26" name="Text 26"/>
          <p:cNvSpPr txBox="1"/>
          <p:nvPr/>
        </p:nvSpPr>
        <p:spPr>
          <a:xfrm>
            <a:off x="6845300" y="2444750"/>
            <a:ext cx="495300" cy="381000"/>
          </a:xfrm>
          <a:prstGeom prst="rect">
            <a:avLst/>
          </a:prstGeom>
          <a:noFill/>
          <a:ln>
            <a:noFill/>
          </a:ln>
        </p:spPr>
        <p:txBody>
          <a:bodyPr wrap="square" anchor="t" lIns="12700" tIns="12700" rIns="12700" bIns="12700"/>
          <a:lstStyle/>
          <a:p>
            <a:pPr algn="c"/>
            <a:r>
              <a:rPr lang="ja-JP" sz="3800" b="1">
                <a:solidFill>
                  <a:srgbClr val="ff1818"/>
                </a:solidFill>
                <a:latin typeface="Yu Gothic"/>
                <a:ea typeface="Yu Gothic"/>
              </a:rPr>
              <a:t>04</a:t>
            </a:r>
          </a:p>
        </p:txBody>
      </p:sp>
      <p:sp>
        <p:nvSpPr>
          <p:cNvPr id="27" name="Shape 27"/>
          <p:cNvSpPr txBox="1"/>
          <p:nvPr/>
        </p:nvSpPr>
        <p:spPr>
          <a:xfrm>
            <a:off x="7620000" y="2603500"/>
            <a:ext cx="698500" cy="38100"/>
          </a:xfrm>
          <a:prstGeom prst="rect">
            <a:avLst/>
          </a:prstGeom>
          <a:solidFill>
            <a:srgbClr val="ff7474"/>
          </a:solidFill>
          <a:ln>
            <a:noFill/>
          </a:ln>
        </p:spPr>
      </p:sp>
      <p:sp>
        <p:nvSpPr>
          <p:cNvPr id="28" name="Shape 28"/>
          <p:cNvSpPr txBox="1"/>
          <p:nvPr/>
        </p:nvSpPr>
        <p:spPr>
          <a:xfrm>
            <a:off x="7950200" y="2527300"/>
            <a:ext cx="114300" cy="190500"/>
          </a:xfrm>
          <a:prstGeom prst="ellipse">
            <a:avLst/>
          </a:prstGeom>
          <a:solidFill>
            <a:srgbClr val="ff1818"/>
          </a:solidFill>
          <a:ln>
            <a:noFill/>
          </a:ln>
        </p:spPr>
      </p:sp>
      <p:sp>
        <p:nvSpPr>
          <p:cNvPr id="29" name="Shape 29"/>
          <p:cNvSpPr txBox="1"/>
          <p:nvPr/>
        </p:nvSpPr>
        <p:spPr>
          <a:xfrm>
            <a:off x="6127750" y="3238500"/>
            <a:ext cx="1714500" cy="444500"/>
          </a:xfrm>
          <a:prstGeom prst="rightArrow">
            <a:avLst/>
          </a:prstGeom>
          <a:solidFill>
            <a:srgbClr val="ff1818"/>
          </a:solidFill>
          <a:ln w="6350">
            <a:solidFill>
              <a:srgbClr val="ff1818"/>
            </a:solidFill>
          </a:ln>
        </p:spPr>
        <p:txBody>
          <a:bodyPr wrap="square" anchor="ctr" lIns="76200" tIns="76200" rIns="76200" bIns="76200"/>
          <a:lstStyle/>
          <a:p>
            <a:pPr algn="c"/>
            <a:r>
              <a:rPr lang="ja-JP" sz="1800" b="1">
                <a:solidFill>
                  <a:srgbClr val="ffffff"/>
                </a:solidFill>
                <a:latin typeface="Yu Gothic"/>
                <a:ea typeface="Yu Gothic"/>
              </a:rPr>
              <a:t>エージェント開発</a:t>
            </a:r>
          </a:p>
        </p:txBody>
      </p:sp>
      <p:sp>
        <p:nvSpPr>
          <p:cNvPr id="30" name="Shape 30"/>
          <p:cNvSpPr txBox="1"/>
          <p:nvPr/>
        </p:nvSpPr>
        <p:spPr>
          <a:xfrm>
            <a:off x="8382000" y="2146300"/>
            <a:ext cx="952500" cy="952500"/>
          </a:xfrm>
          <a:prstGeom prst="ellipse">
            <a:avLst/>
          </a:prstGeom>
          <a:solidFill>
            <a:srgbClr val="ffffff"/>
          </a:solidFill>
          <a:ln w="19050">
            <a:solidFill>
              <a:srgbClr val="d6d6d6"/>
            </a:solidFill>
          </a:ln>
        </p:spPr>
      </p:sp>
      <p:sp>
        <p:nvSpPr>
          <p:cNvPr id="31" name="Shape 31"/>
          <p:cNvSpPr txBox="1"/>
          <p:nvPr/>
        </p:nvSpPr>
        <p:spPr>
          <a:xfrm>
            <a:off x="8470900" y="2235200"/>
            <a:ext cx="774700" cy="774700"/>
          </a:xfrm>
          <a:prstGeom prst="ellipse">
            <a:avLst/>
          </a:prstGeom>
          <a:noFill/>
          <a:ln w="44450">
            <a:solidFill>
              <a:srgbClr val="ff7474"/>
            </a:solidFill>
          </a:ln>
        </p:spPr>
      </p:sp>
      <p:sp>
        <p:nvSpPr>
          <p:cNvPr id="32" name="Text 32"/>
          <p:cNvSpPr txBox="1"/>
          <p:nvPr/>
        </p:nvSpPr>
        <p:spPr>
          <a:xfrm>
            <a:off x="8623300" y="2444750"/>
            <a:ext cx="495300" cy="381000"/>
          </a:xfrm>
          <a:prstGeom prst="rect">
            <a:avLst/>
          </a:prstGeom>
          <a:noFill/>
          <a:ln>
            <a:noFill/>
          </a:ln>
        </p:spPr>
        <p:txBody>
          <a:bodyPr wrap="square" anchor="t" lIns="12700" tIns="12700" rIns="12700" bIns="12700"/>
          <a:lstStyle/>
          <a:p>
            <a:pPr algn="c"/>
            <a:r>
              <a:rPr lang="ja-JP" sz="3800" b="1">
                <a:solidFill>
                  <a:srgbClr val="ff1818"/>
                </a:solidFill>
                <a:latin typeface="Yu Gothic"/>
                <a:ea typeface="Yu Gothic"/>
              </a:rPr>
              <a:t>05</a:t>
            </a:r>
          </a:p>
        </p:txBody>
      </p:sp>
      <p:sp>
        <p:nvSpPr>
          <p:cNvPr id="33" name="Shape 33"/>
          <p:cNvSpPr txBox="1"/>
          <p:nvPr/>
        </p:nvSpPr>
        <p:spPr>
          <a:xfrm>
            <a:off x="9398000" y="2603500"/>
            <a:ext cx="698500" cy="38100"/>
          </a:xfrm>
          <a:prstGeom prst="rect">
            <a:avLst/>
          </a:prstGeom>
          <a:solidFill>
            <a:srgbClr val="ff7474"/>
          </a:solidFill>
          <a:ln>
            <a:noFill/>
          </a:ln>
        </p:spPr>
      </p:sp>
      <p:sp>
        <p:nvSpPr>
          <p:cNvPr id="34" name="Shape 34"/>
          <p:cNvSpPr txBox="1"/>
          <p:nvPr/>
        </p:nvSpPr>
        <p:spPr>
          <a:xfrm>
            <a:off x="9728200" y="2527300"/>
            <a:ext cx="114300" cy="190500"/>
          </a:xfrm>
          <a:prstGeom prst="ellipse">
            <a:avLst/>
          </a:prstGeom>
          <a:solidFill>
            <a:srgbClr val="ff1818"/>
          </a:solidFill>
          <a:ln>
            <a:noFill/>
          </a:ln>
        </p:spPr>
      </p:sp>
      <p:sp>
        <p:nvSpPr>
          <p:cNvPr id="35" name="Shape 35"/>
          <p:cNvSpPr txBox="1"/>
          <p:nvPr/>
        </p:nvSpPr>
        <p:spPr>
          <a:xfrm>
            <a:off x="7905750" y="3238500"/>
            <a:ext cx="1714500" cy="444500"/>
          </a:xfrm>
          <a:prstGeom prst="rightArrow">
            <a:avLst/>
          </a:prstGeom>
          <a:solidFill>
            <a:srgbClr val="ff1818"/>
          </a:solidFill>
          <a:ln w="6350">
            <a:solidFill>
              <a:srgbClr val="ff1818"/>
            </a:solidFill>
          </a:ln>
        </p:spPr>
        <p:txBody>
          <a:bodyPr wrap="square" anchor="ctr" lIns="76200" tIns="76200" rIns="76200" bIns="76200"/>
          <a:lstStyle/>
          <a:p>
            <a:pPr algn="c"/>
            <a:r>
              <a:rPr lang="ja-JP" sz="1800" b="1">
                <a:solidFill>
                  <a:srgbClr val="ffffff"/>
                </a:solidFill>
                <a:latin typeface="Yu Gothic"/>
                <a:ea typeface="Yu Gothic"/>
              </a:rPr>
              <a:t>現場導入</a:t>
            </a:r>
          </a:p>
        </p:txBody>
      </p:sp>
      <p:sp>
        <p:nvSpPr>
          <p:cNvPr id="36" name="Shape 36"/>
          <p:cNvSpPr txBox="1"/>
          <p:nvPr/>
        </p:nvSpPr>
        <p:spPr>
          <a:xfrm>
            <a:off x="10160000" y="2146300"/>
            <a:ext cx="952500" cy="952500"/>
          </a:xfrm>
          <a:prstGeom prst="ellipse">
            <a:avLst/>
          </a:prstGeom>
          <a:solidFill>
            <a:srgbClr val="ffffff"/>
          </a:solidFill>
          <a:ln w="19050">
            <a:solidFill>
              <a:srgbClr val="d6d6d6"/>
            </a:solidFill>
          </a:ln>
        </p:spPr>
      </p:sp>
      <p:sp>
        <p:nvSpPr>
          <p:cNvPr id="37" name="Shape 37"/>
          <p:cNvSpPr txBox="1"/>
          <p:nvPr/>
        </p:nvSpPr>
        <p:spPr>
          <a:xfrm>
            <a:off x="10248900" y="2235200"/>
            <a:ext cx="774700" cy="774700"/>
          </a:xfrm>
          <a:prstGeom prst="ellipse">
            <a:avLst/>
          </a:prstGeom>
          <a:noFill/>
          <a:ln w="44450">
            <a:solidFill>
              <a:srgbClr val="ff7474"/>
            </a:solidFill>
          </a:ln>
        </p:spPr>
      </p:sp>
      <p:sp>
        <p:nvSpPr>
          <p:cNvPr id="38" name="Text 38"/>
          <p:cNvSpPr txBox="1"/>
          <p:nvPr/>
        </p:nvSpPr>
        <p:spPr>
          <a:xfrm>
            <a:off x="10401300" y="2444750"/>
            <a:ext cx="495300" cy="381000"/>
          </a:xfrm>
          <a:prstGeom prst="rect">
            <a:avLst/>
          </a:prstGeom>
          <a:noFill/>
          <a:ln>
            <a:noFill/>
          </a:ln>
        </p:spPr>
        <p:txBody>
          <a:bodyPr wrap="square" anchor="t" lIns="12700" tIns="12700" rIns="12700" bIns="12700"/>
          <a:lstStyle/>
          <a:p>
            <a:pPr algn="c"/>
            <a:r>
              <a:rPr lang="ja-JP" sz="3800" b="1">
                <a:solidFill>
                  <a:srgbClr val="ff1818"/>
                </a:solidFill>
                <a:latin typeface="Yu Gothic"/>
                <a:ea typeface="Yu Gothic"/>
              </a:rPr>
              <a:t>06</a:t>
            </a:r>
          </a:p>
        </p:txBody>
      </p:sp>
      <p:sp>
        <p:nvSpPr>
          <p:cNvPr id="39" name="Shape 39"/>
          <p:cNvSpPr txBox="1"/>
          <p:nvPr/>
        </p:nvSpPr>
        <p:spPr>
          <a:xfrm>
            <a:off x="9683750" y="3238500"/>
            <a:ext cx="1714500" cy="444500"/>
          </a:xfrm>
          <a:prstGeom prst="rightArrow">
            <a:avLst/>
          </a:prstGeom>
          <a:solidFill>
            <a:srgbClr val="ff1818"/>
          </a:solidFill>
          <a:ln w="6350">
            <a:solidFill>
              <a:srgbClr val="ff1818"/>
            </a:solidFill>
          </a:ln>
        </p:spPr>
        <p:txBody>
          <a:bodyPr wrap="square" anchor="ctr" lIns="76200" tIns="76200" rIns="76200" bIns="76200"/>
          <a:lstStyle/>
          <a:p>
            <a:pPr algn="c"/>
            <a:r>
              <a:rPr lang="ja-JP" sz="1800" b="1">
                <a:solidFill>
                  <a:srgbClr val="ffffff"/>
                </a:solidFill>
                <a:latin typeface="Yu Gothic"/>
                <a:ea typeface="Yu Gothic"/>
              </a:rPr>
              <a:t>改善</a:t>
            </a:r>
          </a:p>
        </p:txBody>
      </p:sp>
      <p:sp>
        <p:nvSpPr>
          <p:cNvPr id="40" name="Text 40"/>
          <p:cNvSpPr txBox="1"/>
          <p:nvPr/>
        </p:nvSpPr>
        <p:spPr>
          <a:xfrm>
            <a:off x="889000" y="4127500"/>
            <a:ext cx="1619250" cy="1651000"/>
          </a:xfrm>
          <a:prstGeom prst="rect">
            <a:avLst/>
          </a:prstGeom>
          <a:noFill/>
          <a:ln>
            <a:noFill/>
          </a:ln>
        </p:spPr>
        <p:txBody>
          <a:bodyPr wrap="square" anchor="t" lIns="12700" tIns="12700" rIns="12700" bIns="12700"/>
          <a:lstStyle/>
          <a:p>
            <a:pPr algn="l"/>
            <a:r>
              <a:rPr lang="ja-JP" sz="1600">
                <a:solidFill>
                  <a:srgbClr val="111111"/>
                </a:solidFill>
                <a:latin typeface="Yu Gothic"/>
                <a:ea typeface="Yu Gothic"/>
              </a:rPr>
              <a:t>NDAや個別契約など</a:t>
            </a:r>
          </a:p>
          <a:p>
            <a:pPr algn="l"/>
            <a:r>
              <a:rPr lang="ja-JP" sz="1600">
                <a:solidFill>
                  <a:srgbClr val="111111"/>
                </a:solidFill>
                <a:latin typeface="Yu Gothic"/>
                <a:ea typeface="Yu Gothic"/>
              </a:rPr>
              <a:t>各種ご契約を結ばせて</a:t>
            </a:r>
          </a:p>
          <a:p>
            <a:pPr algn="l"/>
            <a:r>
              <a:rPr lang="ja-JP" sz="1600">
                <a:solidFill>
                  <a:srgbClr val="111111"/>
                </a:solidFill>
                <a:latin typeface="Yu Gothic"/>
                <a:ea typeface="Yu Gothic"/>
              </a:rPr>
              <a:t>いただきます。</a:t>
            </a:r>
          </a:p>
          <a:p>
            <a:pPr algn="l"/>
            <a:r>
              <a:rPr lang="ja-JP" sz="1600">
                <a:solidFill>
                  <a:srgbClr val="111111"/>
                </a:solidFill>
                <a:latin typeface="Yu Gothic"/>
                <a:ea typeface="Yu Gothic"/>
              </a:rPr>
              <a:t/>
            </a:r>
          </a:p>
          <a:p>
            <a:pPr algn="l"/>
            <a:r>
              <a:rPr lang="ja-JP" sz="1600">
                <a:solidFill>
                  <a:srgbClr val="111111"/>
                </a:solidFill>
                <a:latin typeface="Yu Gothic"/>
                <a:ea typeface="Yu Gothic"/>
              </a:rPr>
              <a:t>※御社フォーマットなどが</a:t>
            </a:r>
          </a:p>
          <a:p>
            <a:pPr algn="l"/>
            <a:r>
              <a:rPr lang="ja-JP" sz="1600">
                <a:solidFill>
                  <a:srgbClr val="111111"/>
                </a:solidFill>
                <a:latin typeface="Yu Gothic"/>
                <a:ea typeface="Yu Gothic"/>
              </a:rPr>
              <a:t>ございましたらご都合に</a:t>
            </a:r>
          </a:p>
          <a:p>
            <a:pPr algn="l"/>
            <a:r>
              <a:rPr lang="ja-JP" sz="1600">
                <a:solidFill>
                  <a:srgbClr val="111111"/>
                </a:solidFill>
                <a:latin typeface="Yu Gothic"/>
                <a:ea typeface="Yu Gothic"/>
              </a:rPr>
              <a:t>合わせます。</a:t>
            </a:r>
          </a:p>
        </p:txBody>
      </p:sp>
      <p:sp>
        <p:nvSpPr>
          <p:cNvPr id="41" name="Text 41"/>
          <p:cNvSpPr txBox="1"/>
          <p:nvPr/>
        </p:nvSpPr>
        <p:spPr>
          <a:xfrm>
            <a:off x="2730500" y="4127500"/>
            <a:ext cx="1619250" cy="1651000"/>
          </a:xfrm>
          <a:prstGeom prst="rect">
            <a:avLst/>
          </a:prstGeom>
          <a:noFill/>
          <a:ln>
            <a:noFill/>
          </a:ln>
        </p:spPr>
        <p:txBody>
          <a:bodyPr wrap="square" anchor="t" lIns="12700" tIns="12700" rIns="12700" bIns="12700"/>
          <a:lstStyle/>
          <a:p>
            <a:pPr algn="l"/>
            <a:r>
              <a:rPr lang="ja-JP" sz="1600">
                <a:solidFill>
                  <a:srgbClr val="111111"/>
                </a:solidFill>
                <a:latin typeface="Yu Gothic"/>
                <a:ea typeface="Yu Gothic"/>
              </a:rPr>
              <a:t>データ整理の必要可否も含め、</a:t>
            </a:r>
          </a:p>
          <a:p>
            <a:pPr algn="l"/>
            <a:r>
              <a:rPr lang="ja-JP" sz="1600">
                <a:solidFill>
                  <a:srgbClr val="111111"/>
                </a:solidFill>
                <a:latin typeface="Yu Gothic"/>
                <a:ea typeface="Yu Gothic"/>
              </a:rPr>
              <a:t>なるべく現場の従業員の方の</a:t>
            </a:r>
          </a:p>
          <a:p>
            <a:pPr algn="l"/>
            <a:r>
              <a:rPr lang="ja-JP" sz="1600">
                <a:solidFill>
                  <a:srgbClr val="111111"/>
                </a:solidFill>
                <a:latin typeface="Yu Gothic"/>
                <a:ea typeface="Yu Gothic"/>
              </a:rPr>
              <a:t>混乱を起こさないように、</a:t>
            </a:r>
          </a:p>
          <a:p>
            <a:pPr algn="l"/>
            <a:r>
              <a:rPr lang="ja-JP" sz="1600">
                <a:solidFill>
                  <a:srgbClr val="111111"/>
                </a:solidFill>
                <a:latin typeface="Yu Gothic"/>
                <a:ea typeface="Yu Gothic"/>
              </a:rPr>
              <a:t>詳細なプランニングを</a:t>
            </a:r>
          </a:p>
          <a:p>
            <a:pPr algn="l"/>
            <a:r>
              <a:rPr lang="ja-JP" sz="1600">
                <a:solidFill>
                  <a:srgbClr val="111111"/>
                </a:solidFill>
                <a:latin typeface="Yu Gothic"/>
                <a:ea typeface="Yu Gothic"/>
              </a:rPr>
              <a:t>すり合わせます。</a:t>
            </a:r>
          </a:p>
        </p:txBody>
      </p:sp>
      <p:sp>
        <p:nvSpPr>
          <p:cNvPr id="42" name="Text 42"/>
          <p:cNvSpPr txBox="1"/>
          <p:nvPr/>
        </p:nvSpPr>
        <p:spPr>
          <a:xfrm>
            <a:off x="4572000" y="4127500"/>
            <a:ext cx="1619250" cy="1651000"/>
          </a:xfrm>
          <a:prstGeom prst="rect">
            <a:avLst/>
          </a:prstGeom>
          <a:noFill/>
          <a:ln>
            <a:noFill/>
          </a:ln>
        </p:spPr>
        <p:txBody>
          <a:bodyPr wrap="square" anchor="t" lIns="12700" tIns="12700" rIns="12700" bIns="12700"/>
          <a:lstStyle/>
          <a:p>
            <a:pPr algn="l"/>
            <a:r>
              <a:rPr lang="ja-JP" sz="1600">
                <a:solidFill>
                  <a:srgbClr val="111111"/>
                </a:solidFill>
                <a:latin typeface="Yu Gothic"/>
                <a:ea typeface="Yu Gothic"/>
              </a:rPr>
              <a:t>データマイグレーションを</a:t>
            </a:r>
          </a:p>
          <a:p>
            <a:pPr algn="l"/>
            <a:r>
              <a:rPr lang="ja-JP" sz="1600">
                <a:solidFill>
                  <a:srgbClr val="111111"/>
                </a:solidFill>
                <a:latin typeface="Yu Gothic"/>
                <a:ea typeface="Yu Gothic"/>
              </a:rPr>
              <a:t>同時並行で実行する場合、</a:t>
            </a:r>
          </a:p>
          <a:p>
            <a:pPr algn="l"/>
            <a:r>
              <a:rPr lang="ja-JP" sz="1600">
                <a:solidFill>
                  <a:srgbClr val="111111"/>
                </a:solidFill>
                <a:latin typeface="Yu Gothic"/>
                <a:ea typeface="Yu Gothic"/>
              </a:rPr>
              <a:t>移行先を先に準備することが</a:t>
            </a:r>
          </a:p>
          <a:p>
            <a:pPr algn="l"/>
            <a:r>
              <a:rPr lang="ja-JP" sz="1600">
                <a:solidFill>
                  <a:srgbClr val="111111"/>
                </a:solidFill>
                <a:latin typeface="Yu Gothic"/>
                <a:ea typeface="Yu Gothic"/>
              </a:rPr>
              <a:t>最重要です。</a:t>
            </a:r>
          </a:p>
        </p:txBody>
      </p:sp>
      <p:sp>
        <p:nvSpPr>
          <p:cNvPr id="43" name="Text 43"/>
          <p:cNvSpPr txBox="1"/>
          <p:nvPr/>
        </p:nvSpPr>
        <p:spPr>
          <a:xfrm>
            <a:off x="6413500" y="4127500"/>
            <a:ext cx="1619250" cy="1651000"/>
          </a:xfrm>
          <a:prstGeom prst="rect">
            <a:avLst/>
          </a:prstGeom>
          <a:noFill/>
          <a:ln>
            <a:noFill/>
          </a:ln>
        </p:spPr>
        <p:txBody>
          <a:bodyPr wrap="square" anchor="t" lIns="12700" tIns="12700" rIns="12700" bIns="12700"/>
          <a:lstStyle/>
          <a:p>
            <a:pPr algn="l"/>
            <a:r>
              <a:rPr lang="ja-JP" sz="1600">
                <a:solidFill>
                  <a:srgbClr val="111111"/>
                </a:solidFill>
                <a:latin typeface="Yu Gothic"/>
                <a:ea typeface="Yu Gothic"/>
              </a:rPr>
              <a:t>弊社でエージェントを開発。</a:t>
            </a:r>
          </a:p>
          <a:p>
            <a:pPr algn="l"/>
            <a:r>
              <a:rPr lang="ja-JP" sz="1600">
                <a:solidFill>
                  <a:srgbClr val="111111"/>
                </a:solidFill>
                <a:latin typeface="Yu Gothic"/>
                <a:ea typeface="Yu Gothic"/>
              </a:rPr>
              <a:t>毎週のご報告会を行いながら、</a:t>
            </a:r>
          </a:p>
          <a:p>
            <a:pPr algn="l"/>
            <a:r>
              <a:rPr lang="ja-JP" sz="1600">
                <a:solidFill>
                  <a:srgbClr val="111111"/>
                </a:solidFill>
                <a:latin typeface="Yu Gothic"/>
                <a:ea typeface="Yu Gothic"/>
              </a:rPr>
              <a:t>使用感やUIなどをすり合わせます。</a:t>
            </a:r>
          </a:p>
        </p:txBody>
      </p:sp>
      <p:sp>
        <p:nvSpPr>
          <p:cNvPr id="44" name="Text 44"/>
          <p:cNvSpPr txBox="1"/>
          <p:nvPr/>
        </p:nvSpPr>
        <p:spPr>
          <a:xfrm>
            <a:off x="8255000" y="4127500"/>
            <a:ext cx="1619250" cy="1651000"/>
          </a:xfrm>
          <a:prstGeom prst="rect">
            <a:avLst/>
          </a:prstGeom>
          <a:noFill/>
          <a:ln>
            <a:noFill/>
          </a:ln>
        </p:spPr>
        <p:txBody>
          <a:bodyPr wrap="square" anchor="t" lIns="12700" tIns="12700" rIns="12700" bIns="12700"/>
          <a:lstStyle/>
          <a:p>
            <a:pPr algn="l"/>
            <a:r>
              <a:rPr lang="ja-JP" sz="1600">
                <a:solidFill>
                  <a:srgbClr val="111111"/>
                </a:solidFill>
                <a:latin typeface="Yu Gothic"/>
                <a:ea typeface="Yu Gothic"/>
              </a:rPr>
              <a:t>小規模でのテスト運用後、</a:t>
            </a:r>
          </a:p>
          <a:p>
            <a:pPr algn="l"/>
            <a:r>
              <a:rPr lang="ja-JP" sz="1600">
                <a:solidFill>
                  <a:srgbClr val="111111"/>
                </a:solidFill>
                <a:latin typeface="Yu Gothic"/>
                <a:ea typeface="Yu Gothic"/>
              </a:rPr>
              <a:t>本格的に現場導入。</a:t>
            </a:r>
          </a:p>
          <a:p>
            <a:pPr algn="l"/>
            <a:r>
              <a:rPr lang="ja-JP" sz="1600">
                <a:solidFill>
                  <a:srgbClr val="111111"/>
                </a:solidFill>
                <a:latin typeface="Yu Gothic"/>
                <a:ea typeface="Yu Gothic"/>
              </a:rPr>
              <a:t>必要に応じてレクチャーなども</a:t>
            </a:r>
          </a:p>
          <a:p>
            <a:pPr algn="l"/>
            <a:r>
              <a:rPr lang="ja-JP" sz="1600">
                <a:solidFill>
                  <a:srgbClr val="111111"/>
                </a:solidFill>
                <a:latin typeface="Yu Gothic"/>
                <a:ea typeface="Yu Gothic"/>
              </a:rPr>
              <a:t>実施します。</a:t>
            </a:r>
          </a:p>
        </p:txBody>
      </p:sp>
      <p:sp>
        <p:nvSpPr>
          <p:cNvPr id="45" name="Text 45"/>
          <p:cNvSpPr txBox="1"/>
          <p:nvPr/>
        </p:nvSpPr>
        <p:spPr>
          <a:xfrm>
            <a:off x="10096500" y="4127500"/>
            <a:ext cx="1619250" cy="1651000"/>
          </a:xfrm>
          <a:prstGeom prst="rect">
            <a:avLst/>
          </a:prstGeom>
          <a:noFill/>
          <a:ln>
            <a:noFill/>
          </a:ln>
        </p:spPr>
        <p:txBody>
          <a:bodyPr wrap="square" anchor="t" lIns="12700" tIns="12700" rIns="12700" bIns="12700"/>
          <a:lstStyle/>
          <a:p>
            <a:pPr algn="l"/>
            <a:r>
              <a:rPr lang="ja-JP" sz="1600">
                <a:solidFill>
                  <a:srgbClr val="111111"/>
                </a:solidFill>
                <a:latin typeface="Yu Gothic"/>
                <a:ea typeface="Yu Gothic"/>
              </a:rPr>
              <a:t>定期的なご報告会を設け、</a:t>
            </a:r>
          </a:p>
          <a:p>
            <a:pPr algn="l"/>
            <a:r>
              <a:rPr lang="ja-JP" sz="1600">
                <a:solidFill>
                  <a:srgbClr val="111111"/>
                </a:solidFill>
                <a:latin typeface="Yu Gothic"/>
                <a:ea typeface="Yu Gothic"/>
              </a:rPr>
              <a:t>細かいアップデートを</a:t>
            </a:r>
          </a:p>
          <a:p>
            <a:pPr algn="l"/>
            <a:r>
              <a:rPr lang="ja-JP" sz="1600">
                <a:solidFill>
                  <a:srgbClr val="111111"/>
                </a:solidFill>
                <a:latin typeface="Yu Gothic"/>
                <a:ea typeface="Yu Gothic"/>
              </a:rPr>
              <a:t>繰り返しながら定着まで</a:t>
            </a:r>
          </a:p>
          <a:p>
            <a:pPr algn="l"/>
            <a:r>
              <a:rPr lang="ja-JP" sz="1600">
                <a:solidFill>
                  <a:srgbClr val="111111"/>
                </a:solidFill>
                <a:latin typeface="Yu Gothic"/>
                <a:ea typeface="Yu Gothic"/>
              </a:rPr>
              <a:t>伴走支援いたします。</a:t>
            </a:r>
          </a:p>
        </p:txBody>
      </p:sp>
      <p:sp>
        <p:nvSpPr>
          <p:cNvPr id="46" name="Text 46"/>
          <p:cNvSpPr txBox="1"/>
          <p:nvPr/>
        </p:nvSpPr>
        <p:spPr>
          <a:xfrm>
            <a:off x="444500" y="6413500"/>
            <a:ext cx="4445000" cy="228600"/>
          </a:xfrm>
          <a:prstGeom prst="rect">
            <a:avLst/>
          </a:prstGeom>
          <a:noFill/>
          <a:ln>
            <a:noFill/>
          </a:ln>
        </p:spPr>
        <p:txBody>
          <a:bodyPr wrap="square" anchor="t" lIns="12700" tIns="12700" rIns="12700" bIns="12700"/>
          <a:lstStyle/>
          <a:p>
            <a:pPr algn="l"/>
            <a:r>
              <a:rPr lang="ja-JP" sz="1400" b="1">
                <a:solidFill>
                  <a:srgbClr val="888888"/>
                </a:solidFill>
                <a:latin typeface="Yu Gothic"/>
                <a:ea typeface="Yu Gothic"/>
              </a:rPr>
              <a:t>Copyright @Field X inc. All rights reserved.</a:t>
            </a:r>
          </a:p>
        </p:txBody>
      </p:sp>
      <p:sp>
        <p:nvSpPr>
          <p:cNvPr id="47" name="Shape 47"/>
          <p:cNvSpPr txBox="1"/>
          <p:nvPr/>
        </p:nvSpPr>
        <p:spPr>
          <a:xfrm>
            <a:off x="11874500" y="0"/>
            <a:ext cx="317500" cy="6858000"/>
          </a:xfrm>
          <a:prstGeom prst="rect">
            <a:avLst/>
          </a:prstGeom>
          <a:solidFill>
            <a:srgbClr val="ff1818"/>
          </a:solidFill>
          <a:ln>
            <a:noFill/>
          </a:ln>
        </p:spPr>
      </p:sp>
      <p:sp>
        <p:nvSpPr>
          <p:cNvPr id="48" name="Text 48"/>
          <p:cNvSpPr txBox="1"/>
          <p:nvPr/>
        </p:nvSpPr>
        <p:spPr>
          <a:xfrm>
            <a:off x="11925300" y="6413500"/>
            <a:ext cx="228600" cy="254000"/>
          </a:xfrm>
          <a:prstGeom prst="rect">
            <a:avLst/>
          </a:prstGeom>
          <a:noFill/>
          <a:ln>
            <a:noFill/>
          </a:ln>
        </p:spPr>
        <p:txBody>
          <a:bodyPr wrap="square" anchor="t" lIns="12700" tIns="12700" rIns="12700" bIns="12700"/>
          <a:lstStyle/>
          <a:p>
            <a:pPr algn="c"/>
            <a:r>
              <a:rPr lang="ja-JP" sz="2000" b="1">
                <a:solidFill>
                  <a:srgbClr val="ffffff"/>
                </a:solidFill>
                <a:latin typeface="Yu Gothic"/>
                <a:ea typeface="Yu Gothic"/>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20700" y="368300"/>
            <a:ext cx="1397000" cy="177800"/>
          </a:xfrm>
          <a:prstGeom prst="rect">
            <a:avLst/>
          </a:prstGeom>
          <a:noFill/>
          <a:ln>
            <a:noFill/>
          </a:ln>
        </p:spPr>
        <p:txBody>
          <a:bodyPr wrap="square" anchor="t" lIns="12700" tIns="12700" rIns="12700" bIns="12700"/>
          <a:lstStyle/>
          <a:p>
            <a:pPr algn="l"/>
            <a:r>
              <a:rPr lang="ja-JP" sz="1500" b="1">
                <a:solidFill>
                  <a:srgbClr val="ff1818"/>
                </a:solidFill>
                <a:latin typeface="Yu Gothic"/>
                <a:ea typeface="Yu Gothic"/>
              </a:rPr>
              <a:t>Chapter3</a:t>
            </a:r>
          </a:p>
        </p:txBody>
      </p:sp>
      <p:sp>
        <p:nvSpPr>
          <p:cNvPr id="3" name="Text 3"/>
          <p:cNvSpPr txBox="1"/>
          <p:nvPr/>
        </p:nvSpPr>
        <p:spPr>
          <a:xfrm>
            <a:off x="520700" y="596900"/>
            <a:ext cx="7302500" cy="368300"/>
          </a:xfrm>
          <a:prstGeom prst="rect">
            <a:avLst/>
          </a:prstGeom>
          <a:noFill/>
          <a:ln>
            <a:noFill/>
          </a:ln>
        </p:spPr>
        <p:txBody>
          <a:bodyPr wrap="square" anchor="t" lIns="12700" tIns="12700" rIns="12700" bIns="12700"/>
          <a:lstStyle/>
          <a:p>
            <a:pPr algn="l"/>
            <a:r>
              <a:rPr lang="ja-JP" sz="3000" b="1">
                <a:solidFill>
                  <a:srgbClr val="111111"/>
                </a:solidFill>
                <a:latin typeface="Yu Gothic"/>
                <a:ea typeface="Yu Gothic"/>
              </a:rPr>
              <a:t>他社比較・社内稟議での判断軸</a:t>
            </a:r>
          </a:p>
        </p:txBody>
      </p:sp>
      <p:sp>
        <p:nvSpPr>
          <p:cNvPr id="4" name="Shape 4"/>
          <p:cNvSpPr txBox="1"/>
          <p:nvPr/>
        </p:nvSpPr>
        <p:spPr>
          <a:xfrm>
            <a:off x="571500" y="1333500"/>
            <a:ext cx="2127250" cy="368300"/>
          </a:xfrm>
          <a:prstGeom prst="roundRect">
            <a:avLst/>
          </a:prstGeom>
          <a:solidFill>
            <a:srgbClr val="ff1818"/>
          </a:solidFill>
          <a:ln w="6350">
            <a:solidFill>
              <a:srgbClr val="ff1818"/>
            </a:solidFill>
          </a:ln>
        </p:spPr>
        <p:txBody>
          <a:bodyPr wrap="square" anchor="ctr" lIns="38100" tIns="38100" rIns="38100" bIns="38100"/>
          <a:lstStyle/>
          <a:p>
            <a:pPr algn="c"/>
            <a:r>
              <a:rPr lang="ja-JP" sz="2000" b="1">
                <a:solidFill>
                  <a:srgbClr val="ffffff"/>
                </a:solidFill>
                <a:latin typeface="Yu Gothic"/>
                <a:ea typeface="Yu Gothic"/>
              </a:rPr>
              <a:t>判断軸</a:t>
            </a:r>
          </a:p>
        </p:txBody>
      </p:sp>
      <p:sp>
        <p:nvSpPr>
          <p:cNvPr id="5" name="Shape 5"/>
          <p:cNvSpPr txBox="1"/>
          <p:nvPr/>
        </p:nvSpPr>
        <p:spPr>
          <a:xfrm>
            <a:off x="2952750" y="1333500"/>
            <a:ext cx="3619500" cy="368300"/>
          </a:xfrm>
          <a:prstGeom prst="roundRect">
            <a:avLst/>
          </a:prstGeom>
          <a:solidFill>
            <a:srgbClr val="ff1818"/>
          </a:solidFill>
          <a:ln w="6350">
            <a:solidFill>
              <a:srgbClr val="ff1818"/>
            </a:solidFill>
          </a:ln>
        </p:spPr>
        <p:txBody>
          <a:bodyPr wrap="square" anchor="ctr" lIns="38100" tIns="38100" rIns="38100" bIns="38100"/>
          <a:lstStyle/>
          <a:p>
            <a:pPr algn="c"/>
            <a:r>
              <a:rPr lang="ja-JP" sz="2000" b="1">
                <a:solidFill>
                  <a:srgbClr val="ffffff"/>
                </a:solidFill>
                <a:latin typeface="Yu Gothic"/>
                <a:ea typeface="Yu Gothic"/>
              </a:rPr>
              <a:t>一般的なパッケージ導入</a:t>
            </a:r>
          </a:p>
        </p:txBody>
      </p:sp>
      <p:sp>
        <p:nvSpPr>
          <p:cNvPr id="6" name="Shape 6"/>
          <p:cNvSpPr txBox="1"/>
          <p:nvPr/>
        </p:nvSpPr>
        <p:spPr>
          <a:xfrm>
            <a:off x="6889750" y="1333500"/>
            <a:ext cx="4381500" cy="368300"/>
          </a:xfrm>
          <a:prstGeom prst="roundRect">
            <a:avLst/>
          </a:prstGeom>
          <a:solidFill>
            <a:srgbClr val="ff1818"/>
          </a:solidFill>
          <a:ln w="6350">
            <a:solidFill>
              <a:srgbClr val="ff1818"/>
            </a:solidFill>
          </a:ln>
        </p:spPr>
        <p:txBody>
          <a:bodyPr wrap="square" anchor="ctr" lIns="38100" tIns="38100" rIns="38100" bIns="38100"/>
          <a:lstStyle/>
          <a:p>
            <a:pPr algn="c"/>
            <a:r>
              <a:rPr lang="ja-JP" sz="2000" b="1">
                <a:solidFill>
                  <a:srgbClr val="ffffff"/>
                </a:solidFill>
                <a:latin typeface="Yu Gothic"/>
                <a:ea typeface="Yu Gothic"/>
              </a:rPr>
              <a:t>Field Xで開発する場合</a:t>
            </a:r>
          </a:p>
        </p:txBody>
      </p:sp>
      <p:sp>
        <p:nvSpPr>
          <p:cNvPr id="7" name="Shape 7"/>
          <p:cNvSpPr txBox="1"/>
          <p:nvPr/>
        </p:nvSpPr>
        <p:spPr>
          <a:xfrm>
            <a:off x="571500" y="2000250"/>
            <a:ext cx="2127250" cy="749300"/>
          </a:xfrm>
          <a:prstGeom prst="roundRect">
            <a:avLst/>
          </a:prstGeom>
          <a:solidFill>
            <a:srgbClr val="f5f5f5"/>
          </a:solidFill>
          <a:ln w="6350">
            <a:solidFill>
              <a:srgbClr val="dedede"/>
            </a:solidFill>
          </a:ln>
        </p:spPr>
      </p:sp>
      <p:sp>
        <p:nvSpPr>
          <p:cNvPr id="8" name="Shape 8"/>
          <p:cNvSpPr txBox="1"/>
          <p:nvPr/>
        </p:nvSpPr>
        <p:spPr>
          <a:xfrm>
            <a:off x="2952750" y="2000250"/>
            <a:ext cx="3619500" cy="749300"/>
          </a:xfrm>
          <a:prstGeom prst="roundRect">
            <a:avLst/>
          </a:prstGeom>
          <a:solidFill>
            <a:srgbClr val="f5f5f5"/>
          </a:solidFill>
          <a:ln w="6350">
            <a:solidFill>
              <a:srgbClr val="dedede"/>
            </a:solidFill>
          </a:ln>
        </p:spPr>
      </p:sp>
      <p:sp>
        <p:nvSpPr>
          <p:cNvPr id="9" name="Shape 9"/>
          <p:cNvSpPr txBox="1"/>
          <p:nvPr/>
        </p:nvSpPr>
        <p:spPr>
          <a:xfrm>
            <a:off x="6889750" y="2000250"/>
            <a:ext cx="4381500" cy="749300"/>
          </a:xfrm>
          <a:prstGeom prst="roundRect">
            <a:avLst/>
          </a:prstGeom>
          <a:solidFill>
            <a:srgbClr val="ffeaea"/>
          </a:solidFill>
          <a:ln w="12700">
            <a:solidFill>
              <a:srgbClr val="ff1818"/>
            </a:solidFill>
          </a:ln>
        </p:spPr>
      </p:sp>
      <p:sp>
        <p:nvSpPr>
          <p:cNvPr id="10" name="Text 10"/>
          <p:cNvSpPr txBox="1"/>
          <p:nvPr/>
        </p:nvSpPr>
        <p:spPr>
          <a:xfrm>
            <a:off x="749300" y="2247900"/>
            <a:ext cx="1143000" cy="203200"/>
          </a:xfrm>
          <a:prstGeom prst="rect">
            <a:avLst/>
          </a:prstGeom>
          <a:noFill/>
          <a:ln>
            <a:noFill/>
          </a:ln>
        </p:spPr>
        <p:txBody>
          <a:bodyPr wrap="square" anchor="t" lIns="12700" tIns="12700" rIns="12700" bIns="12700"/>
          <a:lstStyle/>
          <a:p>
            <a:pPr algn="l"/>
            <a:r>
              <a:rPr lang="ja-JP" sz="2100" b="1">
                <a:solidFill>
                  <a:srgbClr val="111111"/>
                </a:solidFill>
                <a:latin typeface="Yu Gothic"/>
                <a:ea typeface="Yu Gothic"/>
              </a:rPr>
              <a:t>業務適合</a:t>
            </a:r>
          </a:p>
        </p:txBody>
      </p:sp>
      <p:sp>
        <p:nvSpPr>
          <p:cNvPr id="11" name="Text 11"/>
          <p:cNvSpPr txBox="1"/>
          <p:nvPr/>
        </p:nvSpPr>
        <p:spPr>
          <a:xfrm>
            <a:off x="3143250" y="2171700"/>
            <a:ext cx="3175000" cy="368300"/>
          </a:xfrm>
          <a:prstGeom prst="rect">
            <a:avLst/>
          </a:prstGeom>
          <a:noFill/>
          <a:ln>
            <a:noFill/>
          </a:ln>
        </p:spPr>
        <p:txBody>
          <a:bodyPr wrap="square" anchor="t" lIns="12700" tIns="12700" rIns="12700" bIns="12700"/>
          <a:lstStyle/>
          <a:p>
            <a:pPr algn="l"/>
            <a:r>
              <a:rPr lang="ja-JP" sz="1700">
                <a:solidFill>
                  <a:srgbClr val="333333"/>
                </a:solidFill>
                <a:latin typeface="Yu Gothic"/>
                <a:ea typeface="Yu Gothic"/>
              </a:rPr>
              <a:t>既存機能に業務を寄せる必要がある</a:t>
            </a:r>
          </a:p>
        </p:txBody>
      </p:sp>
      <p:sp>
        <p:nvSpPr>
          <p:cNvPr id="12" name="Text 12"/>
          <p:cNvSpPr txBox="1"/>
          <p:nvPr/>
        </p:nvSpPr>
        <p:spPr>
          <a:xfrm>
            <a:off x="7099300" y="2171700"/>
            <a:ext cx="3905250" cy="368300"/>
          </a:xfrm>
          <a:prstGeom prst="rect">
            <a:avLst/>
          </a:prstGeom>
          <a:noFill/>
          <a:ln>
            <a:noFill/>
          </a:ln>
        </p:spPr>
        <p:txBody>
          <a:bodyPr wrap="square" anchor="t" lIns="12700" tIns="12700" rIns="12700" bIns="12700"/>
          <a:lstStyle/>
          <a:p>
            <a:pPr algn="l"/>
            <a:r>
              <a:rPr lang="ja-JP" sz="1700">
                <a:solidFill>
                  <a:srgbClr val="333333"/>
                </a:solidFill>
                <a:latin typeface="Yu Gothic"/>
                <a:ea typeface="Yu Gothic"/>
              </a:rPr>
              <a:t>貴社の業務フロー・承認・帳票に合わせて設計</a:t>
            </a:r>
          </a:p>
        </p:txBody>
      </p:sp>
      <p:sp>
        <p:nvSpPr>
          <p:cNvPr id="13" name="Shape 13"/>
          <p:cNvSpPr txBox="1"/>
          <p:nvPr/>
        </p:nvSpPr>
        <p:spPr>
          <a:xfrm>
            <a:off x="571500" y="2876550"/>
            <a:ext cx="2127250" cy="749300"/>
          </a:xfrm>
          <a:prstGeom prst="roundRect">
            <a:avLst/>
          </a:prstGeom>
          <a:solidFill>
            <a:srgbClr val="f5f5f5"/>
          </a:solidFill>
          <a:ln w="6350">
            <a:solidFill>
              <a:srgbClr val="dedede"/>
            </a:solidFill>
          </a:ln>
        </p:spPr>
      </p:sp>
      <p:sp>
        <p:nvSpPr>
          <p:cNvPr id="14" name="Shape 14"/>
          <p:cNvSpPr txBox="1"/>
          <p:nvPr/>
        </p:nvSpPr>
        <p:spPr>
          <a:xfrm>
            <a:off x="2952750" y="2876550"/>
            <a:ext cx="3619500" cy="749300"/>
          </a:xfrm>
          <a:prstGeom prst="roundRect">
            <a:avLst/>
          </a:prstGeom>
          <a:solidFill>
            <a:srgbClr val="f5f5f5"/>
          </a:solidFill>
          <a:ln w="6350">
            <a:solidFill>
              <a:srgbClr val="dedede"/>
            </a:solidFill>
          </a:ln>
        </p:spPr>
      </p:sp>
      <p:sp>
        <p:nvSpPr>
          <p:cNvPr id="15" name="Shape 15"/>
          <p:cNvSpPr txBox="1"/>
          <p:nvPr/>
        </p:nvSpPr>
        <p:spPr>
          <a:xfrm>
            <a:off x="6889750" y="2876550"/>
            <a:ext cx="4381500" cy="749300"/>
          </a:xfrm>
          <a:prstGeom prst="roundRect">
            <a:avLst/>
          </a:prstGeom>
          <a:solidFill>
            <a:srgbClr val="ffeaea"/>
          </a:solidFill>
          <a:ln w="12700">
            <a:solidFill>
              <a:srgbClr val="ff1818"/>
            </a:solidFill>
          </a:ln>
        </p:spPr>
      </p:sp>
      <p:sp>
        <p:nvSpPr>
          <p:cNvPr id="16" name="Text 16"/>
          <p:cNvSpPr txBox="1"/>
          <p:nvPr/>
        </p:nvSpPr>
        <p:spPr>
          <a:xfrm>
            <a:off x="749300" y="3124200"/>
            <a:ext cx="1143000" cy="203200"/>
          </a:xfrm>
          <a:prstGeom prst="rect">
            <a:avLst/>
          </a:prstGeom>
          <a:noFill/>
          <a:ln>
            <a:noFill/>
          </a:ln>
        </p:spPr>
        <p:txBody>
          <a:bodyPr wrap="square" anchor="t" lIns="12700" tIns="12700" rIns="12700" bIns="12700"/>
          <a:lstStyle/>
          <a:p>
            <a:pPr algn="l"/>
            <a:r>
              <a:rPr lang="ja-JP" sz="2100" b="1">
                <a:solidFill>
                  <a:srgbClr val="111111"/>
                </a:solidFill>
                <a:latin typeface="Yu Gothic"/>
                <a:ea typeface="Yu Gothic"/>
              </a:rPr>
              <a:t>現場定着</a:t>
            </a:r>
          </a:p>
        </p:txBody>
      </p:sp>
      <p:sp>
        <p:nvSpPr>
          <p:cNvPr id="17" name="Text 17"/>
          <p:cNvSpPr txBox="1"/>
          <p:nvPr/>
        </p:nvSpPr>
        <p:spPr>
          <a:xfrm>
            <a:off x="3143250" y="3048000"/>
            <a:ext cx="3175000" cy="368300"/>
          </a:xfrm>
          <a:prstGeom prst="rect">
            <a:avLst/>
          </a:prstGeom>
          <a:noFill/>
          <a:ln>
            <a:noFill/>
          </a:ln>
        </p:spPr>
        <p:txBody>
          <a:bodyPr wrap="square" anchor="t" lIns="12700" tIns="12700" rIns="12700" bIns="12700"/>
          <a:lstStyle/>
          <a:p>
            <a:pPr algn="l"/>
            <a:r>
              <a:rPr lang="ja-JP" sz="1700">
                <a:solidFill>
                  <a:srgbClr val="333333"/>
                </a:solidFill>
                <a:latin typeface="Yu Gothic"/>
                <a:ea typeface="Yu Gothic"/>
              </a:rPr>
              <a:t>画面や操作が合わず利用が限定される可能性</a:t>
            </a:r>
          </a:p>
        </p:txBody>
      </p:sp>
      <p:sp>
        <p:nvSpPr>
          <p:cNvPr id="18" name="Text 18"/>
          <p:cNvSpPr txBox="1"/>
          <p:nvPr/>
        </p:nvSpPr>
        <p:spPr>
          <a:xfrm>
            <a:off x="7099300" y="3048000"/>
            <a:ext cx="3905250" cy="368300"/>
          </a:xfrm>
          <a:prstGeom prst="rect">
            <a:avLst/>
          </a:prstGeom>
          <a:noFill/>
          <a:ln>
            <a:noFill/>
          </a:ln>
        </p:spPr>
        <p:txBody>
          <a:bodyPr wrap="square" anchor="t" lIns="12700" tIns="12700" rIns="12700" bIns="12700"/>
          <a:lstStyle/>
          <a:p>
            <a:pPr algn="l"/>
            <a:r>
              <a:rPr lang="ja-JP" sz="1700">
                <a:solidFill>
                  <a:srgbClr val="333333"/>
                </a:solidFill>
                <a:latin typeface="Yu Gothic"/>
                <a:ea typeface="Yu Gothic"/>
              </a:rPr>
              <a:t>担当者様の使い方を前提にモックから改善</a:t>
            </a:r>
          </a:p>
        </p:txBody>
      </p:sp>
      <p:sp>
        <p:nvSpPr>
          <p:cNvPr id="19" name="Shape 19"/>
          <p:cNvSpPr txBox="1"/>
          <p:nvPr/>
        </p:nvSpPr>
        <p:spPr>
          <a:xfrm>
            <a:off x="571500" y="3752850"/>
            <a:ext cx="2127250" cy="749300"/>
          </a:xfrm>
          <a:prstGeom prst="roundRect">
            <a:avLst/>
          </a:prstGeom>
          <a:solidFill>
            <a:srgbClr val="f5f5f5"/>
          </a:solidFill>
          <a:ln w="6350">
            <a:solidFill>
              <a:srgbClr val="dedede"/>
            </a:solidFill>
          </a:ln>
        </p:spPr>
      </p:sp>
      <p:sp>
        <p:nvSpPr>
          <p:cNvPr id="20" name="Shape 20"/>
          <p:cNvSpPr txBox="1"/>
          <p:nvPr/>
        </p:nvSpPr>
        <p:spPr>
          <a:xfrm>
            <a:off x="2952750" y="3752850"/>
            <a:ext cx="3619500" cy="749300"/>
          </a:xfrm>
          <a:prstGeom prst="roundRect">
            <a:avLst/>
          </a:prstGeom>
          <a:solidFill>
            <a:srgbClr val="f5f5f5"/>
          </a:solidFill>
          <a:ln w="6350">
            <a:solidFill>
              <a:srgbClr val="dedede"/>
            </a:solidFill>
          </a:ln>
        </p:spPr>
      </p:sp>
      <p:sp>
        <p:nvSpPr>
          <p:cNvPr id="21" name="Shape 21"/>
          <p:cNvSpPr txBox="1"/>
          <p:nvPr/>
        </p:nvSpPr>
        <p:spPr>
          <a:xfrm>
            <a:off x="6889750" y="3752850"/>
            <a:ext cx="4381500" cy="749300"/>
          </a:xfrm>
          <a:prstGeom prst="roundRect">
            <a:avLst/>
          </a:prstGeom>
          <a:solidFill>
            <a:srgbClr val="ffeaea"/>
          </a:solidFill>
          <a:ln w="12700">
            <a:solidFill>
              <a:srgbClr val="ff1818"/>
            </a:solidFill>
          </a:ln>
        </p:spPr>
      </p:sp>
      <p:sp>
        <p:nvSpPr>
          <p:cNvPr id="22" name="Text 22"/>
          <p:cNvSpPr txBox="1"/>
          <p:nvPr/>
        </p:nvSpPr>
        <p:spPr>
          <a:xfrm>
            <a:off x="749300" y="4000500"/>
            <a:ext cx="1143000" cy="203200"/>
          </a:xfrm>
          <a:prstGeom prst="rect">
            <a:avLst/>
          </a:prstGeom>
          <a:noFill/>
          <a:ln>
            <a:noFill/>
          </a:ln>
        </p:spPr>
        <p:txBody>
          <a:bodyPr wrap="square" anchor="t" lIns="12700" tIns="12700" rIns="12700" bIns="12700"/>
          <a:lstStyle/>
          <a:p>
            <a:pPr algn="l"/>
            <a:r>
              <a:rPr lang="ja-JP" sz="2100" b="1">
                <a:solidFill>
                  <a:srgbClr val="111111"/>
                </a:solidFill>
                <a:latin typeface="Yu Gothic"/>
                <a:ea typeface="Yu Gothic"/>
              </a:rPr>
              <a:t>AI拡張</a:t>
            </a:r>
          </a:p>
        </p:txBody>
      </p:sp>
      <p:sp>
        <p:nvSpPr>
          <p:cNvPr id="23" name="Text 23"/>
          <p:cNvSpPr txBox="1"/>
          <p:nvPr/>
        </p:nvSpPr>
        <p:spPr>
          <a:xfrm>
            <a:off x="3143250" y="3924300"/>
            <a:ext cx="3175000" cy="368300"/>
          </a:xfrm>
          <a:prstGeom prst="rect">
            <a:avLst/>
          </a:prstGeom>
          <a:noFill/>
          <a:ln>
            <a:noFill/>
          </a:ln>
        </p:spPr>
        <p:txBody>
          <a:bodyPr wrap="square" anchor="t" lIns="12700" tIns="12700" rIns="12700" bIns="12700"/>
          <a:lstStyle/>
          <a:p>
            <a:pPr algn="l"/>
            <a:r>
              <a:rPr lang="ja-JP" sz="1700">
                <a:solidFill>
                  <a:srgbClr val="333333"/>
                </a:solidFill>
                <a:latin typeface="Yu Gothic"/>
                <a:ea typeface="Yu Gothic"/>
              </a:rPr>
              <a:t>個別AI連携は追加開発・制約が出やすい</a:t>
            </a:r>
          </a:p>
        </p:txBody>
      </p:sp>
      <p:sp>
        <p:nvSpPr>
          <p:cNvPr id="24" name="Text 24"/>
          <p:cNvSpPr txBox="1"/>
          <p:nvPr/>
        </p:nvSpPr>
        <p:spPr>
          <a:xfrm>
            <a:off x="7099300" y="3924300"/>
            <a:ext cx="3905250" cy="368300"/>
          </a:xfrm>
          <a:prstGeom prst="rect">
            <a:avLst/>
          </a:prstGeom>
          <a:noFill/>
          <a:ln>
            <a:noFill/>
          </a:ln>
        </p:spPr>
        <p:txBody>
          <a:bodyPr wrap="square" anchor="t" lIns="12700" tIns="12700" rIns="12700" bIns="12700"/>
          <a:lstStyle/>
          <a:p>
            <a:pPr algn="l"/>
            <a:r>
              <a:rPr lang="ja-JP" sz="1700">
                <a:solidFill>
                  <a:srgbClr val="333333"/>
                </a:solidFill>
                <a:latin typeface="Yu Gothic"/>
                <a:ea typeface="Yu Gothic"/>
              </a:rPr>
              <a:t>基幹データを起点にAI音声対応・営業支援AIまで展開</a:t>
            </a:r>
          </a:p>
        </p:txBody>
      </p:sp>
      <p:sp>
        <p:nvSpPr>
          <p:cNvPr id="25" name="Shape 25"/>
          <p:cNvSpPr txBox="1"/>
          <p:nvPr/>
        </p:nvSpPr>
        <p:spPr>
          <a:xfrm>
            <a:off x="571500" y="4629150"/>
            <a:ext cx="2127250" cy="749300"/>
          </a:xfrm>
          <a:prstGeom prst="roundRect">
            <a:avLst/>
          </a:prstGeom>
          <a:solidFill>
            <a:srgbClr val="f5f5f5"/>
          </a:solidFill>
          <a:ln w="6350">
            <a:solidFill>
              <a:srgbClr val="dedede"/>
            </a:solidFill>
          </a:ln>
        </p:spPr>
      </p:sp>
      <p:sp>
        <p:nvSpPr>
          <p:cNvPr id="26" name="Shape 26"/>
          <p:cNvSpPr txBox="1"/>
          <p:nvPr/>
        </p:nvSpPr>
        <p:spPr>
          <a:xfrm>
            <a:off x="2952750" y="4629150"/>
            <a:ext cx="3619500" cy="749300"/>
          </a:xfrm>
          <a:prstGeom prst="roundRect">
            <a:avLst/>
          </a:prstGeom>
          <a:solidFill>
            <a:srgbClr val="f5f5f5"/>
          </a:solidFill>
          <a:ln w="6350">
            <a:solidFill>
              <a:srgbClr val="dedede"/>
            </a:solidFill>
          </a:ln>
        </p:spPr>
      </p:sp>
      <p:sp>
        <p:nvSpPr>
          <p:cNvPr id="27" name="Shape 27"/>
          <p:cNvSpPr txBox="1"/>
          <p:nvPr/>
        </p:nvSpPr>
        <p:spPr>
          <a:xfrm>
            <a:off x="6889750" y="4629150"/>
            <a:ext cx="4381500" cy="749300"/>
          </a:xfrm>
          <a:prstGeom prst="roundRect">
            <a:avLst/>
          </a:prstGeom>
          <a:solidFill>
            <a:srgbClr val="ffeaea"/>
          </a:solidFill>
          <a:ln w="12700">
            <a:solidFill>
              <a:srgbClr val="ff1818"/>
            </a:solidFill>
          </a:ln>
        </p:spPr>
      </p:sp>
      <p:sp>
        <p:nvSpPr>
          <p:cNvPr id="28" name="Text 28"/>
          <p:cNvSpPr txBox="1"/>
          <p:nvPr/>
        </p:nvSpPr>
        <p:spPr>
          <a:xfrm>
            <a:off x="749300" y="4876800"/>
            <a:ext cx="1143000" cy="203200"/>
          </a:xfrm>
          <a:prstGeom prst="rect">
            <a:avLst/>
          </a:prstGeom>
          <a:noFill/>
          <a:ln>
            <a:noFill/>
          </a:ln>
        </p:spPr>
        <p:txBody>
          <a:bodyPr wrap="square" anchor="t" lIns="12700" tIns="12700" rIns="12700" bIns="12700"/>
          <a:lstStyle/>
          <a:p>
            <a:pPr algn="l"/>
            <a:r>
              <a:rPr lang="ja-JP" sz="2100" b="1">
                <a:solidFill>
                  <a:srgbClr val="111111"/>
                </a:solidFill>
                <a:latin typeface="Yu Gothic"/>
                <a:ea typeface="Yu Gothic"/>
              </a:rPr>
              <a:t>社内説明</a:t>
            </a:r>
          </a:p>
        </p:txBody>
      </p:sp>
      <p:sp>
        <p:nvSpPr>
          <p:cNvPr id="29" name="Text 29"/>
          <p:cNvSpPr txBox="1"/>
          <p:nvPr/>
        </p:nvSpPr>
        <p:spPr>
          <a:xfrm>
            <a:off x="3143250" y="4800600"/>
            <a:ext cx="3175000" cy="368300"/>
          </a:xfrm>
          <a:prstGeom prst="rect">
            <a:avLst/>
          </a:prstGeom>
          <a:noFill/>
          <a:ln>
            <a:noFill/>
          </a:ln>
        </p:spPr>
        <p:txBody>
          <a:bodyPr wrap="square" anchor="t" lIns="12700" tIns="12700" rIns="12700" bIns="12700"/>
          <a:lstStyle/>
          <a:p>
            <a:pPr algn="l"/>
            <a:r>
              <a:rPr lang="ja-JP" sz="1700">
                <a:solidFill>
                  <a:srgbClr val="333333"/>
                </a:solidFill>
                <a:latin typeface="Yu Gothic"/>
                <a:ea typeface="Yu Gothic"/>
              </a:rPr>
              <a:t>導入効果や運用イメージを別途整理する必要</a:t>
            </a:r>
          </a:p>
        </p:txBody>
      </p:sp>
      <p:sp>
        <p:nvSpPr>
          <p:cNvPr id="30" name="Text 30"/>
          <p:cNvSpPr txBox="1"/>
          <p:nvPr/>
        </p:nvSpPr>
        <p:spPr>
          <a:xfrm>
            <a:off x="7099300" y="4800600"/>
            <a:ext cx="3905250" cy="368300"/>
          </a:xfrm>
          <a:prstGeom prst="rect">
            <a:avLst/>
          </a:prstGeom>
          <a:noFill/>
          <a:ln>
            <a:noFill/>
          </a:ln>
        </p:spPr>
        <p:txBody>
          <a:bodyPr wrap="square" anchor="t" lIns="12700" tIns="12700" rIns="12700" bIns="12700"/>
          <a:lstStyle/>
          <a:p>
            <a:pPr algn="l"/>
            <a:r>
              <a:rPr lang="ja-JP" sz="1700">
                <a:solidFill>
                  <a:srgbClr val="333333"/>
                </a:solidFill>
                <a:latin typeface="Yu Gothic"/>
                <a:ea typeface="Yu Gothic"/>
              </a:rPr>
              <a:t>スクショ資料・要件資料・進め方を一式で提示</a:t>
            </a:r>
          </a:p>
        </p:txBody>
      </p:sp>
      <p:sp>
        <p:nvSpPr>
          <p:cNvPr id="31" name="Text 31"/>
          <p:cNvSpPr txBox="1"/>
          <p:nvPr/>
        </p:nvSpPr>
        <p:spPr>
          <a:xfrm>
            <a:off x="444500" y="6413500"/>
            <a:ext cx="4445000" cy="228600"/>
          </a:xfrm>
          <a:prstGeom prst="rect">
            <a:avLst/>
          </a:prstGeom>
          <a:noFill/>
          <a:ln>
            <a:noFill/>
          </a:ln>
        </p:spPr>
        <p:txBody>
          <a:bodyPr wrap="square" anchor="t" lIns="12700" tIns="12700" rIns="12700" bIns="12700"/>
          <a:lstStyle/>
          <a:p>
            <a:pPr algn="l"/>
            <a:r>
              <a:rPr lang="ja-JP" sz="1400" b="1">
                <a:solidFill>
                  <a:srgbClr val="888888"/>
                </a:solidFill>
                <a:latin typeface="Yu Gothic"/>
                <a:ea typeface="Yu Gothic"/>
              </a:rPr>
              <a:t>Copyright @Field X inc. All rights reserved.</a:t>
            </a:r>
          </a:p>
        </p:txBody>
      </p:sp>
      <p:sp>
        <p:nvSpPr>
          <p:cNvPr id="32" name="Shape 32"/>
          <p:cNvSpPr txBox="1"/>
          <p:nvPr/>
        </p:nvSpPr>
        <p:spPr>
          <a:xfrm>
            <a:off x="11874500" y="0"/>
            <a:ext cx="317500" cy="6858000"/>
          </a:xfrm>
          <a:prstGeom prst="rect">
            <a:avLst/>
          </a:prstGeom>
          <a:solidFill>
            <a:srgbClr val="ff1818"/>
          </a:solidFill>
          <a:ln>
            <a:noFill/>
          </a:ln>
        </p:spPr>
      </p:sp>
      <p:sp>
        <p:nvSpPr>
          <p:cNvPr id="33" name="Text 33"/>
          <p:cNvSpPr txBox="1"/>
          <p:nvPr/>
        </p:nvSpPr>
        <p:spPr>
          <a:xfrm>
            <a:off x="11925300" y="6413500"/>
            <a:ext cx="228600" cy="254000"/>
          </a:xfrm>
          <a:prstGeom prst="rect">
            <a:avLst/>
          </a:prstGeom>
          <a:noFill/>
          <a:ln>
            <a:noFill/>
          </a:ln>
        </p:spPr>
        <p:txBody>
          <a:bodyPr wrap="square" anchor="t" lIns="12700" tIns="12700" rIns="12700" bIns="12700"/>
          <a:lstStyle/>
          <a:p>
            <a:pPr algn="c"/>
            <a:r>
              <a:rPr lang="ja-JP" sz="2000" b="1">
                <a:solidFill>
                  <a:srgbClr val="ffffff"/>
                </a:solidFill>
                <a:latin typeface="Yu Gothic"/>
                <a:ea typeface="Yu Gothic"/>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20700" y="368300"/>
            <a:ext cx="1397000" cy="177800"/>
          </a:xfrm>
          <a:prstGeom prst="rect">
            <a:avLst/>
          </a:prstGeom>
          <a:noFill/>
          <a:ln>
            <a:noFill/>
          </a:ln>
        </p:spPr>
        <p:txBody>
          <a:bodyPr wrap="square" anchor="t" lIns="12700" tIns="12700" rIns="12700" bIns="12700"/>
          <a:lstStyle/>
          <a:p>
            <a:pPr algn="l"/>
            <a:r>
              <a:rPr lang="ja-JP" sz="1500" b="1">
                <a:solidFill>
                  <a:srgbClr val="ff1818"/>
                </a:solidFill>
                <a:latin typeface="Yu Gothic"/>
                <a:ea typeface="Yu Gothic"/>
              </a:rPr>
              <a:t>Chapter3</a:t>
            </a:r>
          </a:p>
        </p:txBody>
      </p:sp>
      <p:sp>
        <p:nvSpPr>
          <p:cNvPr id="3" name="Text 3"/>
          <p:cNvSpPr txBox="1"/>
          <p:nvPr/>
        </p:nvSpPr>
        <p:spPr>
          <a:xfrm>
            <a:off x="520700" y="596900"/>
            <a:ext cx="7302500" cy="368300"/>
          </a:xfrm>
          <a:prstGeom prst="rect">
            <a:avLst/>
          </a:prstGeom>
          <a:noFill/>
          <a:ln>
            <a:noFill/>
          </a:ln>
        </p:spPr>
        <p:txBody>
          <a:bodyPr wrap="square" anchor="t" lIns="12700" tIns="12700" rIns="12700" bIns="12700"/>
          <a:lstStyle/>
          <a:p>
            <a:pPr algn="l"/>
            <a:r>
              <a:rPr lang="ja-JP" sz="3000" b="1">
                <a:solidFill>
                  <a:srgbClr val="111111"/>
                </a:solidFill>
                <a:latin typeface="Yu Gothic"/>
                <a:ea typeface="Yu Gothic"/>
              </a:rPr>
              <a:t>基幹管理システムを起点に、社内AIへ展開可能</a:t>
            </a:r>
          </a:p>
        </p:txBody>
      </p:sp>
      <p:sp>
        <p:nvSpPr>
          <p:cNvPr id="4" name="Shape 4"/>
          <p:cNvSpPr txBox="1"/>
          <p:nvPr/>
        </p:nvSpPr>
        <p:spPr>
          <a:xfrm>
            <a:off x="730250" y="1492250"/>
            <a:ext cx="4889500" cy="3873500"/>
          </a:xfrm>
          <a:prstGeom prst="roundRect">
            <a:avLst/>
          </a:prstGeom>
          <a:solidFill>
            <a:srgbClr val="ffffff"/>
          </a:solidFill>
          <a:ln w="12700">
            <a:solidFill>
              <a:srgbClr val="dedede"/>
            </a:solidFill>
          </a:ln>
        </p:spPr>
      </p:sp>
      <p:sp>
        <p:nvSpPr>
          <p:cNvPr id="5" name="Shape 5"/>
          <p:cNvSpPr txBox="1"/>
          <p:nvPr/>
        </p:nvSpPr>
        <p:spPr>
          <a:xfrm>
            <a:off x="730250" y="1492250"/>
            <a:ext cx="1301750" cy="3873500"/>
          </a:xfrm>
          <a:prstGeom prst="rect">
            <a:avLst/>
          </a:prstGeom>
          <a:solidFill>
            <a:srgbClr val="15151b"/>
          </a:solidFill>
          <a:ln w="6350">
            <a:solidFill>
              <a:srgbClr val="15151b"/>
            </a:solidFill>
          </a:ln>
        </p:spPr>
      </p:sp>
      <p:sp>
        <p:nvSpPr>
          <p:cNvPr id="6" name="Shape 6"/>
          <p:cNvSpPr txBox="1"/>
          <p:nvPr/>
        </p:nvSpPr>
        <p:spPr>
          <a:xfrm>
            <a:off x="933450" y="1708150"/>
            <a:ext cx="266700" cy="266700"/>
          </a:xfrm>
          <a:prstGeom prst="ellipse">
            <a:avLst/>
          </a:prstGeom>
          <a:solidFill>
            <a:srgbClr val="ff1818"/>
          </a:solidFill>
          <a:ln w="6350">
            <a:solidFill>
              <a:srgbClr val="ff1818"/>
            </a:solidFill>
          </a:ln>
        </p:spPr>
      </p:sp>
      <p:sp>
        <p:nvSpPr>
          <p:cNvPr id="7" name="Text 7"/>
          <p:cNvSpPr txBox="1"/>
          <p:nvPr/>
        </p:nvSpPr>
        <p:spPr>
          <a:xfrm>
            <a:off x="1276350" y="1714500"/>
            <a:ext cx="609600" cy="215900"/>
          </a:xfrm>
          <a:prstGeom prst="rect">
            <a:avLst/>
          </a:prstGeom>
          <a:noFill/>
          <a:ln>
            <a:noFill/>
          </a:ln>
        </p:spPr>
        <p:txBody>
          <a:bodyPr wrap="square" anchor="t" lIns="12700" tIns="12700" rIns="12700" bIns="12700"/>
          <a:lstStyle/>
          <a:p>
            <a:pPr algn="l"/>
            <a:r>
              <a:rPr lang="ja-JP" sz="2200" b="1">
                <a:solidFill>
                  <a:srgbClr val="ffffff"/>
                </a:solidFill>
                <a:latin typeface="Yu Gothic"/>
                <a:ea typeface="Yu Gothic"/>
              </a:rPr>
              <a:t>Field X</a:t>
            </a:r>
          </a:p>
        </p:txBody>
      </p:sp>
      <p:sp>
        <p:nvSpPr>
          <p:cNvPr id="8" name="Shape 8"/>
          <p:cNvSpPr txBox="1"/>
          <p:nvPr/>
        </p:nvSpPr>
        <p:spPr>
          <a:xfrm>
            <a:off x="2032000" y="1492250"/>
            <a:ext cx="3587750" cy="533400"/>
          </a:xfrm>
          <a:prstGeom prst="rect">
            <a:avLst/>
          </a:prstGeom>
          <a:solidFill>
            <a:srgbClr val="fcfcfc"/>
          </a:solidFill>
          <a:ln w="6350">
            <a:solidFill>
              <a:srgbClr val="dedede"/>
            </a:solidFill>
          </a:ln>
        </p:spPr>
      </p:sp>
      <p:sp>
        <p:nvSpPr>
          <p:cNvPr id="9" name="Text 9"/>
          <p:cNvSpPr txBox="1"/>
          <p:nvPr/>
        </p:nvSpPr>
        <p:spPr>
          <a:xfrm>
            <a:off x="2286000" y="1670050"/>
            <a:ext cx="4445000" cy="203200"/>
          </a:xfrm>
          <a:prstGeom prst="rect">
            <a:avLst/>
          </a:prstGeom>
          <a:noFill/>
          <a:ln>
            <a:noFill/>
          </a:ln>
        </p:spPr>
        <p:txBody>
          <a:bodyPr wrap="square" anchor="t" lIns="12700" tIns="12700" rIns="12700" bIns="12700"/>
          <a:lstStyle/>
          <a:p>
            <a:pPr algn="l"/>
            <a:r>
              <a:rPr lang="ja-JP" sz="1900" b="1">
                <a:solidFill>
                  <a:srgbClr val="111111"/>
                </a:solidFill>
                <a:latin typeface="Yu Gothic"/>
                <a:ea typeface="Yu Gothic"/>
              </a:rPr>
              <a:t>基幹管理ダッシュボード</a:t>
            </a:r>
          </a:p>
        </p:txBody>
      </p:sp>
      <p:sp>
        <p:nvSpPr>
          <p:cNvPr id="10" name="Text 10"/>
          <p:cNvSpPr txBox="1"/>
          <p:nvPr/>
        </p:nvSpPr>
        <p:spPr>
          <a:xfrm>
            <a:off x="4464050" y="1682750"/>
            <a:ext cx="603250" cy="152400"/>
          </a:xfrm>
          <a:prstGeom prst="rect">
            <a:avLst/>
          </a:prstGeom>
          <a:noFill/>
          <a:ln>
            <a:noFill/>
          </a:ln>
        </p:spPr>
        <p:txBody>
          <a:bodyPr wrap="square" anchor="t" lIns="12700" tIns="12700" rIns="12700" bIns="12700"/>
          <a:lstStyle/>
          <a:p>
            <a:pPr algn="l"/>
            <a:r>
              <a:rPr lang="ja-JP" sz="1400">
                <a:solidFill>
                  <a:srgbClr val="666666"/>
                </a:solidFill>
                <a:latin typeface="Yu Gothic"/>
                <a:ea typeface="Yu Gothic"/>
              </a:rPr>
              <a:t>担当者</a:t>
            </a:r>
          </a:p>
        </p:txBody>
      </p:sp>
      <p:sp>
        <p:nvSpPr>
          <p:cNvPr id="11" name="Shape 11"/>
          <p:cNvSpPr txBox="1"/>
          <p:nvPr/>
        </p:nvSpPr>
        <p:spPr>
          <a:xfrm>
            <a:off x="882650" y="2203450"/>
            <a:ext cx="1003300" cy="279400"/>
          </a:xfrm>
          <a:prstGeom prst="roundRect">
            <a:avLst/>
          </a:prstGeom>
          <a:solidFill>
            <a:srgbClr val="ff1818"/>
          </a:solidFill>
          <a:ln w="6350">
            <a:solidFill>
              <a:srgbClr val="ff1818"/>
            </a:solidFill>
          </a:ln>
        </p:spPr>
        <p:txBody>
          <a:bodyPr wrap="square" anchor="ctr" lIns="76200" tIns="76200" rIns="76200" bIns="76200"/>
          <a:lstStyle/>
          <a:p>
            <a:pPr algn="c"/>
            <a:r>
              <a:rPr lang="ja-JP" sz="1500" b="1">
                <a:solidFill>
                  <a:srgbClr val="ffffff"/>
                </a:solidFill>
                <a:latin typeface="Yu Gothic"/>
                <a:ea typeface="Yu Gothic"/>
              </a:rPr>
              <a:t>総合</a:t>
            </a:r>
          </a:p>
        </p:txBody>
      </p:sp>
      <p:sp>
        <p:nvSpPr>
          <p:cNvPr id="12" name="Shape 12"/>
          <p:cNvSpPr txBox="1"/>
          <p:nvPr/>
        </p:nvSpPr>
        <p:spPr>
          <a:xfrm>
            <a:off x="882650" y="260350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物件</a:t>
            </a:r>
          </a:p>
        </p:txBody>
      </p:sp>
      <p:sp>
        <p:nvSpPr>
          <p:cNvPr id="13" name="Shape 13"/>
          <p:cNvSpPr txBox="1"/>
          <p:nvPr/>
        </p:nvSpPr>
        <p:spPr>
          <a:xfrm>
            <a:off x="882650" y="300355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契約</a:t>
            </a:r>
          </a:p>
        </p:txBody>
      </p:sp>
      <p:sp>
        <p:nvSpPr>
          <p:cNvPr id="14" name="Shape 14"/>
          <p:cNvSpPr txBox="1"/>
          <p:nvPr/>
        </p:nvSpPr>
        <p:spPr>
          <a:xfrm>
            <a:off x="882650" y="340360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修繕</a:t>
            </a:r>
          </a:p>
        </p:txBody>
      </p:sp>
      <p:sp>
        <p:nvSpPr>
          <p:cNvPr id="15" name="Shape 15"/>
          <p:cNvSpPr txBox="1"/>
          <p:nvPr/>
        </p:nvSpPr>
        <p:spPr>
          <a:xfrm>
            <a:off x="882650" y="380365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書類</a:t>
            </a:r>
          </a:p>
        </p:txBody>
      </p:sp>
      <p:sp>
        <p:nvSpPr>
          <p:cNvPr id="16" name="Shape 16"/>
          <p:cNvSpPr txBox="1"/>
          <p:nvPr/>
        </p:nvSpPr>
        <p:spPr>
          <a:xfrm>
            <a:off x="882650" y="4203700"/>
            <a:ext cx="1003300" cy="279400"/>
          </a:xfrm>
          <a:prstGeom prst="roundRect">
            <a:avLst/>
          </a:prstGeom>
          <a:solidFill>
            <a:srgbClr val="2d2f36"/>
          </a:solidFill>
          <a:ln w="6350">
            <a:solidFill>
              <a:srgbClr val="2d2f36"/>
            </a:solidFill>
          </a:ln>
        </p:spPr>
        <p:txBody>
          <a:bodyPr wrap="square" anchor="ctr" lIns="76200" tIns="76200" rIns="76200" bIns="76200"/>
          <a:lstStyle/>
          <a:p>
            <a:pPr algn="c"/>
            <a:r>
              <a:rPr lang="ja-JP" sz="1500" b="1">
                <a:solidFill>
                  <a:srgbClr val="ffffff"/>
                </a:solidFill>
                <a:latin typeface="Yu Gothic"/>
                <a:ea typeface="Yu Gothic"/>
              </a:rPr>
              <a:t>検索</a:t>
            </a:r>
          </a:p>
        </p:txBody>
      </p:sp>
      <p:sp>
        <p:nvSpPr>
          <p:cNvPr id="17" name="Shape 17"/>
          <p:cNvSpPr txBox="1"/>
          <p:nvPr/>
        </p:nvSpPr>
        <p:spPr>
          <a:xfrm>
            <a:off x="933450" y="4781550"/>
            <a:ext cx="838200" cy="19050"/>
          </a:xfrm>
          <a:prstGeom prst="rect">
            <a:avLst/>
          </a:prstGeom>
          <a:solidFill>
            <a:srgbClr val="4c4c53"/>
          </a:solidFill>
          <a:ln w="6350">
            <a:solidFill>
              <a:srgbClr val="4c4c53"/>
            </a:solidFill>
          </a:ln>
        </p:spPr>
      </p:sp>
      <p:sp>
        <p:nvSpPr>
          <p:cNvPr id="18" name="Shape 18"/>
          <p:cNvSpPr txBox="1"/>
          <p:nvPr/>
        </p:nvSpPr>
        <p:spPr>
          <a:xfrm>
            <a:off x="958850" y="4959350"/>
            <a:ext cx="215900" cy="215900"/>
          </a:xfrm>
          <a:prstGeom prst="ellipse">
            <a:avLst/>
          </a:prstGeom>
          <a:solidFill>
            <a:srgbClr val="f1f1f1"/>
          </a:solidFill>
          <a:ln w="6350">
            <a:solidFill>
              <a:srgbClr val="f1f1f1"/>
            </a:solidFill>
          </a:ln>
        </p:spPr>
      </p:sp>
      <p:sp>
        <p:nvSpPr>
          <p:cNvPr id="19" name="Text 19"/>
          <p:cNvSpPr txBox="1"/>
          <p:nvPr/>
        </p:nvSpPr>
        <p:spPr>
          <a:xfrm>
            <a:off x="1276350" y="4984750"/>
            <a:ext cx="508000" cy="139700"/>
          </a:xfrm>
          <a:prstGeom prst="rect">
            <a:avLst/>
          </a:prstGeom>
          <a:noFill/>
          <a:ln>
            <a:noFill/>
          </a:ln>
        </p:spPr>
        <p:txBody>
          <a:bodyPr wrap="square" anchor="t" lIns="12700" tIns="12700" rIns="12700" bIns="12700"/>
          <a:lstStyle/>
          <a:p>
            <a:pPr algn="l"/>
            <a:r>
              <a:rPr lang="ja-JP" sz="1300">
                <a:solidFill>
                  <a:srgbClr val="d0d0d0"/>
                </a:solidFill>
                <a:latin typeface="Yu Gothic"/>
                <a:ea typeface="Yu Gothic"/>
              </a:rPr>
              <a:t>設定</a:t>
            </a:r>
          </a:p>
        </p:txBody>
      </p:sp>
      <p:sp>
        <p:nvSpPr>
          <p:cNvPr id="20" name="Shape 20"/>
          <p:cNvSpPr txBox="1"/>
          <p:nvPr/>
        </p:nvSpPr>
        <p:spPr>
          <a:xfrm>
            <a:off x="2305050" y="2241550"/>
            <a:ext cx="546100" cy="685800"/>
          </a:xfrm>
          <a:prstGeom prst="roundRect">
            <a:avLst/>
          </a:prstGeom>
          <a:solidFill>
            <a:srgbClr val="ffffff"/>
          </a:solidFill>
          <a:ln w="6350">
            <a:solidFill>
              <a:srgbClr val="dedede"/>
            </a:solidFill>
          </a:ln>
        </p:spPr>
      </p:sp>
      <p:sp>
        <p:nvSpPr>
          <p:cNvPr id="21" name="Text 21"/>
          <p:cNvSpPr txBox="1"/>
          <p:nvPr/>
        </p:nvSpPr>
        <p:spPr>
          <a:xfrm>
            <a:off x="2406650" y="2355850"/>
            <a:ext cx="342900" cy="139700"/>
          </a:xfrm>
          <a:prstGeom prst="rect">
            <a:avLst/>
          </a:prstGeom>
          <a:noFill/>
          <a:ln>
            <a:noFill/>
          </a:ln>
        </p:spPr>
        <p:txBody>
          <a:bodyPr wrap="square" anchor="t" lIns="12700" tIns="12700" rIns="12700" bIns="12700"/>
          <a:lstStyle/>
          <a:p>
            <a:pPr algn="l"/>
            <a:r>
              <a:rPr lang="ja-JP" sz="1300" b="1">
                <a:solidFill>
                  <a:srgbClr val="666666"/>
                </a:solidFill>
                <a:latin typeface="Yu Gothic"/>
                <a:ea typeface="Yu Gothic"/>
              </a:rPr>
              <a:t>本日期限</a:t>
            </a:r>
          </a:p>
        </p:txBody>
      </p:sp>
      <p:sp>
        <p:nvSpPr>
          <p:cNvPr id="22" name="Text 22"/>
          <p:cNvSpPr txBox="1"/>
          <p:nvPr/>
        </p:nvSpPr>
        <p:spPr>
          <a:xfrm>
            <a:off x="2432050" y="2546350"/>
            <a:ext cx="444500" cy="266700"/>
          </a:xfrm>
          <a:prstGeom prst="rect">
            <a:avLst/>
          </a:prstGeom>
          <a:noFill/>
          <a:ln>
            <a:noFill/>
          </a:ln>
        </p:spPr>
        <p:txBody>
          <a:bodyPr wrap="square" anchor="t" lIns="12700" tIns="12700" rIns="12700" bIns="12700"/>
          <a:lstStyle/>
          <a:p>
            <a:pPr algn="l"/>
            <a:r>
              <a:rPr lang="ja-JP" sz="3100" b="1">
                <a:solidFill>
                  <a:srgbClr val="111111"/>
                </a:solidFill>
                <a:latin typeface="Yu Gothic"/>
                <a:ea typeface="Yu Gothic"/>
              </a:rPr>
              <a:t>12</a:t>
            </a:r>
          </a:p>
        </p:txBody>
      </p:sp>
      <p:sp>
        <p:nvSpPr>
          <p:cNvPr id="23" name="Shape 23"/>
          <p:cNvSpPr txBox="1"/>
          <p:nvPr/>
        </p:nvSpPr>
        <p:spPr>
          <a:xfrm>
            <a:off x="2305050" y="2749550"/>
            <a:ext cx="393700" cy="25400"/>
          </a:xfrm>
          <a:prstGeom prst="rect">
            <a:avLst/>
          </a:prstGeom>
          <a:solidFill>
            <a:srgbClr val="c9c9c9"/>
          </a:solidFill>
          <a:ln>
            <a:noFill/>
          </a:ln>
        </p:spPr>
      </p:sp>
      <p:sp>
        <p:nvSpPr>
          <p:cNvPr id="24" name="Shape 24"/>
          <p:cNvSpPr txBox="1"/>
          <p:nvPr/>
        </p:nvSpPr>
        <p:spPr>
          <a:xfrm>
            <a:off x="2933700" y="2241550"/>
            <a:ext cx="546100" cy="685800"/>
          </a:xfrm>
          <a:prstGeom prst="roundRect">
            <a:avLst/>
          </a:prstGeom>
          <a:solidFill>
            <a:srgbClr val="ffffff"/>
          </a:solidFill>
          <a:ln w="6350">
            <a:solidFill>
              <a:srgbClr val="dedede"/>
            </a:solidFill>
          </a:ln>
        </p:spPr>
      </p:sp>
      <p:sp>
        <p:nvSpPr>
          <p:cNvPr id="25" name="Text 25"/>
          <p:cNvSpPr txBox="1"/>
          <p:nvPr/>
        </p:nvSpPr>
        <p:spPr>
          <a:xfrm>
            <a:off x="3035300" y="2355850"/>
            <a:ext cx="342900" cy="139700"/>
          </a:xfrm>
          <a:prstGeom prst="rect">
            <a:avLst/>
          </a:prstGeom>
          <a:noFill/>
          <a:ln>
            <a:noFill/>
          </a:ln>
        </p:spPr>
        <p:txBody>
          <a:bodyPr wrap="square" anchor="t" lIns="12700" tIns="12700" rIns="12700" bIns="12700"/>
          <a:lstStyle/>
          <a:p>
            <a:pPr algn="l"/>
            <a:r>
              <a:rPr lang="ja-JP" sz="1300" b="1">
                <a:solidFill>
                  <a:srgbClr val="666666"/>
                </a:solidFill>
                <a:latin typeface="Yu Gothic"/>
                <a:ea typeface="Yu Gothic"/>
              </a:rPr>
              <a:t>要確認</a:t>
            </a:r>
          </a:p>
        </p:txBody>
      </p:sp>
      <p:sp>
        <p:nvSpPr>
          <p:cNvPr id="26" name="Text 26"/>
          <p:cNvSpPr txBox="1"/>
          <p:nvPr/>
        </p:nvSpPr>
        <p:spPr>
          <a:xfrm>
            <a:off x="3060700" y="2546350"/>
            <a:ext cx="444500" cy="266700"/>
          </a:xfrm>
          <a:prstGeom prst="rect">
            <a:avLst/>
          </a:prstGeom>
          <a:noFill/>
          <a:ln>
            <a:noFill/>
          </a:ln>
        </p:spPr>
        <p:txBody>
          <a:bodyPr wrap="square" anchor="t" lIns="12700" tIns="12700" rIns="12700" bIns="12700"/>
          <a:lstStyle/>
          <a:p>
            <a:pPr algn="l"/>
            <a:r>
              <a:rPr lang="ja-JP" sz="3100" b="1">
                <a:solidFill>
                  <a:srgbClr val="111111"/>
                </a:solidFill>
                <a:latin typeface="Yu Gothic"/>
                <a:ea typeface="Yu Gothic"/>
              </a:rPr>
              <a:t>7</a:t>
            </a:r>
          </a:p>
        </p:txBody>
      </p:sp>
      <p:sp>
        <p:nvSpPr>
          <p:cNvPr id="27" name="Shape 27"/>
          <p:cNvSpPr txBox="1"/>
          <p:nvPr/>
        </p:nvSpPr>
        <p:spPr>
          <a:xfrm>
            <a:off x="2933700" y="2749550"/>
            <a:ext cx="393700" cy="25400"/>
          </a:xfrm>
          <a:prstGeom prst="rect">
            <a:avLst/>
          </a:prstGeom>
          <a:solidFill>
            <a:srgbClr val="c9c9c9"/>
          </a:solidFill>
          <a:ln>
            <a:noFill/>
          </a:ln>
        </p:spPr>
      </p:sp>
      <p:sp>
        <p:nvSpPr>
          <p:cNvPr id="28" name="Shape 28"/>
          <p:cNvSpPr txBox="1"/>
          <p:nvPr/>
        </p:nvSpPr>
        <p:spPr>
          <a:xfrm>
            <a:off x="3562350" y="2241550"/>
            <a:ext cx="546100" cy="685800"/>
          </a:xfrm>
          <a:prstGeom prst="roundRect">
            <a:avLst/>
          </a:prstGeom>
          <a:solidFill>
            <a:srgbClr val="ffffff"/>
          </a:solidFill>
          <a:ln w="6350">
            <a:solidFill>
              <a:srgbClr val="dedede"/>
            </a:solidFill>
          </a:ln>
        </p:spPr>
      </p:sp>
      <p:sp>
        <p:nvSpPr>
          <p:cNvPr id="29" name="Text 29"/>
          <p:cNvSpPr txBox="1"/>
          <p:nvPr/>
        </p:nvSpPr>
        <p:spPr>
          <a:xfrm>
            <a:off x="3663950" y="2355850"/>
            <a:ext cx="342900" cy="139700"/>
          </a:xfrm>
          <a:prstGeom prst="rect">
            <a:avLst/>
          </a:prstGeom>
          <a:noFill/>
          <a:ln>
            <a:noFill/>
          </a:ln>
        </p:spPr>
        <p:txBody>
          <a:bodyPr wrap="square" anchor="t" lIns="12700" tIns="12700" rIns="12700" bIns="12700"/>
          <a:lstStyle/>
          <a:p>
            <a:pPr algn="l"/>
            <a:r>
              <a:rPr lang="ja-JP" sz="1300" b="1">
                <a:solidFill>
                  <a:srgbClr val="666666"/>
                </a:solidFill>
                <a:latin typeface="Yu Gothic"/>
                <a:ea typeface="Yu Gothic"/>
              </a:rPr>
              <a:t>遅延リスク</a:t>
            </a:r>
          </a:p>
        </p:txBody>
      </p:sp>
      <p:sp>
        <p:nvSpPr>
          <p:cNvPr id="30" name="Text 30"/>
          <p:cNvSpPr txBox="1"/>
          <p:nvPr/>
        </p:nvSpPr>
        <p:spPr>
          <a:xfrm>
            <a:off x="3689350" y="2546350"/>
            <a:ext cx="444500" cy="266700"/>
          </a:xfrm>
          <a:prstGeom prst="rect">
            <a:avLst/>
          </a:prstGeom>
          <a:noFill/>
          <a:ln>
            <a:noFill/>
          </a:ln>
        </p:spPr>
        <p:txBody>
          <a:bodyPr wrap="square" anchor="t" lIns="12700" tIns="12700" rIns="12700" bIns="12700"/>
          <a:lstStyle/>
          <a:p>
            <a:pPr algn="l"/>
            <a:r>
              <a:rPr lang="ja-JP" sz="3100" b="1">
                <a:solidFill>
                  <a:srgbClr val="ff1818"/>
                </a:solidFill>
                <a:latin typeface="Yu Gothic"/>
                <a:ea typeface="Yu Gothic"/>
              </a:rPr>
              <a:t>3</a:t>
            </a:r>
          </a:p>
        </p:txBody>
      </p:sp>
      <p:sp>
        <p:nvSpPr>
          <p:cNvPr id="31" name="Shape 31"/>
          <p:cNvSpPr txBox="1"/>
          <p:nvPr/>
        </p:nvSpPr>
        <p:spPr>
          <a:xfrm>
            <a:off x="3562350" y="2749550"/>
            <a:ext cx="393700" cy="25400"/>
          </a:xfrm>
          <a:prstGeom prst="rect">
            <a:avLst/>
          </a:prstGeom>
          <a:solidFill>
            <a:srgbClr val="ff1818"/>
          </a:solidFill>
          <a:ln>
            <a:noFill/>
          </a:ln>
        </p:spPr>
      </p:sp>
      <p:sp>
        <p:nvSpPr>
          <p:cNvPr id="32" name="Shape 32"/>
          <p:cNvSpPr txBox="1"/>
          <p:nvPr/>
        </p:nvSpPr>
        <p:spPr>
          <a:xfrm>
            <a:off x="4191000" y="2241550"/>
            <a:ext cx="546100" cy="685800"/>
          </a:xfrm>
          <a:prstGeom prst="roundRect">
            <a:avLst/>
          </a:prstGeom>
          <a:solidFill>
            <a:srgbClr val="ffffff"/>
          </a:solidFill>
          <a:ln w="6350">
            <a:solidFill>
              <a:srgbClr val="dedede"/>
            </a:solidFill>
          </a:ln>
        </p:spPr>
      </p:sp>
      <p:sp>
        <p:nvSpPr>
          <p:cNvPr id="33" name="Text 33"/>
          <p:cNvSpPr txBox="1"/>
          <p:nvPr/>
        </p:nvSpPr>
        <p:spPr>
          <a:xfrm>
            <a:off x="4292600" y="2355850"/>
            <a:ext cx="342900" cy="139700"/>
          </a:xfrm>
          <a:prstGeom prst="rect">
            <a:avLst/>
          </a:prstGeom>
          <a:noFill/>
          <a:ln>
            <a:noFill/>
          </a:ln>
        </p:spPr>
        <p:txBody>
          <a:bodyPr wrap="square" anchor="t" lIns="12700" tIns="12700" rIns="12700" bIns="12700"/>
          <a:lstStyle/>
          <a:p>
            <a:pPr algn="l"/>
            <a:r>
              <a:rPr lang="ja-JP" sz="1300" b="1">
                <a:solidFill>
                  <a:srgbClr val="666666"/>
                </a:solidFill>
                <a:latin typeface="Yu Gothic"/>
                <a:ea typeface="Yu Gothic"/>
              </a:rPr>
              <a:t>完了</a:t>
            </a:r>
          </a:p>
        </p:txBody>
      </p:sp>
      <p:sp>
        <p:nvSpPr>
          <p:cNvPr id="34" name="Text 34"/>
          <p:cNvSpPr txBox="1"/>
          <p:nvPr/>
        </p:nvSpPr>
        <p:spPr>
          <a:xfrm>
            <a:off x="4318000" y="2546350"/>
            <a:ext cx="444500" cy="266700"/>
          </a:xfrm>
          <a:prstGeom prst="rect">
            <a:avLst/>
          </a:prstGeom>
          <a:noFill/>
          <a:ln>
            <a:noFill/>
          </a:ln>
        </p:spPr>
        <p:txBody>
          <a:bodyPr wrap="square" anchor="t" lIns="12700" tIns="12700" rIns="12700" bIns="12700"/>
          <a:lstStyle/>
          <a:p>
            <a:pPr algn="l"/>
            <a:r>
              <a:rPr lang="ja-JP" sz="3100" b="1">
                <a:solidFill>
                  <a:srgbClr val="111111"/>
                </a:solidFill>
                <a:latin typeface="Yu Gothic"/>
                <a:ea typeface="Yu Gothic"/>
              </a:rPr>
              <a:t>28</a:t>
            </a:r>
          </a:p>
        </p:txBody>
      </p:sp>
      <p:sp>
        <p:nvSpPr>
          <p:cNvPr id="35" name="Shape 35"/>
          <p:cNvSpPr txBox="1"/>
          <p:nvPr/>
        </p:nvSpPr>
        <p:spPr>
          <a:xfrm>
            <a:off x="4191000" y="2749550"/>
            <a:ext cx="393700" cy="25400"/>
          </a:xfrm>
          <a:prstGeom prst="rect">
            <a:avLst/>
          </a:prstGeom>
          <a:solidFill>
            <a:srgbClr val="c9c9c9"/>
          </a:solidFill>
          <a:ln>
            <a:noFill/>
          </a:ln>
        </p:spPr>
      </p:sp>
      <p:sp>
        <p:nvSpPr>
          <p:cNvPr id="36" name="Shape 36"/>
          <p:cNvSpPr txBox="1"/>
          <p:nvPr/>
        </p:nvSpPr>
        <p:spPr>
          <a:xfrm>
            <a:off x="4819650" y="2241550"/>
            <a:ext cx="546100" cy="685800"/>
          </a:xfrm>
          <a:prstGeom prst="roundRect">
            <a:avLst/>
          </a:prstGeom>
          <a:solidFill>
            <a:srgbClr val="ffffff"/>
          </a:solidFill>
          <a:ln w="6350">
            <a:solidFill>
              <a:srgbClr val="dedede"/>
            </a:solidFill>
          </a:ln>
        </p:spPr>
      </p:sp>
      <p:sp>
        <p:nvSpPr>
          <p:cNvPr id="37" name="Text 37"/>
          <p:cNvSpPr txBox="1"/>
          <p:nvPr/>
        </p:nvSpPr>
        <p:spPr>
          <a:xfrm>
            <a:off x="4921250" y="2355850"/>
            <a:ext cx="342900" cy="139700"/>
          </a:xfrm>
          <a:prstGeom prst="rect">
            <a:avLst/>
          </a:prstGeom>
          <a:noFill/>
          <a:ln>
            <a:noFill/>
          </a:ln>
        </p:spPr>
        <p:txBody>
          <a:bodyPr wrap="square" anchor="t" lIns="12700" tIns="12700" rIns="12700" bIns="12700"/>
          <a:lstStyle/>
          <a:p>
            <a:pPr algn="l"/>
            <a:r>
              <a:rPr lang="ja-JP" sz="1300" b="1">
                <a:solidFill>
                  <a:srgbClr val="666666"/>
                </a:solidFill>
                <a:latin typeface="Yu Gothic"/>
                <a:ea typeface="Yu Gothic"/>
              </a:rPr>
              <a:t>未割当</a:t>
            </a:r>
          </a:p>
        </p:txBody>
      </p:sp>
      <p:sp>
        <p:nvSpPr>
          <p:cNvPr id="38" name="Text 38"/>
          <p:cNvSpPr txBox="1"/>
          <p:nvPr/>
        </p:nvSpPr>
        <p:spPr>
          <a:xfrm>
            <a:off x="4946650" y="2546350"/>
            <a:ext cx="444500" cy="266700"/>
          </a:xfrm>
          <a:prstGeom prst="rect">
            <a:avLst/>
          </a:prstGeom>
          <a:noFill/>
          <a:ln>
            <a:noFill/>
          </a:ln>
        </p:spPr>
        <p:txBody>
          <a:bodyPr wrap="square" anchor="t" lIns="12700" tIns="12700" rIns="12700" bIns="12700"/>
          <a:lstStyle/>
          <a:p>
            <a:pPr algn="l"/>
            <a:r>
              <a:rPr lang="ja-JP" sz="3100" b="1">
                <a:solidFill>
                  <a:srgbClr val="111111"/>
                </a:solidFill>
                <a:latin typeface="Yu Gothic"/>
                <a:ea typeface="Yu Gothic"/>
              </a:rPr>
              <a:t>4</a:t>
            </a:r>
          </a:p>
        </p:txBody>
      </p:sp>
      <p:sp>
        <p:nvSpPr>
          <p:cNvPr id="39" name="Shape 39"/>
          <p:cNvSpPr txBox="1"/>
          <p:nvPr/>
        </p:nvSpPr>
        <p:spPr>
          <a:xfrm>
            <a:off x="4819650" y="2749550"/>
            <a:ext cx="393700" cy="25400"/>
          </a:xfrm>
          <a:prstGeom prst="rect">
            <a:avLst/>
          </a:prstGeom>
          <a:solidFill>
            <a:srgbClr val="c9c9c9"/>
          </a:solidFill>
          <a:ln>
            <a:noFill/>
          </a:ln>
        </p:spPr>
      </p:sp>
      <p:sp>
        <p:nvSpPr>
          <p:cNvPr id="40" name="Shape 40"/>
          <p:cNvSpPr txBox="1"/>
          <p:nvPr/>
        </p:nvSpPr>
        <p:spPr>
          <a:xfrm>
            <a:off x="2305050" y="3067050"/>
            <a:ext cx="533400" cy="1873250"/>
          </a:xfrm>
          <a:prstGeom prst="roundRect">
            <a:avLst/>
          </a:prstGeom>
          <a:solidFill>
            <a:srgbClr val="f8f8f8"/>
          </a:solidFill>
          <a:ln w="6350">
            <a:solidFill>
              <a:srgbClr val="dedede"/>
            </a:solidFill>
          </a:ln>
        </p:spPr>
      </p:sp>
      <p:sp>
        <p:nvSpPr>
          <p:cNvPr id="41" name="Text 41"/>
          <p:cNvSpPr txBox="1"/>
          <p:nvPr/>
        </p:nvSpPr>
        <p:spPr>
          <a:xfrm>
            <a:off x="2419350" y="3194050"/>
            <a:ext cx="76200" cy="15875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退去精算</a:t>
            </a:r>
          </a:p>
        </p:txBody>
      </p:sp>
      <p:sp>
        <p:nvSpPr>
          <p:cNvPr id="42" name="Shape 42"/>
          <p:cNvSpPr txBox="1"/>
          <p:nvPr/>
        </p:nvSpPr>
        <p:spPr>
          <a:xfrm>
            <a:off x="2533650" y="3181350"/>
            <a:ext cx="203200" cy="165100"/>
          </a:xfrm>
          <a:prstGeom prst="roundRect">
            <a:avLst/>
          </a:prstGeom>
          <a:solidFill>
            <a:srgbClr val="b9bcc2"/>
          </a:solidFill>
          <a:ln w="6350">
            <a:solidFill>
              <a:srgbClr val="b9bcc2"/>
            </a:solidFill>
          </a:ln>
        </p:spPr>
      </p:sp>
      <p:sp>
        <p:nvSpPr>
          <p:cNvPr id="43" name="Shape 43"/>
          <p:cNvSpPr txBox="1"/>
          <p:nvPr/>
        </p:nvSpPr>
        <p:spPr>
          <a:xfrm>
            <a:off x="2406650" y="3448050"/>
            <a:ext cx="330200" cy="368300"/>
          </a:xfrm>
          <a:prstGeom prst="roundRect">
            <a:avLst/>
          </a:prstGeom>
          <a:solidFill>
            <a:srgbClr val="ffffff"/>
          </a:solidFill>
          <a:ln w="6350">
            <a:solidFill>
              <a:srgbClr val="dedede"/>
            </a:solidFill>
          </a:ln>
        </p:spPr>
      </p:sp>
      <p:sp>
        <p:nvSpPr>
          <p:cNvPr id="44" name="Shape 44"/>
          <p:cNvSpPr txBox="1"/>
          <p:nvPr/>
        </p:nvSpPr>
        <p:spPr>
          <a:xfrm>
            <a:off x="2406650" y="3448050"/>
            <a:ext cx="44450" cy="368300"/>
          </a:xfrm>
          <a:prstGeom prst="rect">
            <a:avLst/>
          </a:prstGeom>
          <a:solidFill>
            <a:srgbClr val="ff1818"/>
          </a:solidFill>
          <a:ln>
            <a:noFill/>
          </a:ln>
        </p:spPr>
      </p:sp>
      <p:sp>
        <p:nvSpPr>
          <p:cNvPr id="45" name="Text 45"/>
          <p:cNvSpPr txBox="1"/>
          <p:nvPr/>
        </p:nvSpPr>
        <p:spPr>
          <a:xfrm>
            <a:off x="2546350" y="3511550"/>
            <a:ext cx="254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1-1</a:t>
            </a:r>
          </a:p>
        </p:txBody>
      </p:sp>
      <p:sp>
        <p:nvSpPr>
          <p:cNvPr id="46" name="Text 46"/>
          <p:cNvSpPr txBox="1"/>
          <p:nvPr/>
        </p:nvSpPr>
        <p:spPr>
          <a:xfrm>
            <a:off x="2546350" y="3657600"/>
            <a:ext cx="254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47" name="Shape 47"/>
          <p:cNvSpPr txBox="1"/>
          <p:nvPr/>
        </p:nvSpPr>
        <p:spPr>
          <a:xfrm>
            <a:off x="2406650" y="3930650"/>
            <a:ext cx="330200" cy="368300"/>
          </a:xfrm>
          <a:prstGeom prst="roundRect">
            <a:avLst/>
          </a:prstGeom>
          <a:solidFill>
            <a:srgbClr val="ffffff"/>
          </a:solidFill>
          <a:ln w="6350">
            <a:solidFill>
              <a:srgbClr val="dedede"/>
            </a:solidFill>
          </a:ln>
        </p:spPr>
      </p:sp>
      <p:sp>
        <p:nvSpPr>
          <p:cNvPr id="48" name="Shape 48"/>
          <p:cNvSpPr txBox="1"/>
          <p:nvPr/>
        </p:nvSpPr>
        <p:spPr>
          <a:xfrm>
            <a:off x="2406650" y="3930650"/>
            <a:ext cx="44450" cy="368300"/>
          </a:xfrm>
          <a:prstGeom prst="rect">
            <a:avLst/>
          </a:prstGeom>
          <a:solidFill>
            <a:srgbClr val="bfbfbf"/>
          </a:solidFill>
          <a:ln>
            <a:noFill/>
          </a:ln>
        </p:spPr>
      </p:sp>
      <p:sp>
        <p:nvSpPr>
          <p:cNvPr id="49" name="Text 49"/>
          <p:cNvSpPr txBox="1"/>
          <p:nvPr/>
        </p:nvSpPr>
        <p:spPr>
          <a:xfrm>
            <a:off x="2546350" y="3994150"/>
            <a:ext cx="254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1-2</a:t>
            </a:r>
          </a:p>
        </p:txBody>
      </p:sp>
      <p:sp>
        <p:nvSpPr>
          <p:cNvPr id="50" name="Text 50"/>
          <p:cNvSpPr txBox="1"/>
          <p:nvPr/>
        </p:nvSpPr>
        <p:spPr>
          <a:xfrm>
            <a:off x="2546350" y="4140200"/>
            <a:ext cx="254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51" name="Shape 51"/>
          <p:cNvSpPr txBox="1"/>
          <p:nvPr/>
        </p:nvSpPr>
        <p:spPr>
          <a:xfrm>
            <a:off x="2406650" y="4413250"/>
            <a:ext cx="330200" cy="368300"/>
          </a:xfrm>
          <a:prstGeom prst="roundRect">
            <a:avLst/>
          </a:prstGeom>
          <a:solidFill>
            <a:srgbClr val="ffffff"/>
          </a:solidFill>
          <a:ln w="6350">
            <a:solidFill>
              <a:srgbClr val="dedede"/>
            </a:solidFill>
          </a:ln>
        </p:spPr>
      </p:sp>
      <p:sp>
        <p:nvSpPr>
          <p:cNvPr id="52" name="Shape 52"/>
          <p:cNvSpPr txBox="1"/>
          <p:nvPr/>
        </p:nvSpPr>
        <p:spPr>
          <a:xfrm>
            <a:off x="2406650" y="4413250"/>
            <a:ext cx="44450" cy="368300"/>
          </a:xfrm>
          <a:prstGeom prst="rect">
            <a:avLst/>
          </a:prstGeom>
          <a:solidFill>
            <a:srgbClr val="bfbfbf"/>
          </a:solidFill>
          <a:ln>
            <a:noFill/>
          </a:ln>
        </p:spPr>
      </p:sp>
      <p:sp>
        <p:nvSpPr>
          <p:cNvPr id="53" name="Text 53"/>
          <p:cNvSpPr txBox="1"/>
          <p:nvPr/>
        </p:nvSpPr>
        <p:spPr>
          <a:xfrm>
            <a:off x="2546350" y="4476750"/>
            <a:ext cx="254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1-3</a:t>
            </a:r>
          </a:p>
        </p:txBody>
      </p:sp>
      <p:sp>
        <p:nvSpPr>
          <p:cNvPr id="54" name="Text 54"/>
          <p:cNvSpPr txBox="1"/>
          <p:nvPr/>
        </p:nvSpPr>
        <p:spPr>
          <a:xfrm>
            <a:off x="2546350" y="4622800"/>
            <a:ext cx="254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55" name="Shape 55"/>
          <p:cNvSpPr txBox="1"/>
          <p:nvPr/>
        </p:nvSpPr>
        <p:spPr>
          <a:xfrm>
            <a:off x="2940050" y="3067050"/>
            <a:ext cx="533400" cy="1873250"/>
          </a:xfrm>
          <a:prstGeom prst="roundRect">
            <a:avLst/>
          </a:prstGeom>
          <a:solidFill>
            <a:srgbClr val="f8f8f8"/>
          </a:solidFill>
          <a:ln w="6350">
            <a:solidFill>
              <a:srgbClr val="dedede"/>
            </a:solidFill>
          </a:ln>
        </p:spPr>
      </p:sp>
      <p:sp>
        <p:nvSpPr>
          <p:cNvPr id="56" name="Text 56"/>
          <p:cNvSpPr txBox="1"/>
          <p:nvPr/>
        </p:nvSpPr>
        <p:spPr>
          <a:xfrm>
            <a:off x="3054350" y="3194050"/>
            <a:ext cx="76200" cy="15875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修繕対応</a:t>
            </a:r>
          </a:p>
        </p:txBody>
      </p:sp>
      <p:sp>
        <p:nvSpPr>
          <p:cNvPr id="57" name="Shape 57"/>
          <p:cNvSpPr txBox="1"/>
          <p:nvPr/>
        </p:nvSpPr>
        <p:spPr>
          <a:xfrm>
            <a:off x="3168650" y="3181350"/>
            <a:ext cx="203200" cy="165100"/>
          </a:xfrm>
          <a:prstGeom prst="roundRect">
            <a:avLst/>
          </a:prstGeom>
          <a:solidFill>
            <a:srgbClr val="b9bcc2"/>
          </a:solidFill>
          <a:ln w="6350">
            <a:solidFill>
              <a:srgbClr val="b9bcc2"/>
            </a:solidFill>
          </a:ln>
        </p:spPr>
      </p:sp>
      <p:sp>
        <p:nvSpPr>
          <p:cNvPr id="58" name="Shape 58"/>
          <p:cNvSpPr txBox="1"/>
          <p:nvPr/>
        </p:nvSpPr>
        <p:spPr>
          <a:xfrm>
            <a:off x="3041650" y="3448050"/>
            <a:ext cx="330200" cy="368300"/>
          </a:xfrm>
          <a:prstGeom prst="roundRect">
            <a:avLst/>
          </a:prstGeom>
          <a:solidFill>
            <a:srgbClr val="ffffff"/>
          </a:solidFill>
          <a:ln w="6350">
            <a:solidFill>
              <a:srgbClr val="dedede"/>
            </a:solidFill>
          </a:ln>
        </p:spPr>
      </p:sp>
      <p:sp>
        <p:nvSpPr>
          <p:cNvPr id="59" name="Shape 59"/>
          <p:cNvSpPr txBox="1"/>
          <p:nvPr/>
        </p:nvSpPr>
        <p:spPr>
          <a:xfrm>
            <a:off x="3041650" y="3448050"/>
            <a:ext cx="44450" cy="368300"/>
          </a:xfrm>
          <a:prstGeom prst="rect">
            <a:avLst/>
          </a:prstGeom>
          <a:solidFill>
            <a:srgbClr val="ff1818"/>
          </a:solidFill>
          <a:ln>
            <a:noFill/>
          </a:ln>
        </p:spPr>
      </p:sp>
      <p:sp>
        <p:nvSpPr>
          <p:cNvPr id="60" name="Text 60"/>
          <p:cNvSpPr txBox="1"/>
          <p:nvPr/>
        </p:nvSpPr>
        <p:spPr>
          <a:xfrm>
            <a:off x="3181350" y="3511550"/>
            <a:ext cx="254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2-1</a:t>
            </a:r>
          </a:p>
        </p:txBody>
      </p:sp>
      <p:sp>
        <p:nvSpPr>
          <p:cNvPr id="61" name="Text 61"/>
          <p:cNvSpPr txBox="1"/>
          <p:nvPr/>
        </p:nvSpPr>
        <p:spPr>
          <a:xfrm>
            <a:off x="3181350" y="3657600"/>
            <a:ext cx="254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62" name="Shape 62"/>
          <p:cNvSpPr txBox="1"/>
          <p:nvPr/>
        </p:nvSpPr>
        <p:spPr>
          <a:xfrm>
            <a:off x="3041650" y="3930650"/>
            <a:ext cx="330200" cy="368300"/>
          </a:xfrm>
          <a:prstGeom prst="roundRect">
            <a:avLst/>
          </a:prstGeom>
          <a:solidFill>
            <a:srgbClr val="ffffff"/>
          </a:solidFill>
          <a:ln w="6350">
            <a:solidFill>
              <a:srgbClr val="dedede"/>
            </a:solidFill>
          </a:ln>
        </p:spPr>
      </p:sp>
      <p:sp>
        <p:nvSpPr>
          <p:cNvPr id="63" name="Shape 63"/>
          <p:cNvSpPr txBox="1"/>
          <p:nvPr/>
        </p:nvSpPr>
        <p:spPr>
          <a:xfrm>
            <a:off x="3041650" y="3930650"/>
            <a:ext cx="44450" cy="368300"/>
          </a:xfrm>
          <a:prstGeom prst="rect">
            <a:avLst/>
          </a:prstGeom>
          <a:solidFill>
            <a:srgbClr val="bfbfbf"/>
          </a:solidFill>
          <a:ln>
            <a:noFill/>
          </a:ln>
        </p:spPr>
      </p:sp>
      <p:sp>
        <p:nvSpPr>
          <p:cNvPr id="64" name="Text 64"/>
          <p:cNvSpPr txBox="1"/>
          <p:nvPr/>
        </p:nvSpPr>
        <p:spPr>
          <a:xfrm>
            <a:off x="3181350" y="3994150"/>
            <a:ext cx="254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2-2</a:t>
            </a:r>
          </a:p>
        </p:txBody>
      </p:sp>
      <p:sp>
        <p:nvSpPr>
          <p:cNvPr id="65" name="Text 65"/>
          <p:cNvSpPr txBox="1"/>
          <p:nvPr/>
        </p:nvSpPr>
        <p:spPr>
          <a:xfrm>
            <a:off x="3181350" y="4140200"/>
            <a:ext cx="254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66" name="Shape 66"/>
          <p:cNvSpPr txBox="1"/>
          <p:nvPr/>
        </p:nvSpPr>
        <p:spPr>
          <a:xfrm>
            <a:off x="3041650" y="4413250"/>
            <a:ext cx="330200" cy="368300"/>
          </a:xfrm>
          <a:prstGeom prst="roundRect">
            <a:avLst/>
          </a:prstGeom>
          <a:solidFill>
            <a:srgbClr val="ffffff"/>
          </a:solidFill>
          <a:ln w="6350">
            <a:solidFill>
              <a:srgbClr val="dedede"/>
            </a:solidFill>
          </a:ln>
        </p:spPr>
      </p:sp>
      <p:sp>
        <p:nvSpPr>
          <p:cNvPr id="67" name="Shape 67"/>
          <p:cNvSpPr txBox="1"/>
          <p:nvPr/>
        </p:nvSpPr>
        <p:spPr>
          <a:xfrm>
            <a:off x="3041650" y="4413250"/>
            <a:ext cx="44450" cy="368300"/>
          </a:xfrm>
          <a:prstGeom prst="rect">
            <a:avLst/>
          </a:prstGeom>
          <a:solidFill>
            <a:srgbClr val="bfbfbf"/>
          </a:solidFill>
          <a:ln>
            <a:noFill/>
          </a:ln>
        </p:spPr>
      </p:sp>
      <p:sp>
        <p:nvSpPr>
          <p:cNvPr id="68" name="Text 68"/>
          <p:cNvSpPr txBox="1"/>
          <p:nvPr/>
        </p:nvSpPr>
        <p:spPr>
          <a:xfrm>
            <a:off x="3181350" y="4476750"/>
            <a:ext cx="254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2-3</a:t>
            </a:r>
          </a:p>
        </p:txBody>
      </p:sp>
      <p:sp>
        <p:nvSpPr>
          <p:cNvPr id="69" name="Text 69"/>
          <p:cNvSpPr txBox="1"/>
          <p:nvPr/>
        </p:nvSpPr>
        <p:spPr>
          <a:xfrm>
            <a:off x="3181350" y="4622800"/>
            <a:ext cx="254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70" name="Shape 70"/>
          <p:cNvSpPr txBox="1"/>
          <p:nvPr/>
        </p:nvSpPr>
        <p:spPr>
          <a:xfrm>
            <a:off x="3575050" y="3067050"/>
            <a:ext cx="533400" cy="1873250"/>
          </a:xfrm>
          <a:prstGeom prst="roundRect">
            <a:avLst/>
          </a:prstGeom>
          <a:solidFill>
            <a:srgbClr val="f8f8f8"/>
          </a:solidFill>
          <a:ln w="6350">
            <a:solidFill>
              <a:srgbClr val="dedede"/>
            </a:solidFill>
          </a:ln>
        </p:spPr>
      </p:sp>
      <p:sp>
        <p:nvSpPr>
          <p:cNvPr id="71" name="Text 71"/>
          <p:cNvSpPr txBox="1"/>
          <p:nvPr/>
        </p:nvSpPr>
        <p:spPr>
          <a:xfrm>
            <a:off x="3689350" y="3194050"/>
            <a:ext cx="76200" cy="15875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契約更新</a:t>
            </a:r>
          </a:p>
        </p:txBody>
      </p:sp>
      <p:sp>
        <p:nvSpPr>
          <p:cNvPr id="72" name="Shape 72"/>
          <p:cNvSpPr txBox="1"/>
          <p:nvPr/>
        </p:nvSpPr>
        <p:spPr>
          <a:xfrm>
            <a:off x="3803650" y="3181350"/>
            <a:ext cx="203200" cy="165100"/>
          </a:xfrm>
          <a:prstGeom prst="roundRect">
            <a:avLst/>
          </a:prstGeom>
          <a:solidFill>
            <a:srgbClr val="ff1818"/>
          </a:solidFill>
          <a:ln w="6350">
            <a:solidFill>
              <a:srgbClr val="ff1818"/>
            </a:solidFill>
          </a:ln>
        </p:spPr>
      </p:sp>
      <p:sp>
        <p:nvSpPr>
          <p:cNvPr id="73" name="Shape 73"/>
          <p:cNvSpPr txBox="1"/>
          <p:nvPr/>
        </p:nvSpPr>
        <p:spPr>
          <a:xfrm>
            <a:off x="3676650" y="3448050"/>
            <a:ext cx="330200" cy="368300"/>
          </a:xfrm>
          <a:prstGeom prst="roundRect">
            <a:avLst/>
          </a:prstGeom>
          <a:solidFill>
            <a:srgbClr val="ffffff"/>
          </a:solidFill>
          <a:ln w="6350">
            <a:solidFill>
              <a:srgbClr val="dedede"/>
            </a:solidFill>
          </a:ln>
        </p:spPr>
      </p:sp>
      <p:sp>
        <p:nvSpPr>
          <p:cNvPr id="74" name="Shape 74"/>
          <p:cNvSpPr txBox="1"/>
          <p:nvPr/>
        </p:nvSpPr>
        <p:spPr>
          <a:xfrm>
            <a:off x="3676650" y="3448050"/>
            <a:ext cx="44450" cy="368300"/>
          </a:xfrm>
          <a:prstGeom prst="rect">
            <a:avLst/>
          </a:prstGeom>
          <a:solidFill>
            <a:srgbClr val="ff1818"/>
          </a:solidFill>
          <a:ln>
            <a:noFill/>
          </a:ln>
        </p:spPr>
      </p:sp>
      <p:sp>
        <p:nvSpPr>
          <p:cNvPr id="75" name="Text 75"/>
          <p:cNvSpPr txBox="1"/>
          <p:nvPr/>
        </p:nvSpPr>
        <p:spPr>
          <a:xfrm>
            <a:off x="3816350" y="3511550"/>
            <a:ext cx="254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3-1</a:t>
            </a:r>
          </a:p>
        </p:txBody>
      </p:sp>
      <p:sp>
        <p:nvSpPr>
          <p:cNvPr id="76" name="Text 76"/>
          <p:cNvSpPr txBox="1"/>
          <p:nvPr/>
        </p:nvSpPr>
        <p:spPr>
          <a:xfrm>
            <a:off x="3816350" y="3657600"/>
            <a:ext cx="254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77" name="Shape 77"/>
          <p:cNvSpPr txBox="1"/>
          <p:nvPr/>
        </p:nvSpPr>
        <p:spPr>
          <a:xfrm>
            <a:off x="3676650" y="3930650"/>
            <a:ext cx="330200" cy="368300"/>
          </a:xfrm>
          <a:prstGeom prst="roundRect">
            <a:avLst/>
          </a:prstGeom>
          <a:solidFill>
            <a:srgbClr val="ffffff"/>
          </a:solidFill>
          <a:ln w="6350">
            <a:solidFill>
              <a:srgbClr val="dedede"/>
            </a:solidFill>
          </a:ln>
        </p:spPr>
      </p:sp>
      <p:sp>
        <p:nvSpPr>
          <p:cNvPr id="78" name="Shape 78"/>
          <p:cNvSpPr txBox="1"/>
          <p:nvPr/>
        </p:nvSpPr>
        <p:spPr>
          <a:xfrm>
            <a:off x="3676650" y="3930650"/>
            <a:ext cx="44450" cy="368300"/>
          </a:xfrm>
          <a:prstGeom prst="rect">
            <a:avLst/>
          </a:prstGeom>
          <a:solidFill>
            <a:srgbClr val="bfbfbf"/>
          </a:solidFill>
          <a:ln>
            <a:noFill/>
          </a:ln>
        </p:spPr>
      </p:sp>
      <p:sp>
        <p:nvSpPr>
          <p:cNvPr id="79" name="Text 79"/>
          <p:cNvSpPr txBox="1"/>
          <p:nvPr/>
        </p:nvSpPr>
        <p:spPr>
          <a:xfrm>
            <a:off x="3816350" y="3994150"/>
            <a:ext cx="254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3-2</a:t>
            </a:r>
          </a:p>
        </p:txBody>
      </p:sp>
      <p:sp>
        <p:nvSpPr>
          <p:cNvPr id="80" name="Text 80"/>
          <p:cNvSpPr txBox="1"/>
          <p:nvPr/>
        </p:nvSpPr>
        <p:spPr>
          <a:xfrm>
            <a:off x="3816350" y="4140200"/>
            <a:ext cx="254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81" name="Shape 81"/>
          <p:cNvSpPr txBox="1"/>
          <p:nvPr/>
        </p:nvSpPr>
        <p:spPr>
          <a:xfrm>
            <a:off x="3676650" y="4413250"/>
            <a:ext cx="330200" cy="368300"/>
          </a:xfrm>
          <a:prstGeom prst="roundRect">
            <a:avLst/>
          </a:prstGeom>
          <a:solidFill>
            <a:srgbClr val="ffffff"/>
          </a:solidFill>
          <a:ln w="6350">
            <a:solidFill>
              <a:srgbClr val="dedede"/>
            </a:solidFill>
          </a:ln>
        </p:spPr>
      </p:sp>
      <p:sp>
        <p:nvSpPr>
          <p:cNvPr id="82" name="Shape 82"/>
          <p:cNvSpPr txBox="1"/>
          <p:nvPr/>
        </p:nvSpPr>
        <p:spPr>
          <a:xfrm>
            <a:off x="3676650" y="4413250"/>
            <a:ext cx="44450" cy="368300"/>
          </a:xfrm>
          <a:prstGeom prst="rect">
            <a:avLst/>
          </a:prstGeom>
          <a:solidFill>
            <a:srgbClr val="bfbfbf"/>
          </a:solidFill>
          <a:ln>
            <a:noFill/>
          </a:ln>
        </p:spPr>
      </p:sp>
      <p:sp>
        <p:nvSpPr>
          <p:cNvPr id="83" name="Text 83"/>
          <p:cNvSpPr txBox="1"/>
          <p:nvPr/>
        </p:nvSpPr>
        <p:spPr>
          <a:xfrm>
            <a:off x="3816350" y="4476750"/>
            <a:ext cx="254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3-3</a:t>
            </a:r>
          </a:p>
        </p:txBody>
      </p:sp>
      <p:sp>
        <p:nvSpPr>
          <p:cNvPr id="84" name="Text 84"/>
          <p:cNvSpPr txBox="1"/>
          <p:nvPr/>
        </p:nvSpPr>
        <p:spPr>
          <a:xfrm>
            <a:off x="3816350" y="4622800"/>
            <a:ext cx="254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85" name="Shape 85"/>
          <p:cNvSpPr txBox="1"/>
          <p:nvPr/>
        </p:nvSpPr>
        <p:spPr>
          <a:xfrm>
            <a:off x="4210050" y="3067050"/>
            <a:ext cx="533400" cy="1873250"/>
          </a:xfrm>
          <a:prstGeom prst="roundRect">
            <a:avLst/>
          </a:prstGeom>
          <a:solidFill>
            <a:srgbClr val="f8f8f8"/>
          </a:solidFill>
          <a:ln w="6350">
            <a:solidFill>
              <a:srgbClr val="dedede"/>
            </a:solidFill>
          </a:ln>
        </p:spPr>
      </p:sp>
      <p:sp>
        <p:nvSpPr>
          <p:cNvPr id="86" name="Text 86"/>
          <p:cNvSpPr txBox="1"/>
          <p:nvPr/>
        </p:nvSpPr>
        <p:spPr>
          <a:xfrm>
            <a:off x="4324350" y="3194050"/>
            <a:ext cx="76200" cy="15875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請求確認</a:t>
            </a:r>
          </a:p>
        </p:txBody>
      </p:sp>
      <p:sp>
        <p:nvSpPr>
          <p:cNvPr id="87" name="Shape 87"/>
          <p:cNvSpPr txBox="1"/>
          <p:nvPr/>
        </p:nvSpPr>
        <p:spPr>
          <a:xfrm>
            <a:off x="4438650" y="3181350"/>
            <a:ext cx="203200" cy="165100"/>
          </a:xfrm>
          <a:prstGeom prst="roundRect">
            <a:avLst/>
          </a:prstGeom>
          <a:solidFill>
            <a:srgbClr val="b9bcc2"/>
          </a:solidFill>
          <a:ln w="6350">
            <a:solidFill>
              <a:srgbClr val="b9bcc2"/>
            </a:solidFill>
          </a:ln>
        </p:spPr>
      </p:sp>
      <p:sp>
        <p:nvSpPr>
          <p:cNvPr id="88" name="Shape 88"/>
          <p:cNvSpPr txBox="1"/>
          <p:nvPr/>
        </p:nvSpPr>
        <p:spPr>
          <a:xfrm>
            <a:off x="4311650" y="3448050"/>
            <a:ext cx="330200" cy="368300"/>
          </a:xfrm>
          <a:prstGeom prst="roundRect">
            <a:avLst/>
          </a:prstGeom>
          <a:solidFill>
            <a:srgbClr val="ffffff"/>
          </a:solidFill>
          <a:ln w="6350">
            <a:solidFill>
              <a:srgbClr val="dedede"/>
            </a:solidFill>
          </a:ln>
        </p:spPr>
      </p:sp>
      <p:sp>
        <p:nvSpPr>
          <p:cNvPr id="89" name="Shape 89"/>
          <p:cNvSpPr txBox="1"/>
          <p:nvPr/>
        </p:nvSpPr>
        <p:spPr>
          <a:xfrm>
            <a:off x="4311650" y="3448050"/>
            <a:ext cx="44450" cy="368300"/>
          </a:xfrm>
          <a:prstGeom prst="rect">
            <a:avLst/>
          </a:prstGeom>
          <a:solidFill>
            <a:srgbClr val="ff1818"/>
          </a:solidFill>
          <a:ln>
            <a:noFill/>
          </a:ln>
        </p:spPr>
      </p:sp>
      <p:sp>
        <p:nvSpPr>
          <p:cNvPr id="90" name="Text 90"/>
          <p:cNvSpPr txBox="1"/>
          <p:nvPr/>
        </p:nvSpPr>
        <p:spPr>
          <a:xfrm>
            <a:off x="4451350" y="3511550"/>
            <a:ext cx="254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4-1</a:t>
            </a:r>
          </a:p>
        </p:txBody>
      </p:sp>
      <p:sp>
        <p:nvSpPr>
          <p:cNvPr id="91" name="Text 91"/>
          <p:cNvSpPr txBox="1"/>
          <p:nvPr/>
        </p:nvSpPr>
        <p:spPr>
          <a:xfrm>
            <a:off x="4451350" y="3657600"/>
            <a:ext cx="254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92" name="Shape 92"/>
          <p:cNvSpPr txBox="1"/>
          <p:nvPr/>
        </p:nvSpPr>
        <p:spPr>
          <a:xfrm>
            <a:off x="4311650" y="3930650"/>
            <a:ext cx="330200" cy="368300"/>
          </a:xfrm>
          <a:prstGeom prst="roundRect">
            <a:avLst/>
          </a:prstGeom>
          <a:solidFill>
            <a:srgbClr val="ffffff"/>
          </a:solidFill>
          <a:ln w="6350">
            <a:solidFill>
              <a:srgbClr val="dedede"/>
            </a:solidFill>
          </a:ln>
        </p:spPr>
      </p:sp>
      <p:sp>
        <p:nvSpPr>
          <p:cNvPr id="93" name="Shape 93"/>
          <p:cNvSpPr txBox="1"/>
          <p:nvPr/>
        </p:nvSpPr>
        <p:spPr>
          <a:xfrm>
            <a:off x="4311650" y="3930650"/>
            <a:ext cx="44450" cy="368300"/>
          </a:xfrm>
          <a:prstGeom prst="rect">
            <a:avLst/>
          </a:prstGeom>
          <a:solidFill>
            <a:srgbClr val="bfbfbf"/>
          </a:solidFill>
          <a:ln>
            <a:noFill/>
          </a:ln>
        </p:spPr>
      </p:sp>
      <p:sp>
        <p:nvSpPr>
          <p:cNvPr id="94" name="Text 94"/>
          <p:cNvSpPr txBox="1"/>
          <p:nvPr/>
        </p:nvSpPr>
        <p:spPr>
          <a:xfrm>
            <a:off x="4451350" y="3994150"/>
            <a:ext cx="254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4-2</a:t>
            </a:r>
          </a:p>
        </p:txBody>
      </p:sp>
      <p:sp>
        <p:nvSpPr>
          <p:cNvPr id="95" name="Text 95"/>
          <p:cNvSpPr txBox="1"/>
          <p:nvPr/>
        </p:nvSpPr>
        <p:spPr>
          <a:xfrm>
            <a:off x="4451350" y="4140200"/>
            <a:ext cx="254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96" name="Shape 96"/>
          <p:cNvSpPr txBox="1"/>
          <p:nvPr/>
        </p:nvSpPr>
        <p:spPr>
          <a:xfrm>
            <a:off x="4311650" y="4413250"/>
            <a:ext cx="330200" cy="368300"/>
          </a:xfrm>
          <a:prstGeom prst="roundRect">
            <a:avLst/>
          </a:prstGeom>
          <a:solidFill>
            <a:srgbClr val="ffffff"/>
          </a:solidFill>
          <a:ln w="6350">
            <a:solidFill>
              <a:srgbClr val="dedede"/>
            </a:solidFill>
          </a:ln>
        </p:spPr>
      </p:sp>
      <p:sp>
        <p:nvSpPr>
          <p:cNvPr id="97" name="Shape 97"/>
          <p:cNvSpPr txBox="1"/>
          <p:nvPr/>
        </p:nvSpPr>
        <p:spPr>
          <a:xfrm>
            <a:off x="4311650" y="4413250"/>
            <a:ext cx="44450" cy="368300"/>
          </a:xfrm>
          <a:prstGeom prst="rect">
            <a:avLst/>
          </a:prstGeom>
          <a:solidFill>
            <a:srgbClr val="bfbfbf"/>
          </a:solidFill>
          <a:ln>
            <a:noFill/>
          </a:ln>
        </p:spPr>
      </p:sp>
      <p:sp>
        <p:nvSpPr>
          <p:cNvPr id="98" name="Text 98"/>
          <p:cNvSpPr txBox="1"/>
          <p:nvPr/>
        </p:nvSpPr>
        <p:spPr>
          <a:xfrm>
            <a:off x="4451350" y="4476750"/>
            <a:ext cx="254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4-3</a:t>
            </a:r>
          </a:p>
        </p:txBody>
      </p:sp>
      <p:sp>
        <p:nvSpPr>
          <p:cNvPr id="99" name="Text 99"/>
          <p:cNvSpPr txBox="1"/>
          <p:nvPr/>
        </p:nvSpPr>
        <p:spPr>
          <a:xfrm>
            <a:off x="4451350" y="4622800"/>
            <a:ext cx="254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100" name="Shape 100"/>
          <p:cNvSpPr txBox="1"/>
          <p:nvPr/>
        </p:nvSpPr>
        <p:spPr>
          <a:xfrm>
            <a:off x="4845050" y="3067050"/>
            <a:ext cx="533400" cy="1873250"/>
          </a:xfrm>
          <a:prstGeom prst="roundRect">
            <a:avLst/>
          </a:prstGeom>
          <a:solidFill>
            <a:srgbClr val="f8f8f8"/>
          </a:solidFill>
          <a:ln w="6350">
            <a:solidFill>
              <a:srgbClr val="dedede"/>
            </a:solidFill>
          </a:ln>
        </p:spPr>
      </p:sp>
      <p:sp>
        <p:nvSpPr>
          <p:cNvPr id="101" name="Text 101"/>
          <p:cNvSpPr txBox="1"/>
          <p:nvPr/>
        </p:nvSpPr>
        <p:spPr>
          <a:xfrm>
            <a:off x="4959350" y="3194050"/>
            <a:ext cx="76200" cy="15875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入居対応</a:t>
            </a:r>
          </a:p>
        </p:txBody>
      </p:sp>
      <p:sp>
        <p:nvSpPr>
          <p:cNvPr id="102" name="Shape 102"/>
          <p:cNvSpPr txBox="1"/>
          <p:nvPr/>
        </p:nvSpPr>
        <p:spPr>
          <a:xfrm>
            <a:off x="5073650" y="3181350"/>
            <a:ext cx="203200" cy="165100"/>
          </a:xfrm>
          <a:prstGeom prst="roundRect">
            <a:avLst/>
          </a:prstGeom>
          <a:solidFill>
            <a:srgbClr val="b9bcc2"/>
          </a:solidFill>
          <a:ln w="6350">
            <a:solidFill>
              <a:srgbClr val="b9bcc2"/>
            </a:solidFill>
          </a:ln>
        </p:spPr>
      </p:sp>
      <p:sp>
        <p:nvSpPr>
          <p:cNvPr id="103" name="Shape 103"/>
          <p:cNvSpPr txBox="1"/>
          <p:nvPr/>
        </p:nvSpPr>
        <p:spPr>
          <a:xfrm>
            <a:off x="4946650" y="3448050"/>
            <a:ext cx="330200" cy="368300"/>
          </a:xfrm>
          <a:prstGeom prst="roundRect">
            <a:avLst/>
          </a:prstGeom>
          <a:solidFill>
            <a:srgbClr val="ffffff"/>
          </a:solidFill>
          <a:ln w="6350">
            <a:solidFill>
              <a:srgbClr val="dedede"/>
            </a:solidFill>
          </a:ln>
        </p:spPr>
      </p:sp>
      <p:sp>
        <p:nvSpPr>
          <p:cNvPr id="104" name="Shape 104"/>
          <p:cNvSpPr txBox="1"/>
          <p:nvPr/>
        </p:nvSpPr>
        <p:spPr>
          <a:xfrm>
            <a:off x="4946650" y="3448050"/>
            <a:ext cx="44450" cy="368300"/>
          </a:xfrm>
          <a:prstGeom prst="rect">
            <a:avLst/>
          </a:prstGeom>
          <a:solidFill>
            <a:srgbClr val="ff1818"/>
          </a:solidFill>
          <a:ln>
            <a:noFill/>
          </a:ln>
        </p:spPr>
      </p:sp>
      <p:sp>
        <p:nvSpPr>
          <p:cNvPr id="105" name="Text 105"/>
          <p:cNvSpPr txBox="1"/>
          <p:nvPr/>
        </p:nvSpPr>
        <p:spPr>
          <a:xfrm>
            <a:off x="5086350" y="3511550"/>
            <a:ext cx="254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5-1</a:t>
            </a:r>
          </a:p>
        </p:txBody>
      </p:sp>
      <p:sp>
        <p:nvSpPr>
          <p:cNvPr id="106" name="Text 106"/>
          <p:cNvSpPr txBox="1"/>
          <p:nvPr/>
        </p:nvSpPr>
        <p:spPr>
          <a:xfrm>
            <a:off x="5086350" y="3657600"/>
            <a:ext cx="254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107" name="Shape 107"/>
          <p:cNvSpPr txBox="1"/>
          <p:nvPr/>
        </p:nvSpPr>
        <p:spPr>
          <a:xfrm>
            <a:off x="4946650" y="3930650"/>
            <a:ext cx="330200" cy="368300"/>
          </a:xfrm>
          <a:prstGeom prst="roundRect">
            <a:avLst/>
          </a:prstGeom>
          <a:solidFill>
            <a:srgbClr val="ffffff"/>
          </a:solidFill>
          <a:ln w="6350">
            <a:solidFill>
              <a:srgbClr val="dedede"/>
            </a:solidFill>
          </a:ln>
        </p:spPr>
      </p:sp>
      <p:sp>
        <p:nvSpPr>
          <p:cNvPr id="108" name="Shape 108"/>
          <p:cNvSpPr txBox="1"/>
          <p:nvPr/>
        </p:nvSpPr>
        <p:spPr>
          <a:xfrm>
            <a:off x="4946650" y="3930650"/>
            <a:ext cx="44450" cy="368300"/>
          </a:xfrm>
          <a:prstGeom prst="rect">
            <a:avLst/>
          </a:prstGeom>
          <a:solidFill>
            <a:srgbClr val="bfbfbf"/>
          </a:solidFill>
          <a:ln>
            <a:noFill/>
          </a:ln>
        </p:spPr>
      </p:sp>
      <p:sp>
        <p:nvSpPr>
          <p:cNvPr id="109" name="Text 109"/>
          <p:cNvSpPr txBox="1"/>
          <p:nvPr/>
        </p:nvSpPr>
        <p:spPr>
          <a:xfrm>
            <a:off x="5086350" y="3994150"/>
            <a:ext cx="254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5-2</a:t>
            </a:r>
          </a:p>
        </p:txBody>
      </p:sp>
      <p:sp>
        <p:nvSpPr>
          <p:cNvPr id="110" name="Text 110"/>
          <p:cNvSpPr txBox="1"/>
          <p:nvPr/>
        </p:nvSpPr>
        <p:spPr>
          <a:xfrm>
            <a:off x="5086350" y="4140200"/>
            <a:ext cx="254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111" name="Shape 111"/>
          <p:cNvSpPr txBox="1"/>
          <p:nvPr/>
        </p:nvSpPr>
        <p:spPr>
          <a:xfrm>
            <a:off x="4946650" y="4413250"/>
            <a:ext cx="330200" cy="368300"/>
          </a:xfrm>
          <a:prstGeom prst="roundRect">
            <a:avLst/>
          </a:prstGeom>
          <a:solidFill>
            <a:srgbClr val="ffffff"/>
          </a:solidFill>
          <a:ln w="6350">
            <a:solidFill>
              <a:srgbClr val="dedede"/>
            </a:solidFill>
          </a:ln>
        </p:spPr>
      </p:sp>
      <p:sp>
        <p:nvSpPr>
          <p:cNvPr id="112" name="Shape 112"/>
          <p:cNvSpPr txBox="1"/>
          <p:nvPr/>
        </p:nvSpPr>
        <p:spPr>
          <a:xfrm>
            <a:off x="4946650" y="4413250"/>
            <a:ext cx="44450" cy="368300"/>
          </a:xfrm>
          <a:prstGeom prst="rect">
            <a:avLst/>
          </a:prstGeom>
          <a:solidFill>
            <a:srgbClr val="bfbfbf"/>
          </a:solidFill>
          <a:ln>
            <a:noFill/>
          </a:ln>
        </p:spPr>
      </p:sp>
      <p:sp>
        <p:nvSpPr>
          <p:cNvPr id="113" name="Text 113"/>
          <p:cNvSpPr txBox="1"/>
          <p:nvPr/>
        </p:nvSpPr>
        <p:spPr>
          <a:xfrm>
            <a:off x="5086350" y="4476750"/>
            <a:ext cx="25400" cy="127000"/>
          </a:xfrm>
          <a:prstGeom prst="rect">
            <a:avLst/>
          </a:prstGeom>
          <a:noFill/>
          <a:ln>
            <a:noFill/>
          </a:ln>
        </p:spPr>
        <p:txBody>
          <a:bodyPr wrap="square" anchor="t" lIns="12700" tIns="12700" rIns="12700" bIns="12700"/>
          <a:lstStyle/>
          <a:p>
            <a:pPr algn="l"/>
            <a:r>
              <a:rPr lang="ja-JP" sz="1200" b="1">
                <a:solidFill>
                  <a:srgbClr val="111111"/>
                </a:solidFill>
                <a:latin typeface="Yu Gothic"/>
                <a:ea typeface="Yu Gothic"/>
              </a:rPr>
              <a:t>案件 5-3</a:t>
            </a:r>
          </a:p>
        </p:txBody>
      </p:sp>
      <p:sp>
        <p:nvSpPr>
          <p:cNvPr id="114" name="Text 114"/>
          <p:cNvSpPr txBox="1"/>
          <p:nvPr/>
        </p:nvSpPr>
        <p:spPr>
          <a:xfrm>
            <a:off x="5086350" y="4622800"/>
            <a:ext cx="25400" cy="114300"/>
          </a:xfrm>
          <a:prstGeom prst="rect">
            <a:avLst/>
          </a:prstGeom>
          <a:noFill/>
          <a:ln>
            <a:noFill/>
          </a:ln>
        </p:spPr>
        <p:txBody>
          <a:bodyPr wrap="square" anchor="t" lIns="12700" tIns="12700" rIns="12700" bIns="12700"/>
          <a:lstStyle/>
          <a:p>
            <a:pPr algn="l"/>
            <a:r>
              <a:rPr lang="ja-JP" sz="900">
                <a:solidFill>
                  <a:srgbClr val="666666"/>
                </a:solidFill>
                <a:latin typeface="Yu Gothic"/>
                <a:ea typeface="Yu Gothic"/>
              </a:rPr>
              <a:t>期限 / 担当 / 状態</a:t>
            </a:r>
          </a:p>
        </p:txBody>
      </p:sp>
      <p:sp>
        <p:nvSpPr>
          <p:cNvPr id="115" name="Shape 115"/>
          <p:cNvSpPr txBox="1"/>
          <p:nvPr/>
        </p:nvSpPr>
        <p:spPr>
          <a:xfrm>
            <a:off x="2305050" y="5130800"/>
            <a:ext cx="1689100" cy="825500"/>
          </a:xfrm>
          <a:prstGeom prst="roundRect">
            <a:avLst/>
          </a:prstGeom>
          <a:solidFill>
            <a:srgbClr val="ffffff"/>
          </a:solidFill>
          <a:ln w="6350">
            <a:solidFill>
              <a:srgbClr val="dedede"/>
            </a:solidFill>
          </a:ln>
        </p:spPr>
      </p:sp>
      <p:sp>
        <p:nvSpPr>
          <p:cNvPr id="116" name="Text 116"/>
          <p:cNvSpPr txBox="1"/>
          <p:nvPr/>
        </p:nvSpPr>
        <p:spPr>
          <a:xfrm>
            <a:off x="2444750" y="5257800"/>
            <a:ext cx="1397000" cy="15240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直近対応履歴</a:t>
            </a:r>
          </a:p>
        </p:txBody>
      </p:sp>
      <p:sp>
        <p:nvSpPr>
          <p:cNvPr id="117" name="Shape 117"/>
          <p:cNvSpPr txBox="1"/>
          <p:nvPr/>
        </p:nvSpPr>
        <p:spPr>
          <a:xfrm>
            <a:off x="4089400" y="5130800"/>
            <a:ext cx="1289050" cy="825500"/>
          </a:xfrm>
          <a:prstGeom prst="roundRect">
            <a:avLst/>
          </a:prstGeom>
          <a:solidFill>
            <a:srgbClr val="ffffff"/>
          </a:solidFill>
          <a:ln w="6350">
            <a:solidFill>
              <a:srgbClr val="dedede"/>
            </a:solidFill>
          </a:ln>
        </p:spPr>
      </p:sp>
      <p:sp>
        <p:nvSpPr>
          <p:cNvPr id="118" name="Shape 118"/>
          <p:cNvSpPr txBox="1"/>
          <p:nvPr/>
        </p:nvSpPr>
        <p:spPr>
          <a:xfrm>
            <a:off x="4241800" y="5340350"/>
            <a:ext cx="444500" cy="444500"/>
          </a:xfrm>
          <a:prstGeom prst="ellipse">
            <a:avLst/>
          </a:prstGeom>
          <a:solidFill>
            <a:srgbClr val="ff1818"/>
          </a:solidFill>
          <a:ln w="6350">
            <a:solidFill>
              <a:srgbClr val="ff1818"/>
            </a:solidFill>
          </a:ln>
        </p:spPr>
      </p:sp>
      <p:sp>
        <p:nvSpPr>
          <p:cNvPr id="119" name="Shape 119"/>
          <p:cNvSpPr txBox="1"/>
          <p:nvPr/>
        </p:nvSpPr>
        <p:spPr>
          <a:xfrm>
            <a:off x="4286250" y="5454650"/>
            <a:ext cx="228600" cy="228600"/>
          </a:xfrm>
          <a:prstGeom prst="ellipse">
            <a:avLst/>
          </a:prstGeom>
          <a:solidFill>
            <a:srgbClr val="ffffff"/>
          </a:solidFill>
          <a:ln w="6350">
            <a:solidFill>
              <a:srgbClr val="ffffff"/>
            </a:solidFill>
          </a:ln>
        </p:spPr>
      </p:sp>
      <p:sp>
        <p:nvSpPr>
          <p:cNvPr id="120" name="Text 120"/>
          <p:cNvSpPr txBox="1"/>
          <p:nvPr/>
        </p:nvSpPr>
        <p:spPr>
          <a:xfrm>
            <a:off x="4521200" y="5340350"/>
            <a:ext cx="1333500" cy="165100"/>
          </a:xfrm>
          <a:prstGeom prst="rect">
            <a:avLst/>
          </a:prstGeom>
          <a:noFill/>
          <a:ln>
            <a:noFill/>
          </a:ln>
        </p:spPr>
        <p:txBody>
          <a:bodyPr wrap="square" anchor="t" lIns="12700" tIns="12700" rIns="12700" bIns="12700"/>
          <a:lstStyle/>
          <a:p>
            <a:pPr algn="l"/>
            <a:r>
              <a:rPr lang="ja-JP" sz="1500" b="1">
                <a:solidFill>
                  <a:srgbClr val="111111"/>
                </a:solidFill>
                <a:latin typeface="Yu Gothic"/>
                <a:ea typeface="Yu Gothic"/>
              </a:rPr>
              <a:t>対応種別の内訳</a:t>
            </a:r>
          </a:p>
        </p:txBody>
      </p:sp>
      <p:sp>
        <p:nvSpPr>
          <p:cNvPr id="121" name="Shape 121"/>
          <p:cNvSpPr txBox="1"/>
          <p:nvPr/>
        </p:nvSpPr>
        <p:spPr>
          <a:xfrm>
            <a:off x="2457450" y="5511800"/>
            <a:ext cx="76200" cy="76200"/>
          </a:xfrm>
          <a:prstGeom prst="ellipse">
            <a:avLst/>
          </a:prstGeom>
          <a:solidFill>
            <a:srgbClr val="ff1818"/>
          </a:solidFill>
          <a:ln>
            <a:noFill/>
          </a:ln>
        </p:spPr>
      </p:sp>
      <p:sp>
        <p:nvSpPr>
          <p:cNvPr id="122" name="Text 122"/>
          <p:cNvSpPr txBox="1"/>
          <p:nvPr/>
        </p:nvSpPr>
        <p:spPr>
          <a:xfrm>
            <a:off x="2635250" y="5480050"/>
            <a:ext cx="1016000" cy="139700"/>
          </a:xfrm>
          <a:prstGeom prst="rect">
            <a:avLst/>
          </a:prstGeom>
          <a:noFill/>
          <a:ln>
            <a:noFill/>
          </a:ln>
        </p:spPr>
        <p:txBody>
          <a:bodyPr wrap="square" anchor="t" lIns="12700" tIns="12700" rIns="12700" bIns="12700"/>
          <a:lstStyle/>
          <a:p>
            <a:pPr algn="l"/>
            <a:r>
              <a:rPr lang="ja-JP" sz="1200">
                <a:solidFill>
                  <a:srgbClr val="666666"/>
                </a:solidFill>
                <a:latin typeface="Yu Gothic"/>
                <a:ea typeface="Yu Gothic"/>
              </a:rPr>
              <a:t>退去立会い</a:t>
            </a:r>
          </a:p>
        </p:txBody>
      </p:sp>
      <p:sp>
        <p:nvSpPr>
          <p:cNvPr id="123" name="Shape 123"/>
          <p:cNvSpPr txBox="1"/>
          <p:nvPr/>
        </p:nvSpPr>
        <p:spPr>
          <a:xfrm>
            <a:off x="4241800" y="5537200"/>
            <a:ext cx="571500" cy="38100"/>
          </a:xfrm>
          <a:prstGeom prst="rect">
            <a:avLst/>
          </a:prstGeom>
          <a:solidFill>
            <a:srgbClr val="d7d7d7"/>
          </a:solidFill>
          <a:ln>
            <a:noFill/>
          </a:ln>
        </p:spPr>
      </p:sp>
      <p:sp>
        <p:nvSpPr>
          <p:cNvPr id="124" name="Shape 124"/>
          <p:cNvSpPr txBox="1"/>
          <p:nvPr/>
        </p:nvSpPr>
        <p:spPr>
          <a:xfrm>
            <a:off x="5099050" y="5537200"/>
            <a:ext cx="444500" cy="38100"/>
          </a:xfrm>
          <a:prstGeom prst="rect">
            <a:avLst/>
          </a:prstGeom>
          <a:solidFill>
            <a:srgbClr val="d7d7d7"/>
          </a:solidFill>
          <a:ln>
            <a:noFill/>
          </a:ln>
        </p:spPr>
      </p:sp>
      <p:sp>
        <p:nvSpPr>
          <p:cNvPr id="125" name="Shape 125"/>
          <p:cNvSpPr txBox="1"/>
          <p:nvPr/>
        </p:nvSpPr>
        <p:spPr>
          <a:xfrm>
            <a:off x="2457450" y="5664200"/>
            <a:ext cx="76200" cy="76200"/>
          </a:xfrm>
          <a:prstGeom prst="ellipse">
            <a:avLst/>
          </a:prstGeom>
          <a:solidFill>
            <a:srgbClr val="a9a9a9"/>
          </a:solidFill>
          <a:ln>
            <a:noFill/>
          </a:ln>
        </p:spPr>
      </p:sp>
      <p:sp>
        <p:nvSpPr>
          <p:cNvPr id="126" name="Text 126"/>
          <p:cNvSpPr txBox="1"/>
          <p:nvPr/>
        </p:nvSpPr>
        <p:spPr>
          <a:xfrm>
            <a:off x="2635250" y="5632450"/>
            <a:ext cx="1016000" cy="139700"/>
          </a:xfrm>
          <a:prstGeom prst="rect">
            <a:avLst/>
          </a:prstGeom>
          <a:noFill/>
          <a:ln>
            <a:noFill/>
          </a:ln>
        </p:spPr>
        <p:txBody>
          <a:bodyPr wrap="square" anchor="t" lIns="12700" tIns="12700" rIns="12700" bIns="12700"/>
          <a:lstStyle/>
          <a:p>
            <a:pPr algn="l"/>
            <a:r>
              <a:rPr lang="ja-JP" sz="1200">
                <a:solidFill>
                  <a:srgbClr val="666666"/>
                </a:solidFill>
                <a:latin typeface="Yu Gothic"/>
                <a:ea typeface="Yu Gothic"/>
              </a:rPr>
              <a:t>見積確認</a:t>
            </a:r>
          </a:p>
        </p:txBody>
      </p:sp>
      <p:sp>
        <p:nvSpPr>
          <p:cNvPr id="127" name="Shape 127"/>
          <p:cNvSpPr txBox="1"/>
          <p:nvPr/>
        </p:nvSpPr>
        <p:spPr>
          <a:xfrm>
            <a:off x="4241800" y="5689600"/>
            <a:ext cx="571500" cy="38100"/>
          </a:xfrm>
          <a:prstGeom prst="rect">
            <a:avLst/>
          </a:prstGeom>
          <a:solidFill>
            <a:srgbClr val="d7d7d7"/>
          </a:solidFill>
          <a:ln>
            <a:noFill/>
          </a:ln>
        </p:spPr>
      </p:sp>
      <p:sp>
        <p:nvSpPr>
          <p:cNvPr id="128" name="Shape 128"/>
          <p:cNvSpPr txBox="1"/>
          <p:nvPr/>
        </p:nvSpPr>
        <p:spPr>
          <a:xfrm>
            <a:off x="5099050" y="5689600"/>
            <a:ext cx="444500" cy="38100"/>
          </a:xfrm>
          <a:prstGeom prst="rect">
            <a:avLst/>
          </a:prstGeom>
          <a:solidFill>
            <a:srgbClr val="d7d7d7"/>
          </a:solidFill>
          <a:ln>
            <a:noFill/>
          </a:ln>
        </p:spPr>
      </p:sp>
      <p:sp>
        <p:nvSpPr>
          <p:cNvPr id="129" name="Shape 129"/>
          <p:cNvSpPr txBox="1"/>
          <p:nvPr/>
        </p:nvSpPr>
        <p:spPr>
          <a:xfrm>
            <a:off x="2457450" y="5816600"/>
            <a:ext cx="76200" cy="76200"/>
          </a:xfrm>
          <a:prstGeom prst="ellipse">
            <a:avLst/>
          </a:prstGeom>
          <a:solidFill>
            <a:srgbClr val="a9a9a9"/>
          </a:solidFill>
          <a:ln>
            <a:noFill/>
          </a:ln>
        </p:spPr>
      </p:sp>
      <p:sp>
        <p:nvSpPr>
          <p:cNvPr id="130" name="Text 130"/>
          <p:cNvSpPr txBox="1"/>
          <p:nvPr/>
        </p:nvSpPr>
        <p:spPr>
          <a:xfrm>
            <a:off x="2635250" y="5784850"/>
            <a:ext cx="1016000" cy="139700"/>
          </a:xfrm>
          <a:prstGeom prst="rect">
            <a:avLst/>
          </a:prstGeom>
          <a:noFill/>
          <a:ln>
            <a:noFill/>
          </a:ln>
        </p:spPr>
        <p:txBody>
          <a:bodyPr wrap="square" anchor="t" lIns="12700" tIns="12700" rIns="12700" bIns="12700"/>
          <a:lstStyle/>
          <a:p>
            <a:pPr algn="l"/>
            <a:r>
              <a:rPr lang="ja-JP" sz="1200">
                <a:solidFill>
                  <a:srgbClr val="666666"/>
                </a:solidFill>
                <a:latin typeface="Yu Gothic"/>
                <a:ea typeface="Yu Gothic"/>
              </a:rPr>
              <a:t>契約更新</a:t>
            </a:r>
          </a:p>
        </p:txBody>
      </p:sp>
      <p:sp>
        <p:nvSpPr>
          <p:cNvPr id="131" name="Shape 131"/>
          <p:cNvSpPr txBox="1"/>
          <p:nvPr/>
        </p:nvSpPr>
        <p:spPr>
          <a:xfrm>
            <a:off x="4241800" y="5842000"/>
            <a:ext cx="571500" cy="38100"/>
          </a:xfrm>
          <a:prstGeom prst="rect">
            <a:avLst/>
          </a:prstGeom>
          <a:solidFill>
            <a:srgbClr val="d7d7d7"/>
          </a:solidFill>
          <a:ln>
            <a:noFill/>
          </a:ln>
        </p:spPr>
      </p:sp>
      <p:sp>
        <p:nvSpPr>
          <p:cNvPr id="132" name="Shape 132"/>
          <p:cNvSpPr txBox="1"/>
          <p:nvPr/>
        </p:nvSpPr>
        <p:spPr>
          <a:xfrm>
            <a:off x="5099050" y="5842000"/>
            <a:ext cx="444500" cy="38100"/>
          </a:xfrm>
          <a:prstGeom prst="rect">
            <a:avLst/>
          </a:prstGeom>
          <a:solidFill>
            <a:srgbClr val="d7d7d7"/>
          </a:solidFill>
          <a:ln>
            <a:noFill/>
          </a:ln>
        </p:spPr>
      </p:sp>
      <p:sp>
        <p:nvSpPr>
          <p:cNvPr id="133" name="Shape 133"/>
          <p:cNvSpPr txBox="1"/>
          <p:nvPr/>
        </p:nvSpPr>
        <p:spPr>
          <a:xfrm>
            <a:off x="6794500" y="3175000"/>
            <a:ext cx="1587500" cy="762000"/>
          </a:xfrm>
          <a:prstGeom prst="ellipse">
            <a:avLst/>
          </a:prstGeom>
          <a:solidFill>
            <a:srgbClr val="ff1818"/>
          </a:solidFill>
          <a:ln w="6350">
            <a:solidFill>
              <a:srgbClr val="ff1818"/>
            </a:solidFill>
          </a:ln>
        </p:spPr>
        <p:txBody>
          <a:bodyPr wrap="square" anchor="ctr" lIns="76200" tIns="76200" rIns="76200" bIns="76200"/>
          <a:lstStyle/>
          <a:p>
            <a:pPr algn="c"/>
            <a:r>
              <a:rPr lang="ja-JP" sz="2200" b="1">
                <a:solidFill>
                  <a:srgbClr val="ffffff"/>
                </a:solidFill>
                <a:latin typeface="Yu Gothic"/>
                <a:ea typeface="Yu Gothic"/>
              </a:rPr>
              <a:t>基幹データ</a:t>
            </a:r>
          </a:p>
          <a:p>
            <a:pPr algn="c"/>
            <a:r>
              <a:rPr lang="ja-JP" sz="2200" b="1">
                <a:solidFill>
                  <a:srgbClr val="ffffff"/>
                </a:solidFill>
                <a:latin typeface="Yu Gothic"/>
                <a:ea typeface="Yu Gothic"/>
              </a:rPr>
              <a:t>社内AI基盤</a:t>
            </a:r>
          </a:p>
        </p:txBody>
      </p:sp>
      <p:sp>
        <p:nvSpPr>
          <p:cNvPr id="134" name="Shape 134"/>
          <p:cNvSpPr txBox="1"/>
          <p:nvPr/>
        </p:nvSpPr>
        <p:spPr>
          <a:xfrm>
            <a:off x="5905500" y="1714500"/>
            <a:ext cx="1809750" cy="711200"/>
          </a:xfrm>
          <a:prstGeom prst="roundRect">
            <a:avLst/>
          </a:prstGeom>
          <a:solidFill>
            <a:srgbClr val="f5f5f5"/>
          </a:solidFill>
          <a:ln w="6350">
            <a:solidFill>
              <a:srgbClr val="dedede"/>
            </a:solidFill>
          </a:ln>
        </p:spPr>
      </p:sp>
      <p:sp>
        <p:nvSpPr>
          <p:cNvPr id="135" name="Text 135"/>
          <p:cNvSpPr txBox="1"/>
          <p:nvPr/>
        </p:nvSpPr>
        <p:spPr>
          <a:xfrm>
            <a:off x="6045200" y="1866900"/>
            <a:ext cx="1397000" cy="177800"/>
          </a:xfrm>
          <a:prstGeom prst="rect">
            <a:avLst/>
          </a:prstGeom>
          <a:noFill/>
          <a:ln>
            <a:noFill/>
          </a:ln>
        </p:spPr>
        <p:txBody>
          <a:bodyPr wrap="square" anchor="t" lIns="12700" tIns="12700" rIns="12700" bIns="12700"/>
          <a:lstStyle/>
          <a:p>
            <a:pPr algn="l"/>
            <a:r>
              <a:rPr lang="ja-JP" sz="1800" b="1">
                <a:solidFill>
                  <a:srgbClr val="ff1818"/>
                </a:solidFill>
                <a:latin typeface="Yu Gothic"/>
                <a:ea typeface="Yu Gothic"/>
              </a:rPr>
              <a:t>AI音声対応</a:t>
            </a:r>
          </a:p>
        </p:txBody>
      </p:sp>
      <p:sp>
        <p:nvSpPr>
          <p:cNvPr id="136" name="Text 136"/>
          <p:cNvSpPr txBox="1"/>
          <p:nvPr/>
        </p:nvSpPr>
        <p:spPr>
          <a:xfrm>
            <a:off x="6045200" y="2127250"/>
            <a:ext cx="1397000" cy="139700"/>
          </a:xfrm>
          <a:prstGeom prst="rect">
            <a:avLst/>
          </a:prstGeom>
          <a:noFill/>
          <a:ln>
            <a:noFill/>
          </a:ln>
        </p:spPr>
        <p:txBody>
          <a:bodyPr wrap="square" anchor="t" lIns="12700" tIns="12700" rIns="12700" bIns="12700"/>
          <a:lstStyle/>
          <a:p>
            <a:pPr algn="l"/>
            <a:r>
              <a:rPr lang="ja-JP" sz="1300">
                <a:solidFill>
                  <a:srgbClr val="333333"/>
                </a:solidFill>
                <a:latin typeface="Yu Gothic"/>
                <a:ea typeface="Yu Gothic"/>
              </a:rPr>
              <a:t>入居者様問い合わせ</a:t>
            </a:r>
          </a:p>
        </p:txBody>
      </p:sp>
      <p:sp>
        <p:nvSpPr>
          <p:cNvPr id="137" name="Shape 137"/>
          <p:cNvSpPr txBox="1"/>
          <p:nvPr/>
        </p:nvSpPr>
        <p:spPr>
          <a:xfrm>
            <a:off x="8413750" y="1714500"/>
            <a:ext cx="1809750" cy="711200"/>
          </a:xfrm>
          <a:prstGeom prst="roundRect">
            <a:avLst/>
          </a:prstGeom>
          <a:solidFill>
            <a:srgbClr val="f5f5f5"/>
          </a:solidFill>
          <a:ln w="6350">
            <a:solidFill>
              <a:srgbClr val="dedede"/>
            </a:solidFill>
          </a:ln>
        </p:spPr>
      </p:sp>
      <p:sp>
        <p:nvSpPr>
          <p:cNvPr id="138" name="Text 138"/>
          <p:cNvSpPr txBox="1"/>
          <p:nvPr/>
        </p:nvSpPr>
        <p:spPr>
          <a:xfrm>
            <a:off x="8553450" y="1866900"/>
            <a:ext cx="1397000" cy="177800"/>
          </a:xfrm>
          <a:prstGeom prst="rect">
            <a:avLst/>
          </a:prstGeom>
          <a:noFill/>
          <a:ln>
            <a:noFill/>
          </a:ln>
        </p:spPr>
        <p:txBody>
          <a:bodyPr wrap="square" anchor="t" lIns="12700" tIns="12700" rIns="12700" bIns="12700"/>
          <a:lstStyle/>
          <a:p>
            <a:pPr algn="l"/>
            <a:r>
              <a:rPr lang="ja-JP" sz="1800" b="1">
                <a:solidFill>
                  <a:srgbClr val="ff1818"/>
                </a:solidFill>
                <a:latin typeface="Yu Gothic"/>
                <a:ea typeface="Yu Gothic"/>
              </a:rPr>
              <a:t>営業支援AI</a:t>
            </a:r>
          </a:p>
        </p:txBody>
      </p:sp>
      <p:sp>
        <p:nvSpPr>
          <p:cNvPr id="139" name="Text 139"/>
          <p:cNvSpPr txBox="1"/>
          <p:nvPr/>
        </p:nvSpPr>
        <p:spPr>
          <a:xfrm>
            <a:off x="8553450" y="2127250"/>
            <a:ext cx="1397000" cy="139700"/>
          </a:xfrm>
          <a:prstGeom prst="rect">
            <a:avLst/>
          </a:prstGeom>
          <a:noFill/>
          <a:ln>
            <a:noFill/>
          </a:ln>
        </p:spPr>
        <p:txBody>
          <a:bodyPr wrap="square" anchor="t" lIns="12700" tIns="12700" rIns="12700" bIns="12700"/>
          <a:lstStyle/>
          <a:p>
            <a:pPr algn="l"/>
            <a:r>
              <a:rPr lang="ja-JP" sz="1300">
                <a:solidFill>
                  <a:srgbClr val="333333"/>
                </a:solidFill>
                <a:latin typeface="Yu Gothic"/>
                <a:ea typeface="Yu Gothic"/>
              </a:rPr>
              <a:t>訪問前ブリーフィング</a:t>
            </a:r>
          </a:p>
        </p:txBody>
      </p:sp>
      <p:sp>
        <p:nvSpPr>
          <p:cNvPr id="140" name="Shape 140"/>
          <p:cNvSpPr txBox="1"/>
          <p:nvPr/>
        </p:nvSpPr>
        <p:spPr>
          <a:xfrm>
            <a:off x="5905500" y="4667250"/>
            <a:ext cx="1809750" cy="711200"/>
          </a:xfrm>
          <a:prstGeom prst="roundRect">
            <a:avLst/>
          </a:prstGeom>
          <a:solidFill>
            <a:srgbClr val="f5f5f5"/>
          </a:solidFill>
          <a:ln w="6350">
            <a:solidFill>
              <a:srgbClr val="dedede"/>
            </a:solidFill>
          </a:ln>
        </p:spPr>
      </p:sp>
      <p:sp>
        <p:nvSpPr>
          <p:cNvPr id="141" name="Text 141"/>
          <p:cNvSpPr txBox="1"/>
          <p:nvPr/>
        </p:nvSpPr>
        <p:spPr>
          <a:xfrm>
            <a:off x="6045200" y="4819650"/>
            <a:ext cx="1397000" cy="177800"/>
          </a:xfrm>
          <a:prstGeom prst="rect">
            <a:avLst/>
          </a:prstGeom>
          <a:noFill/>
          <a:ln>
            <a:noFill/>
          </a:ln>
        </p:spPr>
        <p:txBody>
          <a:bodyPr wrap="square" anchor="t" lIns="12700" tIns="12700" rIns="12700" bIns="12700"/>
          <a:lstStyle/>
          <a:p>
            <a:pPr algn="l"/>
            <a:r>
              <a:rPr lang="ja-JP" sz="1800" b="1">
                <a:solidFill>
                  <a:srgbClr val="ff1818"/>
                </a:solidFill>
                <a:latin typeface="Yu Gothic"/>
                <a:ea typeface="Yu Gothic"/>
              </a:rPr>
              <a:t>契約書自動作成</a:t>
            </a:r>
          </a:p>
        </p:txBody>
      </p:sp>
      <p:sp>
        <p:nvSpPr>
          <p:cNvPr id="142" name="Text 142"/>
          <p:cNvSpPr txBox="1"/>
          <p:nvPr/>
        </p:nvSpPr>
        <p:spPr>
          <a:xfrm>
            <a:off x="6045200" y="5080000"/>
            <a:ext cx="1397000" cy="139700"/>
          </a:xfrm>
          <a:prstGeom prst="rect">
            <a:avLst/>
          </a:prstGeom>
          <a:noFill/>
          <a:ln>
            <a:noFill/>
          </a:ln>
        </p:spPr>
        <p:txBody>
          <a:bodyPr wrap="square" anchor="t" lIns="12700" tIns="12700" rIns="12700" bIns="12700"/>
          <a:lstStyle/>
          <a:p>
            <a:pPr algn="l"/>
            <a:r>
              <a:rPr lang="ja-JP" sz="1300">
                <a:solidFill>
                  <a:srgbClr val="333333"/>
                </a:solidFill>
                <a:latin typeface="Yu Gothic"/>
                <a:ea typeface="Yu Gothic"/>
              </a:rPr>
              <a:t>文書作成を省力化</a:t>
            </a:r>
          </a:p>
        </p:txBody>
      </p:sp>
      <p:sp>
        <p:nvSpPr>
          <p:cNvPr id="143" name="Shape 143"/>
          <p:cNvSpPr txBox="1"/>
          <p:nvPr/>
        </p:nvSpPr>
        <p:spPr>
          <a:xfrm>
            <a:off x="8413750" y="4667250"/>
            <a:ext cx="1809750" cy="711200"/>
          </a:xfrm>
          <a:prstGeom prst="roundRect">
            <a:avLst/>
          </a:prstGeom>
          <a:solidFill>
            <a:srgbClr val="f5f5f5"/>
          </a:solidFill>
          <a:ln w="6350">
            <a:solidFill>
              <a:srgbClr val="dedede"/>
            </a:solidFill>
          </a:ln>
        </p:spPr>
      </p:sp>
      <p:sp>
        <p:nvSpPr>
          <p:cNvPr id="144" name="Text 144"/>
          <p:cNvSpPr txBox="1"/>
          <p:nvPr/>
        </p:nvSpPr>
        <p:spPr>
          <a:xfrm>
            <a:off x="8553450" y="4819650"/>
            <a:ext cx="1397000" cy="177800"/>
          </a:xfrm>
          <a:prstGeom prst="rect">
            <a:avLst/>
          </a:prstGeom>
          <a:noFill/>
          <a:ln>
            <a:noFill/>
          </a:ln>
        </p:spPr>
        <p:txBody>
          <a:bodyPr wrap="square" anchor="t" lIns="12700" tIns="12700" rIns="12700" bIns="12700"/>
          <a:lstStyle/>
          <a:p>
            <a:pPr algn="l"/>
            <a:r>
              <a:rPr lang="ja-JP" sz="1800" b="1">
                <a:solidFill>
                  <a:srgbClr val="ff1818"/>
                </a:solidFill>
                <a:latin typeface="Yu Gothic"/>
                <a:ea typeface="Yu Gothic"/>
              </a:rPr>
              <a:t>社内FAQ検索</a:t>
            </a:r>
          </a:p>
        </p:txBody>
      </p:sp>
      <p:sp>
        <p:nvSpPr>
          <p:cNvPr id="145" name="Text 145"/>
          <p:cNvSpPr txBox="1"/>
          <p:nvPr/>
        </p:nvSpPr>
        <p:spPr>
          <a:xfrm>
            <a:off x="8553450" y="5080000"/>
            <a:ext cx="1397000" cy="139700"/>
          </a:xfrm>
          <a:prstGeom prst="rect">
            <a:avLst/>
          </a:prstGeom>
          <a:noFill/>
          <a:ln>
            <a:noFill/>
          </a:ln>
        </p:spPr>
        <p:txBody>
          <a:bodyPr wrap="square" anchor="t" lIns="12700" tIns="12700" rIns="12700" bIns="12700"/>
          <a:lstStyle/>
          <a:p>
            <a:pPr algn="l"/>
            <a:r>
              <a:rPr lang="ja-JP" sz="1300">
                <a:solidFill>
                  <a:srgbClr val="333333"/>
                </a:solidFill>
                <a:latin typeface="Yu Gothic"/>
                <a:ea typeface="Yu Gothic"/>
              </a:rPr>
              <a:t>横断検索・ナレッジ化</a:t>
            </a:r>
          </a:p>
        </p:txBody>
      </p:sp>
      <p:sp>
        <p:nvSpPr>
          <p:cNvPr id="146" name="Shape 146"/>
          <p:cNvSpPr txBox="1"/>
          <p:nvPr/>
        </p:nvSpPr>
        <p:spPr>
          <a:xfrm>
            <a:off x="9588500" y="2730500"/>
            <a:ext cx="1714500" cy="368300"/>
          </a:xfrm>
          <a:prstGeom prst="roundRect">
            <a:avLst/>
          </a:prstGeom>
          <a:solidFill>
            <a:srgbClr val="ff1818"/>
          </a:solidFill>
          <a:ln w="6350">
            <a:solidFill>
              <a:srgbClr val="ff1818"/>
            </a:solidFill>
          </a:ln>
        </p:spPr>
        <p:txBody>
          <a:bodyPr wrap="square" anchor="ctr" lIns="38100" tIns="38100" rIns="38100" bIns="38100"/>
          <a:lstStyle/>
          <a:p>
            <a:pPr algn="c"/>
            <a:r>
              <a:rPr lang="ja-JP" sz="2000" b="1">
                <a:solidFill>
                  <a:srgbClr val="ffffff"/>
                </a:solidFill>
                <a:latin typeface="Yu Gothic"/>
                <a:ea typeface="Yu Gothic"/>
              </a:rPr>
              <a:t>展開イメージ</a:t>
            </a:r>
          </a:p>
        </p:txBody>
      </p:sp>
      <p:sp>
        <p:nvSpPr>
          <p:cNvPr id="147" name="Text 147"/>
          <p:cNvSpPr txBox="1"/>
          <p:nvPr/>
        </p:nvSpPr>
        <p:spPr>
          <a:xfrm>
            <a:off x="9588500" y="3302000"/>
            <a:ext cx="2032000" cy="1714500"/>
          </a:xfrm>
          <a:prstGeom prst="rect">
            <a:avLst/>
          </a:prstGeom>
          <a:noFill/>
          <a:ln>
            <a:noFill/>
          </a:ln>
        </p:spPr>
        <p:txBody>
          <a:bodyPr wrap="square" anchor="t" lIns="12700" tIns="12700" rIns="12700" bIns="12700"/>
          <a:lstStyle/>
          <a:p>
            <a:pPr algn="l"/>
            <a:r>
              <a:rPr lang="ja-JP" sz="1800" b="1">
                <a:solidFill>
                  <a:srgbClr val="111111"/>
                </a:solidFill>
                <a:latin typeface="Yu Gothic"/>
                <a:ea typeface="Yu Gothic"/>
              </a:rPr>
              <a:t>・入居者様問い合わせの一次対応</a:t>
            </a:r>
          </a:p>
          <a:p>
            <a:pPr algn="l"/>
            <a:r>
              <a:rPr lang="ja-JP" sz="1800" b="1">
                <a:solidFill>
                  <a:srgbClr val="111111"/>
                </a:solidFill>
                <a:latin typeface="Yu Gothic"/>
                <a:ea typeface="Yu Gothic"/>
              </a:rPr>
              <a:t>・オーナー様訪問前の情報整理</a:t>
            </a:r>
          </a:p>
          <a:p>
            <a:pPr algn="l"/>
            <a:r>
              <a:rPr lang="ja-JP" sz="1800" b="1">
                <a:solidFill>
                  <a:srgbClr val="111111"/>
                </a:solidFill>
                <a:latin typeface="Yu Gothic"/>
                <a:ea typeface="Yu Gothic"/>
              </a:rPr>
              <a:t>・契約書・通知文の下書き</a:t>
            </a:r>
          </a:p>
          <a:p>
            <a:pPr algn="l"/>
            <a:r>
              <a:rPr lang="ja-JP" sz="1800" b="1">
                <a:solidFill>
                  <a:srgbClr val="111111"/>
                </a:solidFill>
                <a:latin typeface="Yu Gothic"/>
                <a:ea typeface="Yu Gothic"/>
              </a:rPr>
              <a:t>・社内情報を便利FAQ化</a:t>
            </a:r>
          </a:p>
        </p:txBody>
      </p:sp>
      <p:sp>
        <p:nvSpPr>
          <p:cNvPr id="148" name="Text 148"/>
          <p:cNvSpPr txBox="1"/>
          <p:nvPr/>
        </p:nvSpPr>
        <p:spPr>
          <a:xfrm>
            <a:off x="444500" y="6413500"/>
            <a:ext cx="4445000" cy="228600"/>
          </a:xfrm>
          <a:prstGeom prst="rect">
            <a:avLst/>
          </a:prstGeom>
          <a:noFill/>
          <a:ln>
            <a:noFill/>
          </a:ln>
        </p:spPr>
        <p:txBody>
          <a:bodyPr wrap="square" anchor="t" lIns="12700" tIns="12700" rIns="12700" bIns="12700"/>
          <a:lstStyle/>
          <a:p>
            <a:pPr algn="l"/>
            <a:r>
              <a:rPr lang="ja-JP" sz="1400" b="1">
                <a:solidFill>
                  <a:srgbClr val="888888"/>
                </a:solidFill>
                <a:latin typeface="Yu Gothic"/>
                <a:ea typeface="Yu Gothic"/>
              </a:rPr>
              <a:t>Copyright @Field X inc. All rights reserved.</a:t>
            </a:r>
          </a:p>
        </p:txBody>
      </p:sp>
      <p:sp>
        <p:nvSpPr>
          <p:cNvPr id="149" name="Shape 149"/>
          <p:cNvSpPr txBox="1"/>
          <p:nvPr/>
        </p:nvSpPr>
        <p:spPr>
          <a:xfrm>
            <a:off x="11874500" y="0"/>
            <a:ext cx="317500" cy="6858000"/>
          </a:xfrm>
          <a:prstGeom prst="rect">
            <a:avLst/>
          </a:prstGeom>
          <a:solidFill>
            <a:srgbClr val="ff1818"/>
          </a:solidFill>
          <a:ln>
            <a:noFill/>
          </a:ln>
        </p:spPr>
      </p:sp>
      <p:sp>
        <p:nvSpPr>
          <p:cNvPr id="150" name="Text 150"/>
          <p:cNvSpPr txBox="1"/>
          <p:nvPr/>
        </p:nvSpPr>
        <p:spPr>
          <a:xfrm>
            <a:off x="11925300" y="6413500"/>
            <a:ext cx="228600" cy="254000"/>
          </a:xfrm>
          <a:prstGeom prst="rect">
            <a:avLst/>
          </a:prstGeom>
          <a:noFill/>
          <a:ln>
            <a:noFill/>
          </a:ln>
        </p:spPr>
        <p:txBody>
          <a:bodyPr wrap="square" anchor="t" lIns="12700" tIns="12700" rIns="12700" bIns="12700"/>
          <a:lstStyle/>
          <a:p>
            <a:pPr algn="c"/>
            <a:r>
              <a:rPr lang="ja-JP" sz="2000" b="1">
                <a:solidFill>
                  <a:srgbClr val="ffffff"/>
                </a:solidFill>
                <a:latin typeface="Yu Gothic"/>
                <a:ea typeface="Yu Gothic"/>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20700" y="368300"/>
            <a:ext cx="1397000" cy="177800"/>
          </a:xfrm>
          <a:prstGeom prst="rect">
            <a:avLst/>
          </a:prstGeom>
          <a:noFill/>
          <a:ln>
            <a:noFill/>
          </a:ln>
        </p:spPr>
        <p:txBody>
          <a:bodyPr wrap="square" anchor="t" lIns="12700" tIns="12700" rIns="12700" bIns="12700"/>
          <a:lstStyle/>
          <a:p>
            <a:pPr algn="l"/>
            <a:r>
              <a:rPr lang="ja-JP" sz="1500" b="1">
                <a:solidFill>
                  <a:srgbClr val="ff1818"/>
                </a:solidFill>
                <a:latin typeface="Yu Gothic"/>
                <a:ea typeface="Yu Gothic"/>
              </a:rPr>
              <a:t>Next</a:t>
            </a:r>
          </a:p>
        </p:txBody>
      </p:sp>
      <p:sp>
        <p:nvSpPr>
          <p:cNvPr id="3" name="Text 3"/>
          <p:cNvSpPr txBox="1"/>
          <p:nvPr/>
        </p:nvSpPr>
        <p:spPr>
          <a:xfrm>
            <a:off x="520700" y="596900"/>
            <a:ext cx="7302500" cy="368300"/>
          </a:xfrm>
          <a:prstGeom prst="rect">
            <a:avLst/>
          </a:prstGeom>
          <a:noFill/>
          <a:ln>
            <a:noFill/>
          </a:ln>
        </p:spPr>
        <p:txBody>
          <a:bodyPr wrap="square" anchor="t" lIns="12700" tIns="12700" rIns="12700" bIns="12700"/>
          <a:lstStyle/>
          <a:p>
            <a:pPr algn="l"/>
            <a:r>
              <a:rPr lang="ja-JP" sz="3000" b="1">
                <a:solidFill>
                  <a:srgbClr val="111111"/>
                </a:solidFill>
                <a:latin typeface="Yu Gothic"/>
                <a:ea typeface="Yu Gothic"/>
              </a:rPr>
              <a:t>今後ご提示予定の資料</a:t>
            </a:r>
          </a:p>
        </p:txBody>
      </p:sp>
      <p:sp>
        <p:nvSpPr>
          <p:cNvPr id="4" name="Text 4"/>
          <p:cNvSpPr txBox="1"/>
          <p:nvPr/>
        </p:nvSpPr>
        <p:spPr>
          <a:xfrm>
            <a:off x="889000" y="1555750"/>
            <a:ext cx="571500" cy="368300"/>
          </a:xfrm>
          <a:prstGeom prst="rect">
            <a:avLst/>
          </a:prstGeom>
          <a:noFill/>
          <a:ln>
            <a:noFill/>
          </a:ln>
        </p:spPr>
        <p:txBody>
          <a:bodyPr wrap="square" anchor="t" lIns="12700" tIns="12700" rIns="12700" bIns="12700"/>
          <a:lstStyle/>
          <a:p>
            <a:pPr algn="l"/>
            <a:r>
              <a:rPr lang="ja-JP" sz="4000" b="1">
                <a:solidFill>
                  <a:srgbClr val="ff1818"/>
                </a:solidFill>
                <a:latin typeface="Yu Gothic"/>
                <a:ea typeface="Yu Gothic"/>
              </a:rPr>
              <a:t>01</a:t>
            </a:r>
          </a:p>
        </p:txBody>
      </p:sp>
      <p:sp>
        <p:nvSpPr>
          <p:cNvPr id="5" name="Text 5"/>
          <p:cNvSpPr txBox="1"/>
          <p:nvPr/>
        </p:nvSpPr>
        <p:spPr>
          <a:xfrm>
            <a:off x="1809750" y="1606550"/>
            <a:ext cx="3556000" cy="266700"/>
          </a:xfrm>
          <a:prstGeom prst="rect">
            <a:avLst/>
          </a:prstGeom>
          <a:noFill/>
          <a:ln>
            <a:noFill/>
          </a:ln>
        </p:spPr>
        <p:txBody>
          <a:bodyPr wrap="square" anchor="t" lIns="12700" tIns="12700" rIns="12700" bIns="12700"/>
          <a:lstStyle/>
          <a:p>
            <a:pPr algn="l"/>
            <a:r>
              <a:rPr lang="ja-JP" sz="2800" b="1">
                <a:solidFill>
                  <a:srgbClr val="111111"/>
                </a:solidFill>
                <a:latin typeface="Yu Gothic"/>
                <a:ea typeface="Yu Gothic"/>
              </a:rPr>
              <a:t>改善版モック</a:t>
            </a:r>
          </a:p>
        </p:txBody>
      </p:sp>
      <p:sp>
        <p:nvSpPr>
          <p:cNvPr id="6" name="Text 6"/>
          <p:cNvSpPr txBox="1"/>
          <p:nvPr/>
        </p:nvSpPr>
        <p:spPr>
          <a:xfrm>
            <a:off x="1841500" y="2000250"/>
            <a:ext cx="7747000" cy="330200"/>
          </a:xfrm>
          <a:prstGeom prst="rect">
            <a:avLst/>
          </a:prstGeom>
          <a:noFill/>
          <a:ln>
            <a:noFill/>
          </a:ln>
        </p:spPr>
        <p:txBody>
          <a:bodyPr wrap="square" anchor="t" lIns="12700" tIns="12700" rIns="12700" bIns="12700"/>
          <a:lstStyle/>
          <a:p>
            <a:pPr algn="l"/>
            <a:r>
              <a:rPr lang="ja-JP" sz="2100">
                <a:solidFill>
                  <a:srgbClr val="666666"/>
                </a:solidFill>
                <a:latin typeface="Yu Gothic"/>
                <a:ea typeface="Yu Gothic"/>
              </a:rPr>
              <a:t>今回いただいたご意見を反映し、画面・操作・ステータスの見え方を作り込みます。</a:t>
            </a:r>
          </a:p>
        </p:txBody>
      </p:sp>
      <p:sp>
        <p:nvSpPr>
          <p:cNvPr id="7" name="Text 7"/>
          <p:cNvSpPr txBox="1"/>
          <p:nvPr/>
        </p:nvSpPr>
        <p:spPr>
          <a:xfrm>
            <a:off x="889000" y="2921000"/>
            <a:ext cx="571500" cy="368300"/>
          </a:xfrm>
          <a:prstGeom prst="rect">
            <a:avLst/>
          </a:prstGeom>
          <a:noFill/>
          <a:ln>
            <a:noFill/>
          </a:ln>
        </p:spPr>
        <p:txBody>
          <a:bodyPr wrap="square" anchor="t" lIns="12700" tIns="12700" rIns="12700" bIns="12700"/>
          <a:lstStyle/>
          <a:p>
            <a:pPr algn="l"/>
            <a:r>
              <a:rPr lang="ja-JP" sz="4000" b="1">
                <a:solidFill>
                  <a:srgbClr val="ff1818"/>
                </a:solidFill>
                <a:latin typeface="Yu Gothic"/>
                <a:ea typeface="Yu Gothic"/>
              </a:rPr>
              <a:t>02</a:t>
            </a:r>
          </a:p>
        </p:txBody>
      </p:sp>
      <p:sp>
        <p:nvSpPr>
          <p:cNvPr id="8" name="Text 8"/>
          <p:cNvSpPr txBox="1"/>
          <p:nvPr/>
        </p:nvSpPr>
        <p:spPr>
          <a:xfrm>
            <a:off x="1809750" y="2971800"/>
            <a:ext cx="3556000" cy="266700"/>
          </a:xfrm>
          <a:prstGeom prst="rect">
            <a:avLst/>
          </a:prstGeom>
          <a:noFill/>
          <a:ln>
            <a:noFill/>
          </a:ln>
        </p:spPr>
        <p:txBody>
          <a:bodyPr wrap="square" anchor="t" lIns="12700" tIns="12700" rIns="12700" bIns="12700"/>
          <a:lstStyle/>
          <a:p>
            <a:pPr algn="l"/>
            <a:r>
              <a:rPr lang="ja-JP" sz="2800" b="1">
                <a:solidFill>
                  <a:srgbClr val="111111"/>
                </a:solidFill>
                <a:latin typeface="Yu Gothic"/>
                <a:ea typeface="Yu Gothic"/>
              </a:rPr>
              <a:t>機能・要件説明資料</a:t>
            </a:r>
          </a:p>
        </p:txBody>
      </p:sp>
      <p:sp>
        <p:nvSpPr>
          <p:cNvPr id="9" name="Text 9"/>
          <p:cNvSpPr txBox="1"/>
          <p:nvPr/>
        </p:nvSpPr>
        <p:spPr>
          <a:xfrm>
            <a:off x="1841500" y="3365500"/>
            <a:ext cx="7747000" cy="330200"/>
          </a:xfrm>
          <a:prstGeom prst="rect">
            <a:avLst/>
          </a:prstGeom>
          <a:noFill/>
          <a:ln>
            <a:noFill/>
          </a:ln>
        </p:spPr>
        <p:txBody>
          <a:bodyPr wrap="square" anchor="t" lIns="12700" tIns="12700" rIns="12700" bIns="12700"/>
          <a:lstStyle/>
          <a:p>
            <a:pPr algn="l"/>
            <a:r>
              <a:rPr lang="ja-JP" sz="2100">
                <a:solidFill>
                  <a:srgbClr val="666666"/>
                </a:solidFill>
                <a:latin typeface="Yu Gothic"/>
                <a:ea typeface="Yu Gothic"/>
              </a:rPr>
              <a:t>スクリーンショットごとに、必要機能・データ項目・運用イメージを整理します。</a:t>
            </a:r>
          </a:p>
        </p:txBody>
      </p:sp>
      <p:sp>
        <p:nvSpPr>
          <p:cNvPr id="10" name="Text 10"/>
          <p:cNvSpPr txBox="1"/>
          <p:nvPr/>
        </p:nvSpPr>
        <p:spPr>
          <a:xfrm>
            <a:off x="889000" y="4286250"/>
            <a:ext cx="571500" cy="368300"/>
          </a:xfrm>
          <a:prstGeom prst="rect">
            <a:avLst/>
          </a:prstGeom>
          <a:noFill/>
          <a:ln>
            <a:noFill/>
          </a:ln>
        </p:spPr>
        <p:txBody>
          <a:bodyPr wrap="square" anchor="t" lIns="12700" tIns="12700" rIns="12700" bIns="12700"/>
          <a:lstStyle/>
          <a:p>
            <a:pPr algn="l"/>
            <a:r>
              <a:rPr lang="ja-JP" sz="4000" b="1">
                <a:solidFill>
                  <a:srgbClr val="ff1818"/>
                </a:solidFill>
                <a:latin typeface="Yu Gothic"/>
                <a:ea typeface="Yu Gothic"/>
              </a:rPr>
              <a:t>03</a:t>
            </a:r>
          </a:p>
        </p:txBody>
      </p:sp>
      <p:sp>
        <p:nvSpPr>
          <p:cNvPr id="11" name="Text 11"/>
          <p:cNvSpPr txBox="1"/>
          <p:nvPr/>
        </p:nvSpPr>
        <p:spPr>
          <a:xfrm>
            <a:off x="1809750" y="4337050"/>
            <a:ext cx="3556000" cy="266700"/>
          </a:xfrm>
          <a:prstGeom prst="rect">
            <a:avLst/>
          </a:prstGeom>
          <a:noFill/>
          <a:ln>
            <a:noFill/>
          </a:ln>
        </p:spPr>
        <p:txBody>
          <a:bodyPr wrap="square" anchor="t" lIns="12700" tIns="12700" rIns="12700" bIns="12700"/>
          <a:lstStyle/>
          <a:p>
            <a:pPr algn="l"/>
            <a:r>
              <a:rPr lang="ja-JP" sz="2800" b="1">
                <a:solidFill>
                  <a:srgbClr val="111111"/>
                </a:solidFill>
                <a:latin typeface="Yu Gothic"/>
                <a:ea typeface="Yu Gothic"/>
              </a:rPr>
              <a:t>開発計画</a:t>
            </a:r>
          </a:p>
        </p:txBody>
      </p:sp>
      <p:sp>
        <p:nvSpPr>
          <p:cNvPr id="12" name="Text 12"/>
          <p:cNvSpPr txBox="1"/>
          <p:nvPr/>
        </p:nvSpPr>
        <p:spPr>
          <a:xfrm>
            <a:off x="1841500" y="4730750"/>
            <a:ext cx="7747000" cy="330200"/>
          </a:xfrm>
          <a:prstGeom prst="rect">
            <a:avLst/>
          </a:prstGeom>
          <a:noFill/>
          <a:ln>
            <a:noFill/>
          </a:ln>
        </p:spPr>
        <p:txBody>
          <a:bodyPr wrap="square" anchor="t" lIns="12700" tIns="12700" rIns="12700" bIns="12700"/>
          <a:lstStyle/>
          <a:p>
            <a:pPr algn="l"/>
            <a:r>
              <a:rPr lang="ja-JP" sz="2100">
                <a:solidFill>
                  <a:srgbClr val="666666"/>
                </a:solidFill>
                <a:latin typeface="Yu Gothic"/>
                <a:ea typeface="Yu Gothic"/>
              </a:rPr>
              <a:t>ご契約後の要件定義、設計、開発、テスト、導入、改善の流れを具体化します。</a:t>
            </a:r>
          </a:p>
        </p:txBody>
      </p:sp>
      <p:sp>
        <p:nvSpPr>
          <p:cNvPr id="13" name="Shape 13"/>
          <p:cNvSpPr txBox="1"/>
          <p:nvPr/>
        </p:nvSpPr>
        <p:spPr>
          <a:xfrm>
            <a:off x="762000" y="5683250"/>
            <a:ext cx="10414000" cy="482600"/>
          </a:xfrm>
          <a:prstGeom prst="roundRect">
            <a:avLst/>
          </a:prstGeom>
          <a:solidFill>
            <a:srgbClr val="ff1818"/>
          </a:solidFill>
          <a:ln w="6350">
            <a:solidFill>
              <a:srgbClr val="ff1818"/>
            </a:solidFill>
          </a:ln>
        </p:spPr>
      </p:sp>
      <p:sp>
        <p:nvSpPr>
          <p:cNvPr id="14" name="Text 14"/>
          <p:cNvSpPr txBox="1"/>
          <p:nvPr/>
        </p:nvSpPr>
        <p:spPr>
          <a:xfrm>
            <a:off x="952500" y="5816600"/>
            <a:ext cx="9525000" cy="215900"/>
          </a:xfrm>
          <a:prstGeom prst="rect">
            <a:avLst/>
          </a:prstGeom>
          <a:noFill/>
          <a:ln>
            <a:noFill/>
          </a:ln>
        </p:spPr>
        <p:txBody>
          <a:bodyPr wrap="square" anchor="t" lIns="12700" tIns="12700" rIns="12700" bIns="12700"/>
          <a:lstStyle/>
          <a:p>
            <a:pPr algn="l"/>
            <a:r>
              <a:rPr lang="ja-JP" sz="2100" b="1">
                <a:solidFill>
                  <a:srgbClr val="ffffff"/>
                </a:solidFill>
                <a:latin typeface="Yu Gothic"/>
                <a:ea typeface="Yu Gothic"/>
              </a:rPr>
              <a:t>まずは、社内稟議・他社比較で使える状態まで、モックと画面別説明資料を整えます。</a:t>
            </a:r>
          </a:p>
        </p:txBody>
      </p:sp>
      <p:sp>
        <p:nvSpPr>
          <p:cNvPr id="15" name="Text 15"/>
          <p:cNvSpPr txBox="1"/>
          <p:nvPr/>
        </p:nvSpPr>
        <p:spPr>
          <a:xfrm>
            <a:off x="444500" y="6413500"/>
            <a:ext cx="4445000" cy="228600"/>
          </a:xfrm>
          <a:prstGeom prst="rect">
            <a:avLst/>
          </a:prstGeom>
          <a:noFill/>
          <a:ln>
            <a:noFill/>
          </a:ln>
        </p:spPr>
        <p:txBody>
          <a:bodyPr wrap="square" anchor="t" lIns="12700" tIns="12700" rIns="12700" bIns="12700"/>
          <a:lstStyle/>
          <a:p>
            <a:pPr algn="l"/>
            <a:r>
              <a:rPr lang="ja-JP" sz="1400" b="1">
                <a:solidFill>
                  <a:srgbClr val="888888"/>
                </a:solidFill>
                <a:latin typeface="Yu Gothic"/>
                <a:ea typeface="Yu Gothic"/>
              </a:rPr>
              <a:t>Copyright @Field X inc. All rights reserved.</a:t>
            </a:r>
          </a:p>
        </p:txBody>
      </p:sp>
      <p:sp>
        <p:nvSpPr>
          <p:cNvPr id="16" name="Shape 16"/>
          <p:cNvSpPr txBox="1"/>
          <p:nvPr/>
        </p:nvSpPr>
        <p:spPr>
          <a:xfrm>
            <a:off x="11874500" y="0"/>
            <a:ext cx="317500" cy="6858000"/>
          </a:xfrm>
          <a:prstGeom prst="rect">
            <a:avLst/>
          </a:prstGeom>
          <a:solidFill>
            <a:srgbClr val="ff1818"/>
          </a:solidFill>
          <a:ln>
            <a:noFill/>
          </a:ln>
        </p:spPr>
      </p:sp>
      <p:sp>
        <p:nvSpPr>
          <p:cNvPr id="17" name="Text 17"/>
          <p:cNvSpPr txBox="1"/>
          <p:nvPr/>
        </p:nvSpPr>
        <p:spPr>
          <a:xfrm>
            <a:off x="11925300" y="6413500"/>
            <a:ext cx="228600" cy="254000"/>
          </a:xfrm>
          <a:prstGeom prst="rect">
            <a:avLst/>
          </a:prstGeom>
          <a:noFill/>
          <a:ln>
            <a:noFill/>
          </a:ln>
        </p:spPr>
        <p:txBody>
          <a:bodyPr wrap="square" anchor="t" lIns="12700" tIns="12700" rIns="12700" bIns="12700"/>
          <a:lstStyle/>
          <a:p>
            <a:pPr algn="c"/>
            <a:r>
              <a:rPr lang="ja-JP" sz="2000" b="1">
                <a:solidFill>
                  <a:srgbClr val="ffffff"/>
                </a:solidFill>
                <a:latin typeface="Yu Gothic"/>
                <a:ea typeface="Yu Gothic"/>
              </a:rPr>
              <a:t>16</a:t>
            </a:r>
          </a:p>
        </p:txBody>
      </p:sp>
    </p:spTree>
  </p:cSld>
  <p:clrMapOvr>
    <a:masterClrMapping/>
  </p:clrMapOvr>
</p:sld>
</file>

<file path=ppt/theme/theme1.xml><?xml version="1.0" encoding="utf-8"?>
<a:theme xmlns:a="http://schemas.openxmlformats.org/drawingml/2006/main" name="Field X">
  <a:themeElements>
    <a:clrScheme name="Office">
      <a:dk1>
        <a:srgbClr val="000000"/>
      </a:dk1>
      <a:lt1>
        <a:srgbClr val="FFFFFF"/>
      </a:lt1>
      <a:dk2>
        <a:srgbClr val="1F1F1F"/>
      </a:dk2>
      <a:lt2>
        <a:srgbClr val="F5F5F5"/>
      </a:lt2>
      <a:accent1>
        <a:srgbClr val="FF1818"/>
      </a:accent1>
      <a:accent2>
        <a:srgbClr val="666666"/>
      </a:accent2>
      <a:accent3>
        <a:srgbClr val="E6E6E6"/>
      </a:accent3>
      <a:accent4>
        <a:srgbClr val="BFBFBF"/>
      </a:accent4>
      <a:accent5>
        <a:srgbClr val="7F7F7F"/>
      </a:accent5>
      <a:accent6>
        <a:srgbClr val="D90000"/>
      </a:accent6>
      <a:hlink>
        <a:srgbClr val="0563C1"/>
      </a:hlink>
      <a:folHlink>
        <a:srgbClr val="954F72"/>
      </a:folHlink>
    </a:clrScheme>
    <a:fontScheme name="Office">
      <a:majorFont>
        <a:latin typeface="Yu Gothic"/>
        <a:ea typeface="Yu Gothic"/>
      </a:majorFont>
      <a:minorFont>
        <a:latin typeface="Yu Gothic"/>
        <a:ea typeface="Yu Gothic"/>
      </a:minorFont>
    </a:fontScheme>
    <a:fmtScheme name="Offic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Codex</Application>
  <PresentationFormat>On-screen Show (16:9)</PresentationFormat>
  <Slides>16</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基幹管理システム ご提案資料</dc:title>
  <dc:creator>Field X</dc:creator>
  <cp:lastModifiedBy>Field X</cp:lastModifiedBy>
  <dcterms:created xsi:type="dcterms:W3CDTF">2026-04-25T04:36:11Z</dcterms:created>
  <dcterms:modified xsi:type="dcterms:W3CDTF">2026-04-25T04:36:11Z</dcterms:modified>
</cp:coreProperties>
</file>