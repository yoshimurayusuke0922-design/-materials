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60920" y="-91440"/>
            <a:ext cx="5120640" cy="7223760"/>
          </a:xfrm>
          <a:prstGeom prst="ellipse">
            <a:avLst/>
          </a:prstGeom>
          <a:solidFill>
            <a:srgbClr val="FF1818"/>
          </a:solidFill>
          <a:ln w="9525">
            <a:solidFill>
              <a:srgbClr val="FF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17320" y="5257800"/>
            <a:ext cx="3794760" cy="2377440"/>
          </a:xfrm>
          <a:prstGeom prst="ellipse">
            <a:avLst/>
          </a:prstGeom>
          <a:solidFill>
            <a:srgbClr val="FF1818"/>
          </a:solidFill>
          <a:ln w="9525">
            <a:solidFill>
              <a:srgbClr val="FF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11880" y="-2011680"/>
            <a:ext cx="3108960" cy="3566160"/>
          </a:xfrm>
          <a:prstGeom prst="ellipse">
            <a:avLst/>
          </a:prstGeom>
          <a:solidFill>
            <a:srgbClr val="FFB0B0"/>
          </a:solidFill>
          <a:ln w="9525">
            <a:solidFill>
              <a:srgbClr val="FF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92040" y="0"/>
            <a:ext cx="1783080" cy="1691640"/>
          </a:xfrm>
          <a:prstGeom prst="rect">
            <a:avLst/>
          </a:prstGeom>
          <a:solidFill>
            <a:srgbClr val="F2F2F2"/>
          </a:solidFill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2084831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21212"/>
                </a:solidFill>
                <a:latin typeface="Yu Gothic"/>
              </a:defRPr>
            </a:pPr>
            <a:r>
              <a:t>株式会社三幸　御中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788920"/>
            <a:ext cx="66751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21212"/>
                </a:solidFill>
                <a:latin typeface="Yu Gothic"/>
              </a:defRPr>
            </a:pPr>
            <a:r>
              <a:t>基幹管理システムの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3584448"/>
            <a:ext cx="566928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21212"/>
                </a:solidFill>
                <a:latin typeface="Yu Gothic"/>
              </a:defRPr>
            </a:pPr>
            <a:r>
              <a:t>ご提案資料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4800600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21212"/>
                </a:solidFill>
                <a:latin typeface="Yu Gothic"/>
              </a:defRPr>
            </a:pPr>
            <a:r>
              <a:t>2026年04月25日</a:t>
            </a:r>
          </a:p>
        </p:txBody>
      </p:sp>
      <p:sp>
        <p:nvSpPr>
          <p:cNvPr id="10" name="Oval 9"/>
          <p:cNvSpPr/>
          <p:nvPr/>
        </p:nvSpPr>
        <p:spPr>
          <a:xfrm>
            <a:off x="5577840" y="6071616"/>
            <a:ext cx="91440" cy="91440"/>
          </a:xfrm>
          <a:prstGeom prst="ellipse">
            <a:avLst/>
          </a:prstGeom>
          <a:solidFill>
            <a:srgbClr val="FF1818"/>
          </a:solidFill>
          <a:ln w="9525">
            <a:solidFill>
              <a:srgbClr val="FF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42432" y="5980176"/>
            <a:ext cx="91440" cy="91440"/>
          </a:xfrm>
          <a:prstGeom prst="ellipse">
            <a:avLst/>
          </a:prstGeom>
          <a:solidFill>
            <a:srgbClr val="FF1818"/>
          </a:solidFill>
          <a:ln w="9525">
            <a:solidFill>
              <a:srgbClr val="FF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42432" y="6163056"/>
            <a:ext cx="91440" cy="91440"/>
          </a:xfrm>
          <a:prstGeom prst="ellipse">
            <a:avLst/>
          </a:prstGeom>
          <a:solidFill>
            <a:srgbClr val="FF1818"/>
          </a:solidFill>
          <a:ln w="9525">
            <a:solidFill>
              <a:srgbClr val="FF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07024" y="6071616"/>
            <a:ext cx="91440" cy="91440"/>
          </a:xfrm>
          <a:prstGeom prst="ellipse">
            <a:avLst/>
          </a:prstGeom>
          <a:solidFill>
            <a:srgbClr val="FF1818"/>
          </a:solidFill>
          <a:ln w="9525">
            <a:solidFill>
              <a:srgbClr val="FF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16752" y="5879592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21212"/>
                </a:solidFill>
                <a:latin typeface="Yu Gothic"/>
              </a:defRPr>
            </a:pPr>
            <a:r>
              <a:t>Field 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2336" cy="6858000"/>
          </a:xfrm>
          <a:prstGeom prst="rect">
            <a:avLst/>
          </a:prstGeom>
          <a:solidFill>
            <a:srgbClr val="FF1818"/>
          </a:solidFill>
          <a:ln w="9525">
            <a:solidFill>
              <a:srgbClr val="FF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6309360"/>
            <a:ext cx="25603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329184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1818"/>
                </a:solidFill>
                <a:latin typeface="Yu Gothic"/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713232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5A5A5A"/>
                </a:solidFill>
                <a:latin typeface="Yu Gothic"/>
              </a:defRPr>
            </a:pPr>
            <a:r>
              <a:t>目次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00784" y="2066543"/>
            <a:ext cx="749808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1818"/>
                </a:solidFill>
                <a:latin typeface="Yu Gothic"/>
              </a:defRPr>
            </a:pPr>
            <a: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2048255"/>
            <a:ext cx="27432" cy="621792"/>
          </a:xfrm>
          <a:prstGeom prst="rect">
            <a:avLst/>
          </a:prstGeom>
          <a:solidFill>
            <a:srgbClr val="FF1818"/>
          </a:solidFill>
          <a:ln w="9525">
            <a:solidFill>
              <a:srgbClr val="FF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44368" y="2139696"/>
            <a:ext cx="621792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1818"/>
                </a:solidFill>
                <a:latin typeface="Yu Gothic"/>
              </a:defRPr>
            </a:pPr>
            <a:r>
              <a:t>これまでにお伺いしたこと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00784" y="3209544"/>
            <a:ext cx="749808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1818"/>
                </a:solidFill>
                <a:latin typeface="Yu Gothic"/>
              </a:defRPr>
            </a:pPr>
            <a: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3191256"/>
            <a:ext cx="27432" cy="621792"/>
          </a:xfrm>
          <a:prstGeom prst="rect">
            <a:avLst/>
          </a:prstGeom>
          <a:solidFill>
            <a:srgbClr val="FF1818"/>
          </a:solidFill>
          <a:ln w="9525">
            <a:solidFill>
              <a:srgbClr val="FF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44368" y="3282696"/>
            <a:ext cx="621792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1818"/>
                </a:solidFill>
                <a:latin typeface="Yu Gothic"/>
              </a:defRPr>
            </a:pPr>
            <a:r>
              <a:t>ご提案の要旨・デモンストレーション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0784" y="4352544"/>
            <a:ext cx="749808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1818"/>
                </a:solidFill>
                <a:latin typeface="Yu Gothic"/>
              </a:defRPr>
            </a:pPr>
            <a:r>
              <a:t>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4334256"/>
            <a:ext cx="27432" cy="621792"/>
          </a:xfrm>
          <a:prstGeom prst="rect">
            <a:avLst/>
          </a:prstGeom>
          <a:solidFill>
            <a:srgbClr val="FF1818"/>
          </a:solidFill>
          <a:ln w="9525">
            <a:solidFill>
              <a:srgbClr val="FF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44368" y="4425696"/>
            <a:ext cx="621792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1818"/>
                </a:solidFill>
                <a:latin typeface="Yu Gothic"/>
              </a:defRPr>
            </a:pPr>
            <a:r>
              <a:t>今後の進め方のイメージ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1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2286000"/>
            <a:ext cx="2926080" cy="155448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800" b="1">
                <a:solidFill>
                  <a:srgbClr val="FF7878"/>
                </a:solidFill>
                <a:latin typeface="Yu Gothic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27632" y="3273552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Yu Gothic"/>
              </a:defRPr>
            </a:pPr>
            <a:r>
              <a:t>これまでにお伺いしたこと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2336" cy="6858000"/>
          </a:xfrm>
          <a:prstGeom prst="rect">
            <a:avLst/>
          </a:prstGeom>
          <a:solidFill>
            <a:srgbClr val="FF1818"/>
          </a:solidFill>
          <a:ln w="9525">
            <a:solidFill>
              <a:srgbClr val="FF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6309360"/>
            <a:ext cx="25603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310896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1818"/>
                </a:solidFill>
                <a:latin typeface="Yu Gothic"/>
              </a:defRPr>
            </a:pPr>
            <a:r>
              <a:t>Chapter1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640080"/>
            <a:ext cx="713232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4E4E4E"/>
                </a:solidFill>
                <a:latin typeface="Yu Gothic"/>
              </a:defRPr>
            </a:pPr>
            <a:r>
              <a:t>本資料の位置づけ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353312"/>
            <a:ext cx="5212080" cy="2788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72784" y="1353312"/>
            <a:ext cx="5212080" cy="2788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609344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1818"/>
                </a:solidFill>
                <a:latin typeface="Yu Gothic"/>
              </a:defRPr>
            </a:pPr>
            <a:r>
              <a:t>今回の目的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47104" y="1609344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1818"/>
                </a:solidFill>
                <a:latin typeface="Yu Gothic"/>
              </a:defRPr>
            </a:pPr>
            <a:r>
              <a:t>確認いただく観点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84831"/>
            <a:ext cx="4480560" cy="155448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52B36"/>
                </a:solidFill>
                <a:latin typeface="Yu Gothic"/>
              </a:defRPr>
            </a:pPr>
            <a:r>
              <a:t>・確認済みモックを、提案資料として整理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52B36"/>
                </a:solidFill>
                <a:latin typeface="Yu Gothic"/>
              </a:defRPr>
            </a:pPr>
            <a:r>
              <a:t>・開発範囲・主要機能・導入後の流れを明確化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52B36"/>
                </a:solidFill>
                <a:latin typeface="Yu Gothic"/>
              </a:defRPr>
            </a:pPr>
            <a:r>
              <a:t>・画面ごとに要件と機能を確認できる形にする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084831"/>
            <a:ext cx="4480560" cy="155448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52B36"/>
                </a:solidFill>
                <a:latin typeface="Yu Gothic"/>
              </a:defRPr>
            </a:pPr>
            <a:r>
              <a:t>・業務に合わせたカスタム開発の方向性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52B36"/>
                </a:solidFill>
                <a:latin typeface="Yu Gothic"/>
              </a:defRPr>
            </a:pPr>
            <a:r>
              <a:t>・初期開発で優先する画面・帳票・ワークフロー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52B36"/>
                </a:solidFill>
                <a:latin typeface="Yu Gothic"/>
              </a:defRPr>
            </a:pPr>
            <a:r>
              <a:t>・将来的なAI活用まで見据えた拡張方針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590288"/>
            <a:ext cx="3154680" cy="10789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87552" y="4745736"/>
            <a:ext cx="36576" cy="329184"/>
          </a:xfrm>
          <a:prstGeom prst="rect">
            <a:avLst/>
          </a:prstGeom>
          <a:solidFill>
            <a:srgbClr val="FF1818"/>
          </a:solidFill>
          <a:ln w="9525">
            <a:solidFill>
              <a:srgbClr val="FF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4709159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1818"/>
                </a:solidFill>
                <a:latin typeface="Yu Gothic"/>
              </a:defRPr>
            </a:pPr>
            <a:r>
              <a:t>提出物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5193792"/>
            <a:ext cx="2651760" cy="365759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52B36"/>
                </a:solidFill>
                <a:latin typeface="Yu Gothic"/>
              </a:defRPr>
            </a:pPr>
            <a:r>
              <a:t>改善版モック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52B36"/>
                </a:solidFill>
                <a:latin typeface="Yu Gothic"/>
              </a:defRPr>
            </a:pPr>
            <a:r>
              <a:t>画面別要件資料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52B36"/>
                </a:solidFill>
                <a:latin typeface="Yu Gothic"/>
              </a:defRPr>
            </a:pPr>
            <a:r>
              <a:t>開発の進め方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90288" y="4590288"/>
            <a:ext cx="3154680" cy="10789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54880" y="4745736"/>
            <a:ext cx="36576" cy="329184"/>
          </a:xfrm>
          <a:prstGeom prst="rect">
            <a:avLst/>
          </a:prstGeom>
          <a:solidFill>
            <a:srgbClr val="FF1818"/>
          </a:solidFill>
          <a:ln w="9525">
            <a:solidFill>
              <a:srgbClr val="FF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4709159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1818"/>
                </a:solidFill>
                <a:latin typeface="Yu Gothic"/>
              </a:defRPr>
            </a:pPr>
            <a:r>
              <a:t>資料の方向性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5193792"/>
            <a:ext cx="2651760" cy="365759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52B36"/>
                </a:solidFill>
                <a:latin typeface="Yu Gothic"/>
              </a:defRPr>
            </a:pPr>
            <a:r>
              <a:t>画面を軸に整理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52B36"/>
                </a:solidFill>
                <a:latin typeface="Yu Gothic"/>
              </a:defRPr>
            </a:pPr>
            <a:r>
              <a:t>機能範囲を明確化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52B36"/>
                </a:solidFill>
                <a:latin typeface="Yu Gothic"/>
              </a:defRPr>
            </a:pPr>
            <a:r>
              <a:t>導入後の流れを説明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57616" y="4590288"/>
            <a:ext cx="3154680" cy="10789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22208" y="4745736"/>
            <a:ext cx="36576" cy="329184"/>
          </a:xfrm>
          <a:prstGeom prst="rect">
            <a:avLst/>
          </a:prstGeom>
          <a:solidFill>
            <a:srgbClr val="FF1818"/>
          </a:solidFill>
          <a:ln w="9525">
            <a:solidFill>
              <a:srgbClr val="FF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13648" y="4709159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1818"/>
                </a:solidFill>
                <a:latin typeface="Yu Gothic"/>
              </a:defRPr>
            </a:pPr>
            <a:r>
              <a:t>次に確認したいこと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13648" y="5193792"/>
            <a:ext cx="2651760" cy="365759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52B36"/>
                </a:solidFill>
                <a:latin typeface="Yu Gothic"/>
              </a:defRPr>
            </a:pPr>
            <a:r>
              <a:t>優先機能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52B36"/>
                </a:solidFill>
                <a:latin typeface="Yu Gothic"/>
              </a:defRPr>
            </a:pPr>
            <a:r>
              <a:t>権限・帳票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52B36"/>
                </a:solidFill>
                <a:latin typeface="Yu Gothic"/>
              </a:defRPr>
            </a:pPr>
            <a:r>
              <a:t>既存データ移行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2336" cy="6858000"/>
          </a:xfrm>
          <a:prstGeom prst="rect">
            <a:avLst/>
          </a:prstGeom>
          <a:solidFill>
            <a:srgbClr val="FF1818"/>
          </a:solidFill>
          <a:ln w="9525">
            <a:solidFill>
              <a:srgbClr val="FF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6309360"/>
            <a:ext cx="25603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310896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1818"/>
                </a:solidFill>
                <a:latin typeface="Yu Gothic"/>
              </a:defRPr>
            </a:pPr>
            <a:r>
              <a:t>Chapter1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640080"/>
            <a:ext cx="713232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4E4E4E"/>
                </a:solidFill>
                <a:latin typeface="Yu Gothic"/>
              </a:defRPr>
            </a:pPr>
            <a:r>
              <a:t>これまでにお伺いしたこと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81328"/>
            <a:ext cx="2487168" cy="25786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59" y="1636776"/>
            <a:ext cx="36576" cy="329184"/>
          </a:xfrm>
          <a:prstGeom prst="rect">
            <a:avLst/>
          </a:prstGeom>
          <a:solidFill>
            <a:srgbClr val="FF1818"/>
          </a:solidFill>
          <a:ln w="9525">
            <a:solidFill>
              <a:srgbClr val="FF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2075688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FF1818"/>
                </a:solidFill>
                <a:latin typeface="Yu Gothic"/>
              </a:defRPr>
            </a:pPr>
            <a:r>
              <a:t>基幹システム切り替え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84832"/>
            <a:ext cx="1984248" cy="186537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52B36"/>
                </a:solidFill>
                <a:latin typeface="Yu Gothic"/>
              </a:defRPr>
            </a:pPr>
            <a:r>
              <a:t>既存システムのサポート終了を見据え、今年中を目途に切り替え検討が必要。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38728" y="1481328"/>
            <a:ext cx="2487168" cy="25786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03320" y="1636776"/>
            <a:ext cx="36576" cy="329184"/>
          </a:xfrm>
          <a:prstGeom prst="rect">
            <a:avLst/>
          </a:prstGeom>
          <a:solidFill>
            <a:srgbClr val="FF1818"/>
          </a:solidFill>
          <a:ln w="9525">
            <a:solidFill>
              <a:srgbClr val="FF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1600200"/>
            <a:ext cx="2075688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FF1818"/>
                </a:solidFill>
                <a:latin typeface="Yu Gothic"/>
              </a:defRPr>
            </a:pPr>
            <a:r>
              <a:t>現場定着への配慮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084832"/>
            <a:ext cx="1984248" cy="186537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52B36"/>
                </a:solidFill>
                <a:latin typeface="Yu Gothic"/>
              </a:defRPr>
            </a:pPr>
            <a:r>
              <a:t>IT活用への慣れに差があるため、日常業務に自然に入る画面設計が重要。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19088" y="1481328"/>
            <a:ext cx="2487168" cy="25786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79" y="1636776"/>
            <a:ext cx="36576" cy="329184"/>
          </a:xfrm>
          <a:prstGeom prst="rect">
            <a:avLst/>
          </a:prstGeom>
          <a:solidFill>
            <a:srgbClr val="FF1818"/>
          </a:solidFill>
          <a:ln w="9525">
            <a:solidFill>
              <a:srgbClr val="FF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600200"/>
            <a:ext cx="2075688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FF1818"/>
                </a:solidFill>
                <a:latin typeface="Yu Gothic"/>
              </a:defRPr>
            </a:pPr>
            <a:r>
              <a:t>日常業務の負荷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084832"/>
            <a:ext cx="1984248" cy="186537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52B36"/>
                </a:solidFill>
                <a:latin typeface="Yu Gothic"/>
              </a:defRPr>
            </a:pPr>
            <a:r>
              <a:t>退去修繕対応、契約書作成、請求・インボイス対応などの工数が大きい。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99448" y="1481328"/>
            <a:ext cx="2487168" cy="25786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64040" y="1636776"/>
            <a:ext cx="36576" cy="329184"/>
          </a:xfrm>
          <a:prstGeom prst="rect">
            <a:avLst/>
          </a:prstGeom>
          <a:solidFill>
            <a:srgbClr val="FF1818"/>
          </a:solidFill>
          <a:ln w="9525">
            <a:solidFill>
              <a:srgbClr val="FF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55480" y="1600200"/>
            <a:ext cx="2075688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FF1818"/>
                </a:solidFill>
                <a:latin typeface="Yu Gothic"/>
              </a:defRPr>
            </a:pPr>
            <a:r>
              <a:t>データ活用の余地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2084832"/>
            <a:ext cx="1984248" cy="186537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52B36"/>
                </a:solidFill>
                <a:latin typeface="Yu Gothic"/>
              </a:defRPr>
            </a:pPr>
            <a:r>
              <a:t>顧客・物件・契約・対応履歴を横断して見られる状態を作り、判断の質を高める。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709160"/>
            <a:ext cx="10652760" cy="694944"/>
          </a:xfrm>
          <a:prstGeom prst="roundRect">
            <a:avLst/>
          </a:prstGeom>
          <a:solidFill>
            <a:srgbClr val="FFF1F1"/>
          </a:solidFill>
          <a:ln w="9525">
            <a:solidFill>
              <a:srgbClr val="FF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919472"/>
            <a:ext cx="101498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21212"/>
                </a:solidFill>
                <a:latin typeface="Yu Gothic"/>
              </a:defRPr>
            </a:pPr>
            <a:r>
              <a:t>本提案では、単なる画面開発ではなく「基幹業務の整理」と「今後AIを載せられる土台づくり」を同時に進めます。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1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2286000"/>
            <a:ext cx="2926080" cy="155448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800" b="1">
                <a:solidFill>
                  <a:srgbClr val="FF7878"/>
                </a:solidFill>
                <a:latin typeface="Yu Gothic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27632" y="3273552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Yu Gothic"/>
              </a:defRPr>
            </a:pPr>
            <a:r>
              <a:t>ご提案の要旨・デモンストレーション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2336" cy="6858000"/>
          </a:xfrm>
          <a:prstGeom prst="rect">
            <a:avLst/>
          </a:prstGeom>
          <a:solidFill>
            <a:srgbClr val="FF1818"/>
          </a:solidFill>
          <a:ln w="9525">
            <a:solidFill>
              <a:srgbClr val="FF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6309360"/>
            <a:ext cx="25603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310896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1818"/>
                </a:solidFill>
                <a:latin typeface="Yu Gothic"/>
              </a:defRPr>
            </a:pPr>
            <a:r>
              <a:t>Chapter2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640080"/>
            <a:ext cx="713232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4E4E4E"/>
                </a:solidFill>
                <a:latin typeface="Yu Gothic"/>
              </a:defRPr>
            </a:pPr>
            <a:r>
              <a:t>ご提案の要旨・デモンストレーション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61872"/>
            <a:ext cx="1092708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572768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1818"/>
                </a:solidFill>
                <a:latin typeface="Yu Gothic"/>
              </a:defRPr>
            </a:pPr>
            <a:r>
              <a:t>実現すること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44368" y="1399032"/>
            <a:ext cx="7223760" cy="530352"/>
          </a:xfrm>
          <a:prstGeom prst="roundRect">
            <a:avLst/>
          </a:prstGeom>
          <a:solidFill>
            <a:srgbClr val="FF1818"/>
          </a:solidFill>
          <a:ln w="9525">
            <a:solidFill>
              <a:srgbClr val="FF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54680" y="1517904"/>
            <a:ext cx="68122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50" b="1">
                <a:solidFill>
                  <a:srgbClr val="FFFFFF"/>
                </a:solidFill>
                <a:latin typeface="Yu Gothic"/>
              </a:defRPr>
            </a:pPr>
            <a:r>
              <a:t>基幹管理・期日管理・対応履歴を一体化し、業務全体の効率化を実現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468880"/>
            <a:ext cx="1051560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27889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50" b="1">
                <a:solidFill>
                  <a:srgbClr val="FF1818"/>
                </a:solidFill>
                <a:latin typeface="Yu Gothic"/>
              </a:defRPr>
            </a:pPr>
            <a:r>
              <a:t>基幹業務の再設計・標準化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" y="3090672"/>
            <a:ext cx="3383280" cy="18288"/>
          </a:xfrm>
          <a:prstGeom prst="rect">
            <a:avLst/>
          </a:prstGeom>
          <a:solidFill>
            <a:srgbClr val="FF1818"/>
          </a:solidFill>
          <a:ln w="9525">
            <a:solidFill>
              <a:srgbClr val="FF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3227832"/>
            <a:ext cx="43434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252B36"/>
                </a:solidFill>
                <a:latin typeface="Yu Gothic"/>
              </a:defRPr>
            </a:pPr>
            <a:r>
              <a:t>・業務フローを整理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252B36"/>
                </a:solidFill>
                <a:latin typeface="Yu Gothic"/>
              </a:defRPr>
            </a:pPr>
            <a:r>
              <a:t>・退去修繕・契約業務を標準化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7889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50" b="1">
                <a:solidFill>
                  <a:srgbClr val="FF1818"/>
                </a:solidFill>
                <a:latin typeface="Yu Gothic"/>
              </a:defRPr>
            </a:pPr>
            <a:r>
              <a:t>物件・反響対応の効率化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3090672"/>
            <a:ext cx="3383280" cy="18288"/>
          </a:xfrm>
          <a:prstGeom prst="rect">
            <a:avLst/>
          </a:prstGeom>
          <a:solidFill>
            <a:srgbClr val="FF1818"/>
          </a:solidFill>
          <a:ln w="9525">
            <a:solidFill>
              <a:srgbClr val="FF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227832"/>
            <a:ext cx="43434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252B36"/>
                </a:solidFill>
                <a:latin typeface="Yu Gothic"/>
              </a:defRPr>
            </a:pPr>
            <a:r>
              <a:t>・出稿・更新状況を管理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252B36"/>
                </a:solidFill>
                <a:latin typeface="Yu Gothic"/>
              </a:defRPr>
            </a:pPr>
            <a:r>
              <a:t>・反響から返信までを一元化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72160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50" b="1">
                <a:solidFill>
                  <a:srgbClr val="FF1818"/>
                </a:solidFill>
                <a:latin typeface="Yu Gothic"/>
              </a:defRPr>
            </a:pPr>
            <a:r>
              <a:t>契約・請求業務の自動化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34440" y="4023360"/>
            <a:ext cx="3383280" cy="18288"/>
          </a:xfrm>
          <a:prstGeom prst="rect">
            <a:avLst/>
          </a:prstGeom>
          <a:solidFill>
            <a:srgbClr val="FF1818"/>
          </a:solidFill>
          <a:ln w="9525">
            <a:solidFill>
              <a:srgbClr val="FF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4160520"/>
            <a:ext cx="43434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252B36"/>
                </a:solidFill>
                <a:latin typeface="Yu Gothic"/>
              </a:defRPr>
            </a:pPr>
            <a:r>
              <a:t>・契約書・請求書作成を省力化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252B36"/>
                </a:solidFill>
                <a:latin typeface="Yu Gothic"/>
              </a:defRPr>
            </a:pPr>
            <a:r>
              <a:t>・確認漏れや作業負荷を削減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72160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50" b="1">
                <a:solidFill>
                  <a:srgbClr val="FF1818"/>
                </a:solidFill>
                <a:latin typeface="Yu Gothic"/>
              </a:defRPr>
            </a:pPr>
            <a:r>
              <a:t>現場対応の即時化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4023360"/>
            <a:ext cx="3383280" cy="18288"/>
          </a:xfrm>
          <a:prstGeom prst="rect">
            <a:avLst/>
          </a:prstGeom>
          <a:solidFill>
            <a:srgbClr val="FF1818"/>
          </a:solidFill>
          <a:ln w="9525">
            <a:solidFill>
              <a:srgbClr val="FF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160520"/>
            <a:ext cx="43434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252B36"/>
                </a:solidFill>
                <a:latin typeface="Yu Gothic"/>
              </a:defRPr>
            </a:pPr>
            <a:r>
              <a:t>・物件・顧客・履歴を参照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252B36"/>
                </a:solidFill>
                <a:latin typeface="Yu Gothic"/>
              </a:defRPr>
            </a:pPr>
            <a:r>
              <a:t>・外出先でも確認対応を完結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5102352"/>
            <a:ext cx="1051560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60520" y="5358384"/>
            <a:ext cx="6217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21212"/>
                </a:solidFill>
                <a:latin typeface="Yu Gothic"/>
              </a:defRPr>
            </a:pPr>
            <a:r>
              <a:t>改善版モックで、画面ごとの要件と機能を確認できる形にします。</a:t>
            </a:r>
          </a:p>
        </p:txBody>
      </p:sp>
      <p:sp>
        <p:nvSpPr>
          <p:cNvPr id="25" name="Right Triangle 24"/>
          <p:cNvSpPr/>
          <p:nvPr/>
        </p:nvSpPr>
        <p:spPr>
          <a:xfrm>
            <a:off x="3730752" y="5303520"/>
            <a:ext cx="292608" cy="292608"/>
          </a:xfrm>
          <a:prstGeom prst="rtTriangle">
            <a:avLst/>
          </a:prstGeom>
          <a:solidFill>
            <a:srgbClr val="FF1818"/>
          </a:solidFill>
          <a:ln w="9525">
            <a:solidFill>
              <a:srgbClr val="FF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2336" cy="6858000"/>
          </a:xfrm>
          <a:prstGeom prst="rect">
            <a:avLst/>
          </a:prstGeom>
          <a:solidFill>
            <a:srgbClr val="FF1818"/>
          </a:solidFill>
          <a:ln w="9525">
            <a:solidFill>
              <a:srgbClr val="FF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6309360"/>
            <a:ext cx="25603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310896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1818"/>
                </a:solidFill>
                <a:latin typeface="Yu Gothic"/>
              </a:defRPr>
            </a:pPr>
            <a:r>
              <a:t>Chapter2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640080"/>
            <a:ext cx="713232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4E4E4E"/>
                </a:solidFill>
                <a:latin typeface="Yu Gothic"/>
              </a:defRPr>
            </a:pPr>
            <a:r>
              <a:t>改善版モックで提示する全体像</a:t>
            </a:r>
          </a:p>
        </p:txBody>
      </p:sp>
      <p:pic>
        <p:nvPicPr>
          <p:cNvPr id="6" name="Picture 5" descr="mock_ui_dashboard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234440"/>
            <a:ext cx="8549640" cy="48920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491472" y="1325880"/>
            <a:ext cx="2267712" cy="4526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65792" y="162763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1818"/>
                </a:solidFill>
                <a:latin typeface="Yu Gothic"/>
              </a:defRPr>
            </a:pPr>
            <a:r>
              <a:t>画面で確認できること</a:t>
            </a:r>
          </a:p>
        </p:txBody>
      </p:sp>
      <p:sp>
        <p:nvSpPr>
          <p:cNvPr id="9" name="Oval 8"/>
          <p:cNvSpPr/>
          <p:nvPr/>
        </p:nvSpPr>
        <p:spPr>
          <a:xfrm>
            <a:off x="9765792" y="2212848"/>
            <a:ext cx="73152" cy="73152"/>
          </a:xfrm>
          <a:prstGeom prst="ellipse">
            <a:avLst/>
          </a:prstGeom>
          <a:solidFill>
            <a:srgbClr val="FF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12096" y="2176272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52B36"/>
                </a:solidFill>
                <a:latin typeface="Yu Gothic"/>
              </a:defRPr>
            </a:pPr>
            <a:r>
              <a:t>左サイドバーを維持</a:t>
            </a:r>
          </a:p>
        </p:txBody>
      </p:sp>
      <p:sp>
        <p:nvSpPr>
          <p:cNvPr id="11" name="Oval 10"/>
          <p:cNvSpPr/>
          <p:nvPr/>
        </p:nvSpPr>
        <p:spPr>
          <a:xfrm>
            <a:off x="9765792" y="2871216"/>
            <a:ext cx="73152" cy="73152"/>
          </a:xfrm>
          <a:prstGeom prst="ellipse">
            <a:avLst/>
          </a:prstGeom>
          <a:solidFill>
            <a:srgbClr val="FF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12096" y="2834640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52B36"/>
                </a:solidFill>
                <a:latin typeface="Yu Gothic"/>
              </a:defRPr>
            </a:pPr>
            <a:r>
              <a:t>期限・担当・状態を一覧化</a:t>
            </a:r>
          </a:p>
        </p:txBody>
      </p:sp>
      <p:sp>
        <p:nvSpPr>
          <p:cNvPr id="13" name="Oval 12"/>
          <p:cNvSpPr/>
          <p:nvPr/>
        </p:nvSpPr>
        <p:spPr>
          <a:xfrm>
            <a:off x="9765792" y="3529584"/>
            <a:ext cx="73152" cy="73152"/>
          </a:xfrm>
          <a:prstGeom prst="ellipse">
            <a:avLst/>
          </a:prstGeom>
          <a:solidFill>
            <a:srgbClr val="FF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12096" y="3493008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52B36"/>
                </a:solidFill>
                <a:latin typeface="Yu Gothic"/>
              </a:defRPr>
            </a:pPr>
            <a:r>
              <a:t>画面単位で要件を確認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2336" cy="6858000"/>
          </a:xfrm>
          <a:prstGeom prst="rect">
            <a:avLst/>
          </a:prstGeom>
          <a:solidFill>
            <a:srgbClr val="FF1818"/>
          </a:solidFill>
          <a:ln w="9525">
            <a:solidFill>
              <a:srgbClr val="FF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6309360"/>
            <a:ext cx="25603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310896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1818"/>
                </a:solidFill>
                <a:latin typeface="Yu Gothic"/>
              </a:defRPr>
            </a:pPr>
            <a:r>
              <a:t>Chapter2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640080"/>
            <a:ext cx="713232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4E4E4E"/>
                </a:solidFill>
                <a:latin typeface="Yu Gothic"/>
              </a:defRPr>
            </a:pPr>
            <a:r>
              <a:t>スクショ資料：基幹管理ダッシュボード</a:t>
            </a:r>
          </a:p>
        </p:txBody>
      </p:sp>
      <p:pic>
        <p:nvPicPr>
          <p:cNvPr id="6" name="Picture 5" descr="mock_ui_dashboard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234440"/>
            <a:ext cx="8549640" cy="48920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491472" y="1325880"/>
            <a:ext cx="2267712" cy="4526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65792" y="162763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1818"/>
                </a:solidFill>
                <a:latin typeface="Yu Gothic"/>
              </a:defRPr>
            </a:pPr>
            <a:r>
              <a:t>主な機能</a:t>
            </a:r>
          </a:p>
        </p:txBody>
      </p:sp>
      <p:sp>
        <p:nvSpPr>
          <p:cNvPr id="9" name="Oval 8"/>
          <p:cNvSpPr/>
          <p:nvPr/>
        </p:nvSpPr>
        <p:spPr>
          <a:xfrm>
            <a:off x="9765792" y="2212848"/>
            <a:ext cx="73152" cy="73152"/>
          </a:xfrm>
          <a:prstGeom prst="ellipse">
            <a:avLst/>
          </a:prstGeom>
          <a:solidFill>
            <a:srgbClr val="FF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12096" y="2176272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52B36"/>
                </a:solidFill>
                <a:latin typeface="Yu Gothic"/>
              </a:defRPr>
            </a:pPr>
            <a:r>
              <a:t>本日期限と遅延リスクを可視化</a:t>
            </a:r>
          </a:p>
        </p:txBody>
      </p:sp>
      <p:sp>
        <p:nvSpPr>
          <p:cNvPr id="11" name="Oval 10"/>
          <p:cNvSpPr/>
          <p:nvPr/>
        </p:nvSpPr>
        <p:spPr>
          <a:xfrm>
            <a:off x="9765792" y="2871216"/>
            <a:ext cx="73152" cy="73152"/>
          </a:xfrm>
          <a:prstGeom prst="ellipse">
            <a:avLst/>
          </a:prstGeom>
          <a:solidFill>
            <a:srgbClr val="FF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12096" y="2834640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52B36"/>
                </a:solidFill>
                <a:latin typeface="Yu Gothic"/>
              </a:defRPr>
            </a:pPr>
            <a:r>
              <a:t>担当者別・案件種別で確認</a:t>
            </a:r>
          </a:p>
        </p:txBody>
      </p:sp>
      <p:sp>
        <p:nvSpPr>
          <p:cNvPr id="13" name="Oval 12"/>
          <p:cNvSpPr/>
          <p:nvPr/>
        </p:nvSpPr>
        <p:spPr>
          <a:xfrm>
            <a:off x="9765792" y="3529584"/>
            <a:ext cx="73152" cy="73152"/>
          </a:xfrm>
          <a:prstGeom prst="ellipse">
            <a:avLst/>
          </a:prstGeom>
          <a:solidFill>
            <a:srgbClr val="FF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12096" y="3493008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52B36"/>
                </a:solidFill>
                <a:latin typeface="Yu Gothic"/>
              </a:defRPr>
            </a:pPr>
            <a:r>
              <a:t>対応履歴と関連書類を連携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2336" cy="6858000"/>
          </a:xfrm>
          <a:prstGeom prst="rect">
            <a:avLst/>
          </a:prstGeom>
          <a:solidFill>
            <a:srgbClr val="FF1818"/>
          </a:solidFill>
          <a:ln w="9525">
            <a:solidFill>
              <a:srgbClr val="FF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6309360"/>
            <a:ext cx="25603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310896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1818"/>
                </a:solidFill>
                <a:latin typeface="Yu Gothic"/>
              </a:defRPr>
            </a:pPr>
            <a:r>
              <a:t>Chapter2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640080"/>
            <a:ext cx="713232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4E4E4E"/>
                </a:solidFill>
                <a:latin typeface="Yu Gothic"/>
              </a:defRPr>
            </a:pPr>
            <a:r>
              <a:t>スクショ資料：物件・契約ごとの進捗管理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234440"/>
            <a:ext cx="8549640" cy="4892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234440"/>
            <a:ext cx="1078992" cy="4892040"/>
          </a:xfrm>
          <a:prstGeom prst="rect">
            <a:avLst/>
          </a:prstGeom>
          <a:solidFill>
            <a:srgbClr val="17191F"/>
          </a:solidFill>
          <a:ln w="9525">
            <a:solidFill>
              <a:srgbClr val="1719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99032"/>
            <a:ext cx="201168" cy="201168"/>
          </a:xfrm>
          <a:prstGeom prst="ellipse">
            <a:avLst/>
          </a:prstGeom>
          <a:solidFill>
            <a:srgbClr val="FF1818"/>
          </a:solidFill>
          <a:ln w="9525">
            <a:solidFill>
              <a:srgbClr val="FF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1380744"/>
            <a:ext cx="493776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Yu Gothic"/>
              </a:defRPr>
            </a:pPr>
            <a:r>
              <a:t>Field X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92224" y="1234440"/>
            <a:ext cx="7470648" cy="402336"/>
          </a:xfrm>
          <a:prstGeom prst="rect">
            <a:avLst/>
          </a:prstGeom>
          <a:solidFill>
            <a:srgbClr val="FBFBFB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75104" y="1362456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21212"/>
                </a:solidFill>
                <a:latin typeface="Yu Gothic"/>
              </a:defRPr>
            </a:pPr>
            <a:r>
              <a:t>物件・契約ごとの進捗管理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" y="1892808"/>
            <a:ext cx="786384" cy="274320"/>
          </a:xfrm>
          <a:prstGeom prst="roundRect">
            <a:avLst/>
          </a:prstGeom>
          <a:solidFill>
            <a:srgbClr val="2F323B"/>
          </a:solidFill>
          <a:ln w="9525">
            <a:solidFill>
              <a:srgbClr val="2F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" y="1965960"/>
            <a:ext cx="64008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20" b="1">
                <a:solidFill>
                  <a:srgbClr val="FFFFFF"/>
                </a:solidFill>
                <a:latin typeface="Yu Gothic"/>
              </a:defRPr>
            </a:pPr>
            <a:r>
              <a:t>総合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" y="2331720"/>
            <a:ext cx="786384" cy="274320"/>
          </a:xfrm>
          <a:prstGeom prst="roundRect">
            <a:avLst/>
          </a:prstGeom>
          <a:solidFill>
            <a:srgbClr val="FF1818"/>
          </a:solidFill>
          <a:ln w="9525">
            <a:solidFill>
              <a:srgbClr val="FF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2404872"/>
            <a:ext cx="64008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20" b="1">
                <a:solidFill>
                  <a:srgbClr val="FFFFFF"/>
                </a:solidFill>
                <a:latin typeface="Yu Gothic"/>
              </a:defRPr>
            </a:pPr>
            <a:r>
              <a:t>物件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6" y="2770632"/>
            <a:ext cx="786384" cy="274320"/>
          </a:xfrm>
          <a:prstGeom prst="roundRect">
            <a:avLst/>
          </a:prstGeom>
          <a:solidFill>
            <a:srgbClr val="2F323B"/>
          </a:solidFill>
          <a:ln w="9525">
            <a:solidFill>
              <a:srgbClr val="2F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" y="2843784"/>
            <a:ext cx="64008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20" b="1">
                <a:solidFill>
                  <a:srgbClr val="FFFFFF"/>
                </a:solidFill>
                <a:latin typeface="Yu Gothic"/>
              </a:defRPr>
            </a:pPr>
            <a:r>
              <a:t>契約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9536" y="3209544"/>
            <a:ext cx="786384" cy="274320"/>
          </a:xfrm>
          <a:prstGeom prst="roundRect">
            <a:avLst/>
          </a:prstGeom>
          <a:solidFill>
            <a:srgbClr val="2F323B"/>
          </a:solidFill>
          <a:ln w="9525">
            <a:solidFill>
              <a:srgbClr val="2F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" y="3282696"/>
            <a:ext cx="64008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20" b="1">
                <a:solidFill>
                  <a:srgbClr val="FFFFFF"/>
                </a:solidFill>
                <a:latin typeface="Yu Gothic"/>
              </a:defRPr>
            </a:pPr>
            <a:r>
              <a:t>修繕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" y="3648456"/>
            <a:ext cx="786384" cy="274320"/>
          </a:xfrm>
          <a:prstGeom prst="roundRect">
            <a:avLst/>
          </a:prstGeom>
          <a:solidFill>
            <a:srgbClr val="2F323B"/>
          </a:solidFill>
          <a:ln w="9525">
            <a:solidFill>
              <a:srgbClr val="2F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" y="3721608"/>
            <a:ext cx="64008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20" b="1">
                <a:solidFill>
                  <a:srgbClr val="FFFFFF"/>
                </a:solidFill>
                <a:latin typeface="Yu Gothic"/>
              </a:defRPr>
            </a:pPr>
            <a:r>
              <a:t>書類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9536" y="4087368"/>
            <a:ext cx="786384" cy="274320"/>
          </a:xfrm>
          <a:prstGeom prst="roundRect">
            <a:avLst/>
          </a:prstGeom>
          <a:solidFill>
            <a:srgbClr val="2F323B"/>
          </a:solidFill>
          <a:ln w="9525">
            <a:solidFill>
              <a:srgbClr val="2F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" y="4160520"/>
            <a:ext cx="64008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20" b="1">
                <a:solidFill>
                  <a:srgbClr val="FFFFFF"/>
                </a:solidFill>
                <a:latin typeface="Yu Gothic"/>
              </a:defRPr>
            </a:pPr>
            <a:r>
              <a:t>検索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7824" y="5623559"/>
            <a:ext cx="694944" cy="9144"/>
          </a:xfrm>
          <a:prstGeom prst="rect">
            <a:avLst/>
          </a:prstGeom>
          <a:solidFill>
            <a:srgbClr val="51545B"/>
          </a:solidFill>
          <a:ln w="9525">
            <a:solidFill>
              <a:srgbClr val="515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5779007"/>
            <a:ext cx="45720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D4D4D4"/>
                </a:solidFill>
                <a:latin typeface="Yu Gothic"/>
              </a:defRPr>
            </a:pPr>
            <a:r>
              <a:t>設定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011680" y="1892808"/>
            <a:ext cx="2057400" cy="1325880"/>
          </a:xfrm>
          <a:prstGeom prst="roundRect">
            <a:avLst/>
          </a:prstGeom>
          <a:solidFill>
            <a:srgbClr val="F8F8F8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76272" y="2057400"/>
            <a:ext cx="91440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121212"/>
                </a:solidFill>
                <a:latin typeface="Yu Gothic"/>
              </a:defRPr>
            </a:pPr>
            <a:r>
              <a:t>物件情報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76272" y="2368296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70" b="0">
                <a:solidFill>
                  <a:srgbClr val="252B36"/>
                </a:solidFill>
                <a:latin typeface="Yu Gothic"/>
              </a:defRPr>
            </a:pPr>
            <a:r>
              <a:t>所在地　東京都〇〇区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670" b="0">
                <a:solidFill>
                  <a:srgbClr val="252B36"/>
                </a:solidFill>
                <a:latin typeface="Yu Gothic"/>
              </a:defRPr>
            </a:pPr>
            <a:r>
              <a:t>契約状況　更新確認中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670" b="0">
                <a:solidFill>
                  <a:srgbClr val="252B36"/>
                </a:solidFill>
                <a:latin typeface="Yu Gothic"/>
              </a:defRPr>
            </a:pPr>
            <a:r>
              <a:t>担当者　営業部 A様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670" b="0">
                <a:solidFill>
                  <a:srgbClr val="252B36"/>
                </a:solidFill>
                <a:latin typeface="Yu Gothic"/>
              </a:defRPr>
            </a:pPr>
            <a:r>
              <a:t>優先度　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00600" y="2029968"/>
            <a:ext cx="18288" cy="2926080"/>
          </a:xfrm>
          <a:prstGeom prst="rect">
            <a:avLst/>
          </a:prstGeom>
          <a:solidFill>
            <a:srgbClr val="D1D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81728" y="2167128"/>
            <a:ext cx="256032" cy="256032"/>
          </a:xfrm>
          <a:prstGeom prst="ellipse">
            <a:avLst/>
          </a:prstGeom>
          <a:solidFill>
            <a:srgbClr val="FF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74920" y="2130552"/>
            <a:ext cx="594360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80" b="1">
                <a:solidFill>
                  <a:srgbClr val="121212"/>
                </a:solidFill>
                <a:latin typeface="Yu Gothic"/>
              </a:defRPr>
            </a:pPr>
            <a:r>
              <a:t>受付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4920" y="2331720"/>
            <a:ext cx="109728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20" b="0">
                <a:solidFill>
                  <a:srgbClr val="646464"/>
                </a:solidFill>
                <a:latin typeface="Yu Gothic"/>
              </a:defRPr>
            </a:pPr>
            <a:r>
              <a:t>問い合わせ登録</a:t>
            </a:r>
          </a:p>
        </p:txBody>
      </p:sp>
      <p:sp>
        <p:nvSpPr>
          <p:cNvPr id="33" name="Oval 32"/>
          <p:cNvSpPr/>
          <p:nvPr/>
        </p:nvSpPr>
        <p:spPr>
          <a:xfrm>
            <a:off x="4681728" y="2880360"/>
            <a:ext cx="256032" cy="256032"/>
          </a:xfrm>
          <a:prstGeom prst="ellipse">
            <a:avLst/>
          </a:prstGeom>
          <a:solidFill>
            <a:srgbClr val="FF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2843784"/>
            <a:ext cx="594360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80" b="1">
                <a:solidFill>
                  <a:srgbClr val="121212"/>
                </a:solidFill>
                <a:latin typeface="Yu Gothic"/>
              </a:defRPr>
            </a:pPr>
            <a:r>
              <a:t>確認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74920" y="3044952"/>
            <a:ext cx="109728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20" b="0">
                <a:solidFill>
                  <a:srgbClr val="646464"/>
                </a:solidFill>
                <a:latin typeface="Yu Gothic"/>
              </a:defRPr>
            </a:pPr>
            <a:r>
              <a:t>担当者確認</a:t>
            </a:r>
          </a:p>
        </p:txBody>
      </p:sp>
      <p:sp>
        <p:nvSpPr>
          <p:cNvPr id="36" name="Oval 35"/>
          <p:cNvSpPr/>
          <p:nvPr/>
        </p:nvSpPr>
        <p:spPr>
          <a:xfrm>
            <a:off x="4681728" y="3593592"/>
            <a:ext cx="256032" cy="256032"/>
          </a:xfrm>
          <a:prstGeom prst="ellipse">
            <a:avLst/>
          </a:prstGeom>
          <a:solidFill>
            <a:srgbClr val="FF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74920" y="3557016"/>
            <a:ext cx="594360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80" b="1">
                <a:solidFill>
                  <a:srgbClr val="121212"/>
                </a:solidFill>
                <a:latin typeface="Yu Gothic"/>
              </a:defRPr>
            </a:pPr>
            <a:r>
              <a:t>承認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74920" y="3758184"/>
            <a:ext cx="109728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20" b="0">
                <a:solidFill>
                  <a:srgbClr val="646464"/>
                </a:solidFill>
                <a:latin typeface="Yu Gothic"/>
              </a:defRPr>
            </a:pPr>
            <a:r>
              <a:t>上長承認</a:t>
            </a:r>
          </a:p>
        </p:txBody>
      </p:sp>
      <p:sp>
        <p:nvSpPr>
          <p:cNvPr id="39" name="Oval 38"/>
          <p:cNvSpPr/>
          <p:nvPr/>
        </p:nvSpPr>
        <p:spPr>
          <a:xfrm>
            <a:off x="4681728" y="4306824"/>
            <a:ext cx="256032" cy="256032"/>
          </a:xfrm>
          <a:prstGeom prst="ellipse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4270248"/>
            <a:ext cx="594360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80" b="1">
                <a:solidFill>
                  <a:srgbClr val="121212"/>
                </a:solidFill>
                <a:latin typeface="Yu Gothic"/>
              </a:defRPr>
            </a:pPr>
            <a:r>
              <a:t>完了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74920" y="4471416"/>
            <a:ext cx="109728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20" b="0">
                <a:solidFill>
                  <a:srgbClr val="646464"/>
                </a:solidFill>
                <a:latin typeface="Yu Gothic"/>
              </a:defRPr>
            </a:pPr>
            <a:r>
              <a:t>履歴保存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12280" y="1892808"/>
            <a:ext cx="2148840" cy="3200400"/>
          </a:xfrm>
          <a:prstGeom prst="roundRect">
            <a:avLst/>
          </a:prstGeom>
          <a:solidFill>
            <a:srgbClr val="F8F8F8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95160" y="2057400"/>
            <a:ext cx="128016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9" b="1">
                <a:solidFill>
                  <a:srgbClr val="121212"/>
                </a:solidFill>
                <a:latin typeface="Yu Gothic"/>
              </a:defRPr>
            </a:pPr>
            <a:r>
              <a:t>関連書類 / メモ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95160" y="2423160"/>
            <a:ext cx="173736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14032" y="2505456"/>
            <a:ext cx="137160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80" b="0">
                <a:solidFill>
                  <a:srgbClr val="121212"/>
                </a:solidFill>
                <a:latin typeface="Yu Gothic"/>
              </a:defRPr>
            </a:pPr>
            <a:r>
              <a:t>契約書ドラフト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995160" y="2862072"/>
            <a:ext cx="173736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14032" y="2944368"/>
            <a:ext cx="137160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80" b="0">
                <a:solidFill>
                  <a:srgbClr val="121212"/>
                </a:solidFill>
                <a:latin typeface="Yu Gothic"/>
              </a:defRPr>
            </a:pPr>
            <a:r>
              <a:t>見積依頼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995160" y="3300984"/>
            <a:ext cx="173736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14032" y="3383280"/>
            <a:ext cx="137160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80" b="0">
                <a:solidFill>
                  <a:srgbClr val="121212"/>
                </a:solidFill>
                <a:latin typeface="Yu Gothic"/>
              </a:defRPr>
            </a:pPr>
            <a:r>
              <a:t>問い合わせ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995160" y="3739896"/>
            <a:ext cx="173736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14032" y="3822191"/>
            <a:ext cx="137160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80" b="0">
                <a:solidFill>
                  <a:srgbClr val="121212"/>
                </a:solidFill>
                <a:latin typeface="Yu Gothic"/>
              </a:defRPr>
            </a:pPr>
            <a:r>
              <a:t>報告メモ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995160" y="4178808"/>
            <a:ext cx="173736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14032" y="4261104"/>
            <a:ext cx="137160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80" b="0">
                <a:solidFill>
                  <a:srgbClr val="121212"/>
                </a:solidFill>
                <a:latin typeface="Yu Gothic"/>
              </a:defRPr>
            </a:pPr>
            <a:r>
              <a:t>過去対応履歴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491472" y="1325880"/>
            <a:ext cx="2267712" cy="4526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65792" y="162763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1818"/>
                </a:solidFill>
                <a:latin typeface="Yu Gothic"/>
              </a:defRPr>
            </a:pPr>
            <a:r>
              <a:t>主な機能</a:t>
            </a:r>
          </a:p>
        </p:txBody>
      </p:sp>
      <p:sp>
        <p:nvSpPr>
          <p:cNvPr id="56" name="Oval 55"/>
          <p:cNvSpPr/>
          <p:nvPr/>
        </p:nvSpPr>
        <p:spPr>
          <a:xfrm>
            <a:off x="9765792" y="2212848"/>
            <a:ext cx="73152" cy="73152"/>
          </a:xfrm>
          <a:prstGeom prst="ellipse">
            <a:avLst/>
          </a:prstGeom>
          <a:solidFill>
            <a:srgbClr val="FF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912096" y="2176272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52B36"/>
                </a:solidFill>
                <a:latin typeface="Yu Gothic"/>
              </a:defRPr>
            </a:pPr>
            <a:r>
              <a:t>物件・契約・履歴を一画面管理</a:t>
            </a:r>
          </a:p>
        </p:txBody>
      </p:sp>
      <p:sp>
        <p:nvSpPr>
          <p:cNvPr id="58" name="Oval 57"/>
          <p:cNvSpPr/>
          <p:nvPr/>
        </p:nvSpPr>
        <p:spPr>
          <a:xfrm>
            <a:off x="9765792" y="2871216"/>
            <a:ext cx="73152" cy="73152"/>
          </a:xfrm>
          <a:prstGeom prst="ellipse">
            <a:avLst/>
          </a:prstGeom>
          <a:solidFill>
            <a:srgbClr val="FF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912096" y="2834640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52B36"/>
                </a:solidFill>
                <a:latin typeface="Yu Gothic"/>
              </a:defRPr>
            </a:pPr>
            <a:r>
              <a:t>承認から完了まで可視化</a:t>
            </a:r>
          </a:p>
        </p:txBody>
      </p:sp>
      <p:sp>
        <p:nvSpPr>
          <p:cNvPr id="60" name="Oval 59"/>
          <p:cNvSpPr/>
          <p:nvPr/>
        </p:nvSpPr>
        <p:spPr>
          <a:xfrm>
            <a:off x="9765792" y="3529584"/>
            <a:ext cx="73152" cy="73152"/>
          </a:xfrm>
          <a:prstGeom prst="ellipse">
            <a:avLst/>
          </a:prstGeom>
          <a:solidFill>
            <a:srgbClr val="FF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912096" y="3493008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52B36"/>
                </a:solidFill>
                <a:latin typeface="Yu Gothic"/>
              </a:defRPr>
            </a:pPr>
            <a:r>
              <a:t>契約書自動作成へ接続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2336" cy="6858000"/>
          </a:xfrm>
          <a:prstGeom prst="rect">
            <a:avLst/>
          </a:prstGeom>
          <a:solidFill>
            <a:srgbClr val="FF1818"/>
          </a:solidFill>
          <a:ln w="9525">
            <a:solidFill>
              <a:srgbClr val="FF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6309360"/>
            <a:ext cx="25603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310896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1818"/>
                </a:solidFill>
                <a:latin typeface="Yu Gothic"/>
              </a:defRPr>
            </a:pPr>
            <a:r>
              <a:t>Chapter2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640080"/>
            <a:ext cx="713232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4E4E4E"/>
                </a:solidFill>
                <a:latin typeface="Yu Gothic"/>
              </a:defRPr>
            </a:pPr>
            <a:r>
              <a:t>スクショ資料：社内FAQ・横断検索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234440"/>
            <a:ext cx="8549640" cy="4892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234440"/>
            <a:ext cx="1078992" cy="4892040"/>
          </a:xfrm>
          <a:prstGeom prst="rect">
            <a:avLst/>
          </a:prstGeom>
          <a:solidFill>
            <a:srgbClr val="17191F"/>
          </a:solidFill>
          <a:ln w="9525">
            <a:solidFill>
              <a:srgbClr val="1719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99032"/>
            <a:ext cx="201168" cy="201168"/>
          </a:xfrm>
          <a:prstGeom prst="ellipse">
            <a:avLst/>
          </a:prstGeom>
          <a:solidFill>
            <a:srgbClr val="FF1818"/>
          </a:solidFill>
          <a:ln w="9525">
            <a:solidFill>
              <a:srgbClr val="FF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1380744"/>
            <a:ext cx="493776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Yu Gothic"/>
              </a:defRPr>
            </a:pPr>
            <a:r>
              <a:t>Field X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92224" y="1234440"/>
            <a:ext cx="7470648" cy="402336"/>
          </a:xfrm>
          <a:prstGeom prst="rect">
            <a:avLst/>
          </a:prstGeom>
          <a:solidFill>
            <a:srgbClr val="FBFBFB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75104" y="1362456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21212"/>
                </a:solidFill>
                <a:latin typeface="Yu Gothic"/>
              </a:defRPr>
            </a:pPr>
            <a:r>
              <a:t>社内FAQ・横断検索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" y="1892808"/>
            <a:ext cx="786384" cy="274320"/>
          </a:xfrm>
          <a:prstGeom prst="roundRect">
            <a:avLst/>
          </a:prstGeom>
          <a:solidFill>
            <a:srgbClr val="2F323B"/>
          </a:solidFill>
          <a:ln w="9525">
            <a:solidFill>
              <a:srgbClr val="2F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" y="1965960"/>
            <a:ext cx="64008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20" b="1">
                <a:solidFill>
                  <a:srgbClr val="FFFFFF"/>
                </a:solidFill>
                <a:latin typeface="Yu Gothic"/>
              </a:defRPr>
            </a:pPr>
            <a:r>
              <a:t>総合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" y="2331720"/>
            <a:ext cx="786384" cy="274320"/>
          </a:xfrm>
          <a:prstGeom prst="roundRect">
            <a:avLst/>
          </a:prstGeom>
          <a:solidFill>
            <a:srgbClr val="2F323B"/>
          </a:solidFill>
          <a:ln w="9525">
            <a:solidFill>
              <a:srgbClr val="2F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2404872"/>
            <a:ext cx="64008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20" b="1">
                <a:solidFill>
                  <a:srgbClr val="FFFFFF"/>
                </a:solidFill>
                <a:latin typeface="Yu Gothic"/>
              </a:defRPr>
            </a:pPr>
            <a:r>
              <a:t>物件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6" y="2770632"/>
            <a:ext cx="786384" cy="274320"/>
          </a:xfrm>
          <a:prstGeom prst="roundRect">
            <a:avLst/>
          </a:prstGeom>
          <a:solidFill>
            <a:srgbClr val="2F323B"/>
          </a:solidFill>
          <a:ln w="9525">
            <a:solidFill>
              <a:srgbClr val="2F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" y="2843784"/>
            <a:ext cx="64008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20" b="1">
                <a:solidFill>
                  <a:srgbClr val="FFFFFF"/>
                </a:solidFill>
                <a:latin typeface="Yu Gothic"/>
              </a:defRPr>
            </a:pPr>
            <a:r>
              <a:t>契約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9536" y="3209544"/>
            <a:ext cx="786384" cy="274320"/>
          </a:xfrm>
          <a:prstGeom prst="roundRect">
            <a:avLst/>
          </a:prstGeom>
          <a:solidFill>
            <a:srgbClr val="2F323B"/>
          </a:solidFill>
          <a:ln w="9525">
            <a:solidFill>
              <a:srgbClr val="2F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" y="3282696"/>
            <a:ext cx="64008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20" b="1">
                <a:solidFill>
                  <a:srgbClr val="FFFFFF"/>
                </a:solidFill>
                <a:latin typeface="Yu Gothic"/>
              </a:defRPr>
            </a:pPr>
            <a:r>
              <a:t>修繕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" y="3648456"/>
            <a:ext cx="786384" cy="274320"/>
          </a:xfrm>
          <a:prstGeom prst="roundRect">
            <a:avLst/>
          </a:prstGeom>
          <a:solidFill>
            <a:srgbClr val="2F323B"/>
          </a:solidFill>
          <a:ln w="9525">
            <a:solidFill>
              <a:srgbClr val="2F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" y="3721608"/>
            <a:ext cx="64008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20" b="1">
                <a:solidFill>
                  <a:srgbClr val="FFFFFF"/>
                </a:solidFill>
                <a:latin typeface="Yu Gothic"/>
              </a:defRPr>
            </a:pPr>
            <a:r>
              <a:t>書類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9536" y="4087368"/>
            <a:ext cx="786384" cy="274320"/>
          </a:xfrm>
          <a:prstGeom prst="roundRect">
            <a:avLst/>
          </a:prstGeom>
          <a:solidFill>
            <a:srgbClr val="FF1818"/>
          </a:solidFill>
          <a:ln w="9525">
            <a:solidFill>
              <a:srgbClr val="FF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" y="4160520"/>
            <a:ext cx="64008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20" b="1">
                <a:solidFill>
                  <a:srgbClr val="FFFFFF"/>
                </a:solidFill>
                <a:latin typeface="Yu Gothic"/>
              </a:defRPr>
            </a:pPr>
            <a:r>
              <a:t>検索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7824" y="5623559"/>
            <a:ext cx="694944" cy="9144"/>
          </a:xfrm>
          <a:prstGeom prst="rect">
            <a:avLst/>
          </a:prstGeom>
          <a:solidFill>
            <a:srgbClr val="51545B"/>
          </a:solidFill>
          <a:ln w="9525">
            <a:solidFill>
              <a:srgbClr val="515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5779007"/>
            <a:ext cx="45720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D4D4D4"/>
                </a:solidFill>
                <a:latin typeface="Yu Gothic"/>
              </a:defRPr>
            </a:pPr>
            <a:r>
              <a:t>設定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011680" y="1892808"/>
            <a:ext cx="7050024" cy="530352"/>
          </a:xfrm>
          <a:prstGeom prst="roundRect">
            <a:avLst/>
          </a:prstGeom>
          <a:solidFill>
            <a:srgbClr val="F8F8F8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94560" y="2075688"/>
            <a:ext cx="2377440" cy="11887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80" b="1">
                <a:solidFill>
                  <a:srgbClr val="121212"/>
                </a:solidFill>
                <a:latin typeface="Yu Gothic"/>
              </a:defRPr>
            </a:pPr>
            <a:r>
              <a:t>契約更新時の注意点を検索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11680" y="2715768"/>
            <a:ext cx="233172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176272" y="2862072"/>
            <a:ext cx="804672" cy="201168"/>
          </a:xfrm>
          <a:prstGeom prst="roundRect">
            <a:avLst/>
          </a:prstGeom>
          <a:solidFill>
            <a:srgbClr val="FFEAEA"/>
          </a:solidFill>
          <a:ln w="9525">
            <a:solidFill>
              <a:srgbClr val="FF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12848" y="2907792"/>
            <a:ext cx="713232" cy="8229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80" b="1">
                <a:solidFill>
                  <a:srgbClr val="FF1818"/>
                </a:solidFill>
                <a:latin typeface="Yu Gothic"/>
              </a:defRPr>
            </a:pPr>
            <a:r>
              <a:t>社内FAQ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12848" y="3191256"/>
            <a:ext cx="17830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60" b="0">
                <a:solidFill>
                  <a:srgbClr val="252B36"/>
                </a:solidFill>
                <a:latin typeface="Yu Gothic"/>
              </a:defRPr>
            </a:pPr>
            <a:r>
              <a:t>更新案内、請求、インボイス対応の社内手順を提示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0" y="2715768"/>
            <a:ext cx="233172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919472" y="2862072"/>
            <a:ext cx="804672" cy="201168"/>
          </a:xfrm>
          <a:prstGeom prst="roundRect">
            <a:avLst/>
          </a:prstGeom>
          <a:solidFill>
            <a:srgbClr val="FFEAEA"/>
          </a:solidFill>
          <a:ln w="9525">
            <a:solidFill>
              <a:srgbClr val="FF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56048" y="2907792"/>
            <a:ext cx="713232" cy="8229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80" b="1">
                <a:solidFill>
                  <a:srgbClr val="FF1818"/>
                </a:solidFill>
                <a:latin typeface="Yu Gothic"/>
              </a:defRPr>
            </a:pPr>
            <a:r>
              <a:t>契約書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56048" y="3191256"/>
            <a:ext cx="17830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60" b="0">
                <a:solidFill>
                  <a:srgbClr val="252B36"/>
                </a:solidFill>
                <a:latin typeface="Yu Gothic"/>
              </a:defRPr>
            </a:pPr>
            <a:r>
              <a:t>関連条文と過去ドラフトを候補表示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011680" y="3858768"/>
            <a:ext cx="233172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176272" y="4005072"/>
            <a:ext cx="804672" cy="201168"/>
          </a:xfrm>
          <a:prstGeom prst="roundRect">
            <a:avLst/>
          </a:prstGeom>
          <a:solidFill>
            <a:srgbClr val="FFEAEA"/>
          </a:solidFill>
          <a:ln w="9525">
            <a:solidFill>
              <a:srgbClr val="FF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12848" y="4050792"/>
            <a:ext cx="713232" cy="8229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80" b="1">
                <a:solidFill>
                  <a:srgbClr val="FF1818"/>
                </a:solidFill>
                <a:latin typeface="Yu Gothic"/>
              </a:defRPr>
            </a:pPr>
            <a:r>
              <a:t>対応履歴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12848" y="4334256"/>
            <a:ext cx="17830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60" b="0">
                <a:solidFill>
                  <a:srgbClr val="252B36"/>
                </a:solidFill>
                <a:latin typeface="Yu Gothic"/>
              </a:defRPr>
            </a:pPr>
            <a:r>
              <a:t>類似案件の対応履歴を要約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54880" y="3858768"/>
            <a:ext cx="233172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919472" y="4005072"/>
            <a:ext cx="804672" cy="201168"/>
          </a:xfrm>
          <a:prstGeom prst="roundRect">
            <a:avLst/>
          </a:prstGeom>
          <a:solidFill>
            <a:srgbClr val="FFEAEA"/>
          </a:solidFill>
          <a:ln w="9525">
            <a:solidFill>
              <a:srgbClr val="FF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56048" y="4050792"/>
            <a:ext cx="713232" cy="8229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80" b="1">
                <a:solidFill>
                  <a:srgbClr val="FF1818"/>
                </a:solidFill>
                <a:latin typeface="Yu Gothic"/>
              </a:defRPr>
            </a:pPr>
            <a:r>
              <a:t>オーナー報告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56048" y="4334256"/>
            <a:ext cx="17830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60" b="0">
                <a:solidFill>
                  <a:srgbClr val="252B36"/>
                </a:solidFill>
                <a:latin typeface="Yu Gothic"/>
              </a:defRPr>
            </a:pPr>
            <a:r>
              <a:t>訪問前に物件・収支・過去提案を整理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491472" y="1325880"/>
            <a:ext cx="2267712" cy="4526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65792" y="162763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1818"/>
                </a:solidFill>
                <a:latin typeface="Yu Gothic"/>
              </a:defRPr>
            </a:pPr>
            <a:r>
              <a:t>拡張時の価値</a:t>
            </a:r>
          </a:p>
        </p:txBody>
      </p:sp>
      <p:sp>
        <p:nvSpPr>
          <p:cNvPr id="46" name="Oval 45"/>
          <p:cNvSpPr/>
          <p:nvPr/>
        </p:nvSpPr>
        <p:spPr>
          <a:xfrm>
            <a:off x="9765792" y="2212848"/>
            <a:ext cx="73152" cy="73152"/>
          </a:xfrm>
          <a:prstGeom prst="ellipse">
            <a:avLst/>
          </a:prstGeom>
          <a:solidFill>
            <a:srgbClr val="FF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12096" y="2176272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52B36"/>
                </a:solidFill>
                <a:latin typeface="Yu Gothic"/>
              </a:defRPr>
            </a:pPr>
            <a:r>
              <a:t>契約書・規程・履歴を横断検索</a:t>
            </a:r>
          </a:p>
        </p:txBody>
      </p:sp>
      <p:sp>
        <p:nvSpPr>
          <p:cNvPr id="48" name="Oval 47"/>
          <p:cNvSpPr/>
          <p:nvPr/>
        </p:nvSpPr>
        <p:spPr>
          <a:xfrm>
            <a:off x="9765792" y="2871216"/>
            <a:ext cx="73152" cy="73152"/>
          </a:xfrm>
          <a:prstGeom prst="ellipse">
            <a:avLst/>
          </a:prstGeom>
          <a:solidFill>
            <a:srgbClr val="FF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912096" y="2834640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52B36"/>
                </a:solidFill>
                <a:latin typeface="Yu Gothic"/>
              </a:defRPr>
            </a:pPr>
            <a:r>
              <a:t>担当者ごとの差を小さくする</a:t>
            </a:r>
          </a:p>
        </p:txBody>
      </p:sp>
      <p:sp>
        <p:nvSpPr>
          <p:cNvPr id="50" name="Oval 49"/>
          <p:cNvSpPr/>
          <p:nvPr/>
        </p:nvSpPr>
        <p:spPr>
          <a:xfrm>
            <a:off x="9765792" y="3529584"/>
            <a:ext cx="73152" cy="73152"/>
          </a:xfrm>
          <a:prstGeom prst="ellipse">
            <a:avLst/>
          </a:prstGeom>
          <a:solidFill>
            <a:srgbClr val="FF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912096" y="3493008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52B36"/>
                </a:solidFill>
                <a:latin typeface="Yu Gothic"/>
              </a:defRPr>
            </a:pPr>
            <a:r>
              <a:t>問い合わせ・営業準備に展開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1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2286000"/>
            <a:ext cx="2926080" cy="155448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800" b="1">
                <a:solidFill>
                  <a:srgbClr val="FF7878"/>
                </a:solidFill>
                <a:latin typeface="Yu Gothic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27632" y="3273552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Yu Gothic"/>
              </a:defRPr>
            </a:pPr>
            <a:r>
              <a:t>今後の進め方のイメージ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2336" cy="6858000"/>
          </a:xfrm>
          <a:prstGeom prst="rect">
            <a:avLst/>
          </a:prstGeom>
          <a:solidFill>
            <a:srgbClr val="FF1818"/>
          </a:solidFill>
          <a:ln w="9525">
            <a:solidFill>
              <a:srgbClr val="FF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6309360"/>
            <a:ext cx="25603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310896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1818"/>
                </a:solidFill>
                <a:latin typeface="Yu Gothic"/>
              </a:defRPr>
            </a:pPr>
            <a:r>
              <a:t>Chapter3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640080"/>
            <a:ext cx="713232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4E4E4E"/>
                </a:solidFill>
                <a:latin typeface="Yu Gothic"/>
              </a:defRPr>
            </a:pPr>
            <a:r>
              <a:t>今後の進め方のイメージ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14300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1212"/>
                </a:solidFill>
                <a:latin typeface="Yu Gothic"/>
              </a:defRPr>
            </a:pPr>
            <a:r>
              <a:t>現場の混乱を避けながら進めるため、下記のような流れで段階的に進める想定です。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11018520" cy="43159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33856" y="2267712"/>
            <a:ext cx="841248" cy="841248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07008" y="2340864"/>
            <a:ext cx="694944" cy="694944"/>
          </a:xfrm>
          <a:prstGeom prst="ellipse">
            <a:avLst/>
          </a:prstGeom>
          <a:noFill/>
          <a:ln w="9525">
            <a:solidFill>
              <a:srgbClr val="FF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07592" y="2542032"/>
            <a:ext cx="493776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1818"/>
                </a:solidFill>
                <a:latin typeface="Yu Gothic"/>
              </a:defRPr>
            </a:pPr>
            <a:r>
              <a:t>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2670048"/>
            <a:ext cx="493776" cy="18288"/>
          </a:xfrm>
          <a:prstGeom prst="rect">
            <a:avLst/>
          </a:prstGeom>
          <a:solidFill>
            <a:srgbClr val="FF7878"/>
          </a:solidFill>
          <a:ln w="9525">
            <a:solidFill>
              <a:srgbClr val="FF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249424" y="2615184"/>
            <a:ext cx="109728" cy="109728"/>
          </a:xfrm>
          <a:prstGeom prst="ellipse">
            <a:avLst/>
          </a:prstGeom>
          <a:solidFill>
            <a:srgbClr val="FF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932688" y="3383280"/>
            <a:ext cx="1417320" cy="493776"/>
          </a:xfrm>
          <a:prstGeom prst="rightArrow">
            <a:avLst/>
          </a:prstGeom>
          <a:solidFill>
            <a:srgbClr val="FF1818"/>
          </a:solidFill>
          <a:ln w="9525">
            <a:solidFill>
              <a:srgbClr val="FF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3538728"/>
            <a:ext cx="118872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FFFFFF"/>
                </a:solidFill>
                <a:latin typeface="Yu Gothic"/>
              </a:defRPr>
            </a:pPr>
            <a:r>
              <a:t>ご契約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4187952"/>
            <a:ext cx="141732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21212"/>
                </a:solidFill>
                <a:latin typeface="Yu Gothic"/>
              </a:defRPr>
            </a:pPr>
            <a:r>
              <a:t>NDA・個別契約など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21212"/>
                </a:solidFill>
                <a:latin typeface="Yu Gothic"/>
              </a:defRPr>
            </a:pPr>
            <a:r>
              <a:t>必要な契約を締結</a:t>
            </a:r>
          </a:p>
        </p:txBody>
      </p:sp>
      <p:sp>
        <p:nvSpPr>
          <p:cNvPr id="16" name="Oval 15"/>
          <p:cNvSpPr/>
          <p:nvPr/>
        </p:nvSpPr>
        <p:spPr>
          <a:xfrm>
            <a:off x="2898648" y="2267712"/>
            <a:ext cx="841248" cy="841248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71800" y="2340864"/>
            <a:ext cx="694944" cy="694944"/>
          </a:xfrm>
          <a:prstGeom prst="ellipse">
            <a:avLst/>
          </a:prstGeom>
          <a:noFill/>
          <a:ln w="9525">
            <a:solidFill>
              <a:srgbClr val="FF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72384" y="2542032"/>
            <a:ext cx="493776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1818"/>
                </a:solidFill>
                <a:latin typeface="Yu Gothic"/>
              </a:defRPr>
            </a:pPr>
            <a:r>
              <a:t>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76472" y="2670048"/>
            <a:ext cx="493776" cy="18288"/>
          </a:xfrm>
          <a:prstGeom prst="rect">
            <a:avLst/>
          </a:prstGeom>
          <a:solidFill>
            <a:srgbClr val="FF7878"/>
          </a:solidFill>
          <a:ln w="9525">
            <a:solidFill>
              <a:srgbClr val="FF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014216" y="2615184"/>
            <a:ext cx="109728" cy="109728"/>
          </a:xfrm>
          <a:prstGeom prst="ellipse">
            <a:avLst/>
          </a:prstGeom>
          <a:solidFill>
            <a:srgbClr val="FF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2697480" y="3383280"/>
            <a:ext cx="1417320" cy="493776"/>
          </a:xfrm>
          <a:prstGeom prst="rightArrow">
            <a:avLst/>
          </a:prstGeom>
          <a:solidFill>
            <a:srgbClr val="FF1818"/>
          </a:solidFill>
          <a:ln w="9525">
            <a:solidFill>
              <a:srgbClr val="FF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0" y="3538728"/>
            <a:ext cx="118872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FFFFFF"/>
                </a:solidFill>
                <a:latin typeface="Yu Gothic"/>
              </a:defRPr>
            </a:pPr>
            <a:r>
              <a:t>進め方の確認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15768" y="4187952"/>
            <a:ext cx="141732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21212"/>
                </a:solidFill>
                <a:latin typeface="Yu Gothic"/>
              </a:defRPr>
            </a:pPr>
            <a:r>
              <a:t>役割分担を確認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21212"/>
                </a:solidFill>
                <a:latin typeface="Yu Gothic"/>
              </a:defRPr>
            </a:pPr>
            <a:r>
              <a:t>データ整理方針を決定</a:t>
            </a:r>
          </a:p>
        </p:txBody>
      </p:sp>
      <p:sp>
        <p:nvSpPr>
          <p:cNvPr id="24" name="Oval 23"/>
          <p:cNvSpPr/>
          <p:nvPr/>
        </p:nvSpPr>
        <p:spPr>
          <a:xfrm>
            <a:off x="4663440" y="2267712"/>
            <a:ext cx="841248" cy="841248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736592" y="2340864"/>
            <a:ext cx="694944" cy="694944"/>
          </a:xfrm>
          <a:prstGeom prst="ellipse">
            <a:avLst/>
          </a:prstGeom>
          <a:noFill/>
          <a:ln w="9525">
            <a:solidFill>
              <a:srgbClr val="FF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37176" y="2542032"/>
            <a:ext cx="493776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1818"/>
                </a:solidFill>
                <a:latin typeface="Yu Gothic"/>
              </a:defRPr>
            </a:pPr>
            <a:r>
              <a:t>03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41264" y="2670048"/>
            <a:ext cx="493776" cy="18288"/>
          </a:xfrm>
          <a:prstGeom prst="rect">
            <a:avLst/>
          </a:prstGeom>
          <a:solidFill>
            <a:srgbClr val="FF7878"/>
          </a:solidFill>
          <a:ln w="9525">
            <a:solidFill>
              <a:srgbClr val="FF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779008" y="2615184"/>
            <a:ext cx="109728" cy="109728"/>
          </a:xfrm>
          <a:prstGeom prst="ellipse">
            <a:avLst/>
          </a:prstGeom>
          <a:solidFill>
            <a:srgbClr val="FF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>
            <a:off x="4462272" y="3383280"/>
            <a:ext cx="1417320" cy="493776"/>
          </a:xfrm>
          <a:prstGeom prst="rightArrow">
            <a:avLst/>
          </a:prstGeom>
          <a:solidFill>
            <a:srgbClr val="FF1818"/>
          </a:solidFill>
          <a:ln w="9525">
            <a:solidFill>
              <a:srgbClr val="FF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07992" y="3538728"/>
            <a:ext cx="118872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FFFFFF"/>
                </a:solidFill>
                <a:latin typeface="Yu Gothic"/>
              </a:defRPr>
            </a:pPr>
            <a:r>
              <a:t>移行先の準備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59" y="4187952"/>
            <a:ext cx="141732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21212"/>
                </a:solidFill>
                <a:latin typeface="Yu Gothic"/>
              </a:defRPr>
            </a:pPr>
            <a:r>
              <a:t>移行先の箱を準備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21212"/>
                </a:solidFill>
                <a:latin typeface="Yu Gothic"/>
              </a:defRPr>
            </a:pPr>
            <a:r>
              <a:t>既存データを確認</a:t>
            </a:r>
          </a:p>
        </p:txBody>
      </p:sp>
      <p:sp>
        <p:nvSpPr>
          <p:cNvPr id="32" name="Oval 31"/>
          <p:cNvSpPr/>
          <p:nvPr/>
        </p:nvSpPr>
        <p:spPr>
          <a:xfrm>
            <a:off x="6428232" y="2267712"/>
            <a:ext cx="841248" cy="841248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01384" y="2340864"/>
            <a:ext cx="694944" cy="694944"/>
          </a:xfrm>
          <a:prstGeom prst="ellipse">
            <a:avLst/>
          </a:prstGeom>
          <a:noFill/>
          <a:ln w="9525">
            <a:solidFill>
              <a:srgbClr val="FF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1968" y="2542032"/>
            <a:ext cx="493776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1818"/>
                </a:solidFill>
                <a:latin typeface="Yu Gothic"/>
              </a:defRPr>
            </a:pPr>
            <a:r>
              <a:t>04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06056" y="2670048"/>
            <a:ext cx="493776" cy="18288"/>
          </a:xfrm>
          <a:prstGeom prst="rect">
            <a:avLst/>
          </a:prstGeom>
          <a:solidFill>
            <a:srgbClr val="FF7878"/>
          </a:solidFill>
          <a:ln w="9525">
            <a:solidFill>
              <a:srgbClr val="FF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543800" y="2615184"/>
            <a:ext cx="109728" cy="109728"/>
          </a:xfrm>
          <a:prstGeom prst="ellipse">
            <a:avLst/>
          </a:prstGeom>
          <a:solidFill>
            <a:srgbClr val="FF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ight Arrow 36"/>
          <p:cNvSpPr/>
          <p:nvPr/>
        </p:nvSpPr>
        <p:spPr>
          <a:xfrm>
            <a:off x="6227064" y="3383280"/>
            <a:ext cx="1417320" cy="493776"/>
          </a:xfrm>
          <a:prstGeom prst="rightArrow">
            <a:avLst/>
          </a:prstGeom>
          <a:solidFill>
            <a:srgbClr val="FF1818"/>
          </a:solidFill>
          <a:ln w="9525">
            <a:solidFill>
              <a:srgbClr val="FF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72784" y="3538728"/>
            <a:ext cx="118872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FFFFFF"/>
                </a:solidFill>
                <a:latin typeface="Yu Gothic"/>
              </a:defRPr>
            </a:pPr>
            <a:r>
              <a:t>開発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5352" y="4187952"/>
            <a:ext cx="141732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21212"/>
                </a:solidFill>
                <a:latin typeface="Yu Gothic"/>
              </a:defRPr>
            </a:pPr>
            <a:r>
              <a:t>主要画面から開発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21212"/>
                </a:solidFill>
                <a:latin typeface="Yu Gothic"/>
              </a:defRPr>
            </a:pPr>
            <a:r>
              <a:t>定例で使用感を確認</a:t>
            </a:r>
          </a:p>
        </p:txBody>
      </p:sp>
      <p:sp>
        <p:nvSpPr>
          <p:cNvPr id="40" name="Oval 39"/>
          <p:cNvSpPr/>
          <p:nvPr/>
        </p:nvSpPr>
        <p:spPr>
          <a:xfrm>
            <a:off x="8193024" y="2267712"/>
            <a:ext cx="841248" cy="841248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266176" y="2340864"/>
            <a:ext cx="694944" cy="694944"/>
          </a:xfrm>
          <a:prstGeom prst="ellipse">
            <a:avLst/>
          </a:prstGeom>
          <a:noFill/>
          <a:ln w="9525">
            <a:solidFill>
              <a:srgbClr val="FF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66760" y="2542032"/>
            <a:ext cx="493776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1818"/>
                </a:solidFill>
                <a:latin typeface="Yu Gothic"/>
              </a:defRPr>
            </a:pPr>
            <a:r>
              <a:t>05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70848" y="2670048"/>
            <a:ext cx="493776" cy="18288"/>
          </a:xfrm>
          <a:prstGeom prst="rect">
            <a:avLst/>
          </a:prstGeom>
          <a:solidFill>
            <a:srgbClr val="FF7878"/>
          </a:solidFill>
          <a:ln w="9525">
            <a:solidFill>
              <a:srgbClr val="FF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308592" y="2615184"/>
            <a:ext cx="109728" cy="109728"/>
          </a:xfrm>
          <a:prstGeom prst="ellipse">
            <a:avLst/>
          </a:prstGeom>
          <a:solidFill>
            <a:srgbClr val="FF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ight Arrow 44"/>
          <p:cNvSpPr/>
          <p:nvPr/>
        </p:nvSpPr>
        <p:spPr>
          <a:xfrm>
            <a:off x="7991856" y="3383280"/>
            <a:ext cx="1417320" cy="493776"/>
          </a:xfrm>
          <a:prstGeom prst="rightArrow">
            <a:avLst/>
          </a:prstGeom>
          <a:solidFill>
            <a:srgbClr val="FF1818"/>
          </a:solidFill>
          <a:ln w="9525">
            <a:solidFill>
              <a:srgbClr val="FF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37576" y="3538728"/>
            <a:ext cx="118872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FFFFFF"/>
                </a:solidFill>
                <a:latin typeface="Yu Gothic"/>
              </a:defRPr>
            </a:pPr>
            <a:r>
              <a:t>現場導入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10144" y="4187952"/>
            <a:ext cx="141732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21212"/>
                </a:solidFill>
                <a:latin typeface="Yu Gothic"/>
              </a:defRPr>
            </a:pPr>
            <a:r>
              <a:t>小規模テスト後に導入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21212"/>
                </a:solidFill>
                <a:latin typeface="Yu Gothic"/>
              </a:defRPr>
            </a:pPr>
            <a:r>
              <a:t>必要に応じて説明</a:t>
            </a:r>
          </a:p>
        </p:txBody>
      </p:sp>
      <p:sp>
        <p:nvSpPr>
          <p:cNvPr id="48" name="Oval 47"/>
          <p:cNvSpPr/>
          <p:nvPr/>
        </p:nvSpPr>
        <p:spPr>
          <a:xfrm>
            <a:off x="9957816" y="2267712"/>
            <a:ext cx="841248" cy="841248"/>
          </a:xfrm>
          <a:prstGeom prst="ellipse">
            <a:avLst/>
          </a:prstGeom>
          <a:solidFill>
            <a:srgbClr val="FFFFFF"/>
          </a:solidFill>
          <a:ln w="952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030968" y="2340864"/>
            <a:ext cx="694944" cy="694944"/>
          </a:xfrm>
          <a:prstGeom prst="ellipse">
            <a:avLst/>
          </a:prstGeom>
          <a:noFill/>
          <a:ln w="9525">
            <a:solidFill>
              <a:srgbClr val="FF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131552" y="2542032"/>
            <a:ext cx="493776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1818"/>
                </a:solidFill>
                <a:latin typeface="Yu Gothic"/>
              </a:defRPr>
            </a:pPr>
            <a:r>
              <a:t>06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9756648" y="3383280"/>
            <a:ext cx="1417320" cy="493776"/>
          </a:xfrm>
          <a:prstGeom prst="rightArrow">
            <a:avLst/>
          </a:prstGeom>
          <a:solidFill>
            <a:srgbClr val="FF1818"/>
          </a:solidFill>
          <a:ln w="9525">
            <a:solidFill>
              <a:srgbClr val="FF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802368" y="3538728"/>
            <a:ext cx="118872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FFFFFF"/>
                </a:solidFill>
                <a:latin typeface="Yu Gothic"/>
              </a:defRPr>
            </a:pPr>
            <a:r>
              <a:t>改善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74936" y="4187952"/>
            <a:ext cx="141732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21212"/>
                </a:solidFill>
                <a:latin typeface="Yu Gothic"/>
              </a:defRPr>
            </a:pPr>
            <a:r>
              <a:t>運用後の改善を反映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21212"/>
                </a:solidFill>
                <a:latin typeface="Yu Gothic"/>
              </a:defRPr>
            </a:pPr>
            <a:r>
              <a:t>機能追加を検討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2336" cy="6858000"/>
          </a:xfrm>
          <a:prstGeom prst="rect">
            <a:avLst/>
          </a:prstGeom>
          <a:solidFill>
            <a:srgbClr val="FF1818"/>
          </a:solidFill>
          <a:ln w="9525">
            <a:solidFill>
              <a:srgbClr val="FF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6309360"/>
            <a:ext cx="25603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310896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1818"/>
                </a:solidFill>
                <a:latin typeface="Yu Gothic"/>
              </a:defRPr>
            </a:pPr>
            <a:r>
              <a:t>Chapter3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640080"/>
            <a:ext cx="713232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4E4E4E"/>
                </a:solidFill>
                <a:latin typeface="Yu Gothic"/>
              </a:defRPr>
            </a:pPr>
            <a:r>
              <a:t>比較検討時の判断軸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417320"/>
            <a:ext cx="2057400" cy="384048"/>
          </a:xfrm>
          <a:prstGeom prst="roundRect">
            <a:avLst/>
          </a:prstGeom>
          <a:solidFill>
            <a:srgbClr val="FF1818"/>
          </a:solidFill>
          <a:ln w="9525">
            <a:solidFill>
              <a:srgbClr val="FF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527048"/>
            <a:ext cx="2057400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FFFFFF"/>
                </a:solidFill>
                <a:latin typeface="Yu Gothic"/>
              </a:defRPr>
            </a:pPr>
            <a:r>
              <a:t>判断軸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417320"/>
            <a:ext cx="3566160" cy="384048"/>
          </a:xfrm>
          <a:prstGeom prst="roundRect">
            <a:avLst/>
          </a:prstGeom>
          <a:solidFill>
            <a:srgbClr val="FF1818"/>
          </a:solidFill>
          <a:ln w="9525">
            <a:solidFill>
              <a:srgbClr val="FF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8920" y="1527048"/>
            <a:ext cx="3566160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FFFFFF"/>
                </a:solidFill>
                <a:latin typeface="Yu Gothic"/>
              </a:defRPr>
            </a:pPr>
            <a:r>
              <a:t>一般的なパッケージ導入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417320"/>
            <a:ext cx="4800600" cy="384048"/>
          </a:xfrm>
          <a:prstGeom prst="roundRect">
            <a:avLst/>
          </a:prstGeom>
          <a:solidFill>
            <a:srgbClr val="FF1818"/>
          </a:solidFill>
          <a:ln w="9525">
            <a:solidFill>
              <a:srgbClr val="FF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527048"/>
            <a:ext cx="4800600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FFFFFF"/>
                </a:solidFill>
                <a:latin typeface="Yu Gothic"/>
              </a:defRPr>
            </a:pPr>
            <a:r>
              <a:t>Field Xで開発する場合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057400"/>
            <a:ext cx="205740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88920" y="2057400"/>
            <a:ext cx="356616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0" y="2057400"/>
            <a:ext cx="4800600" cy="713232"/>
          </a:xfrm>
          <a:prstGeom prst="roundRect">
            <a:avLst/>
          </a:prstGeom>
          <a:solidFill>
            <a:srgbClr val="FFF1F1"/>
          </a:solidFill>
          <a:ln w="9525">
            <a:solidFill>
              <a:srgbClr val="FF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276856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21212"/>
                </a:solidFill>
                <a:latin typeface="Yu Gothic"/>
              </a:defRPr>
            </a:pPr>
            <a:r>
              <a:t>業務適合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221992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252B36"/>
                </a:solidFill>
                <a:latin typeface="Yu Gothic"/>
              </a:defRPr>
            </a:pPr>
            <a:r>
              <a:t>既存機能に業務を寄せる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252B36"/>
                </a:solidFill>
                <a:latin typeface="Yu Gothic"/>
              </a:defRPr>
            </a:pPr>
            <a:r>
              <a:t>必要がある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2221992"/>
            <a:ext cx="41605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252B36"/>
                </a:solidFill>
                <a:latin typeface="Yu Gothic"/>
              </a:defRPr>
            </a:pPr>
            <a:r>
              <a:t>貴社の業務フロー・承認・帳票に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252B36"/>
                </a:solidFill>
                <a:latin typeface="Yu Gothic"/>
              </a:defRPr>
            </a:pPr>
            <a:r>
              <a:t>合わせて設計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2898648"/>
            <a:ext cx="205740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788920" y="2898648"/>
            <a:ext cx="356616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0" y="2898648"/>
            <a:ext cx="4800600" cy="713232"/>
          </a:xfrm>
          <a:prstGeom prst="roundRect">
            <a:avLst/>
          </a:prstGeom>
          <a:solidFill>
            <a:srgbClr val="FFF1F1"/>
          </a:solidFill>
          <a:ln w="9525">
            <a:solidFill>
              <a:srgbClr val="FF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11810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21212"/>
                </a:solidFill>
                <a:latin typeface="Yu Gothic"/>
              </a:defRPr>
            </a:pPr>
            <a:r>
              <a:t>現場定着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3063240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252B36"/>
                </a:solidFill>
                <a:latin typeface="Yu Gothic"/>
              </a:defRPr>
            </a:pPr>
            <a:r>
              <a:t>画面や操作が合わず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252B36"/>
                </a:solidFill>
                <a:latin typeface="Yu Gothic"/>
              </a:defRPr>
            </a:pPr>
            <a:r>
              <a:t>利用が限定される可能性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3063240"/>
            <a:ext cx="41605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252B36"/>
                </a:solidFill>
                <a:latin typeface="Yu Gothic"/>
              </a:defRPr>
            </a:pPr>
            <a:r>
              <a:t>担当者様の使い方を前提に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252B36"/>
                </a:solidFill>
                <a:latin typeface="Yu Gothic"/>
              </a:defRPr>
            </a:pPr>
            <a:r>
              <a:t>モックから改善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3739896"/>
            <a:ext cx="205740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788920" y="3739896"/>
            <a:ext cx="356616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83680" y="3739896"/>
            <a:ext cx="4800600" cy="713232"/>
          </a:xfrm>
          <a:prstGeom prst="roundRect">
            <a:avLst/>
          </a:prstGeom>
          <a:solidFill>
            <a:srgbClr val="FFF1F1"/>
          </a:solidFill>
          <a:ln w="9525">
            <a:solidFill>
              <a:srgbClr val="FF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3959352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21212"/>
                </a:solidFill>
                <a:latin typeface="Yu Gothic"/>
              </a:defRPr>
            </a:pPr>
            <a:r>
              <a:t>AI拡張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3904487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252B36"/>
                </a:solidFill>
                <a:latin typeface="Yu Gothic"/>
              </a:defRPr>
            </a:pPr>
            <a:r>
              <a:t>個別AI連携は追加開発・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252B36"/>
                </a:solidFill>
                <a:latin typeface="Yu Gothic"/>
              </a:defRPr>
            </a:pPr>
            <a:r>
              <a:t>制約が出やすい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3904487"/>
            <a:ext cx="41605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252B36"/>
                </a:solidFill>
                <a:latin typeface="Yu Gothic"/>
              </a:defRPr>
            </a:pPr>
            <a:r>
              <a:t>基幹データを起点に、音声対応・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252B36"/>
                </a:solidFill>
                <a:latin typeface="Yu Gothic"/>
              </a:defRPr>
            </a:pPr>
            <a:r>
              <a:t>営業支援AIまで展開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8" y="4581144"/>
            <a:ext cx="205740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788920" y="4581144"/>
            <a:ext cx="356616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83680" y="4581144"/>
            <a:ext cx="4800600" cy="713232"/>
          </a:xfrm>
          <a:prstGeom prst="roundRect">
            <a:avLst/>
          </a:prstGeom>
          <a:solidFill>
            <a:srgbClr val="FFF1F1"/>
          </a:solidFill>
          <a:ln w="9525">
            <a:solidFill>
              <a:srgbClr val="FF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4800600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21212"/>
                </a:solidFill>
                <a:latin typeface="Yu Gothic"/>
              </a:defRPr>
            </a:pPr>
            <a:r>
              <a:t>資料化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4745736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252B36"/>
                </a:solidFill>
                <a:latin typeface="Yu Gothic"/>
              </a:defRPr>
            </a:pPr>
            <a:r>
              <a:t>導入効果や運用イメージを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252B36"/>
                </a:solidFill>
                <a:latin typeface="Yu Gothic"/>
              </a:defRPr>
            </a:pPr>
            <a:r>
              <a:t>別途整理する必要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4745736"/>
            <a:ext cx="41605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252B36"/>
                </a:solidFill>
                <a:latin typeface="Yu Gothic"/>
              </a:defRPr>
            </a:pPr>
            <a:r>
              <a:t>スクショ資料・要件資料・進め方を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252B36"/>
                </a:solidFill>
                <a:latin typeface="Yu Gothic"/>
              </a:defRPr>
            </a:pPr>
            <a:r>
              <a:t>一式で確認可能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2336" cy="6858000"/>
          </a:xfrm>
          <a:prstGeom prst="rect">
            <a:avLst/>
          </a:prstGeom>
          <a:solidFill>
            <a:srgbClr val="FF1818"/>
          </a:solidFill>
          <a:ln w="9525">
            <a:solidFill>
              <a:srgbClr val="FF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6309360"/>
            <a:ext cx="25603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310896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1818"/>
                </a:solidFill>
                <a:latin typeface="Yu Gothic"/>
              </a:defRPr>
            </a:pPr>
            <a:r>
              <a:t>Chapter3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640080"/>
            <a:ext cx="713232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4E4E4E"/>
                </a:solidFill>
                <a:latin typeface="Yu Gothic"/>
              </a:defRPr>
            </a:pPr>
            <a:r>
              <a:t>基幹管理システムを起点に、社内AIへ展開可能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4800600" cy="3886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1078992" cy="3886200"/>
          </a:xfrm>
          <a:prstGeom prst="rect">
            <a:avLst/>
          </a:prstGeom>
          <a:solidFill>
            <a:srgbClr val="17191F"/>
          </a:solidFill>
          <a:ln w="9525">
            <a:solidFill>
              <a:srgbClr val="1719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1832" y="1581912"/>
            <a:ext cx="201168" cy="201168"/>
          </a:xfrm>
          <a:prstGeom prst="ellipse">
            <a:avLst/>
          </a:prstGeom>
          <a:solidFill>
            <a:srgbClr val="FF1818"/>
          </a:solidFill>
          <a:ln w="9525">
            <a:solidFill>
              <a:srgbClr val="FF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97864" y="1563624"/>
            <a:ext cx="493776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Yu Gothic"/>
              </a:defRPr>
            </a:pPr>
            <a:r>
              <a:t>Field X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56231" y="1417320"/>
            <a:ext cx="3721608" cy="402336"/>
          </a:xfrm>
          <a:prstGeom prst="rect">
            <a:avLst/>
          </a:prstGeom>
          <a:solidFill>
            <a:srgbClr val="FBFBFB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39112" y="1545336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21212"/>
                </a:solidFill>
                <a:latin typeface="Yu Gothic"/>
              </a:defRPr>
            </a:pPr>
            <a:r>
              <a:t>基幹データ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" y="2075688"/>
            <a:ext cx="786384" cy="274320"/>
          </a:xfrm>
          <a:prstGeom prst="roundRect">
            <a:avLst/>
          </a:prstGeom>
          <a:solidFill>
            <a:srgbClr val="FF1818"/>
          </a:solidFill>
          <a:ln w="9525">
            <a:solidFill>
              <a:srgbClr val="FF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148840"/>
            <a:ext cx="64008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20" b="1">
                <a:solidFill>
                  <a:srgbClr val="FFFFFF"/>
                </a:solidFill>
                <a:latin typeface="Yu Gothic"/>
              </a:defRPr>
            </a:pPr>
            <a:r>
              <a:t>総合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" y="2514600"/>
            <a:ext cx="786384" cy="274320"/>
          </a:xfrm>
          <a:prstGeom prst="roundRect">
            <a:avLst/>
          </a:prstGeom>
          <a:solidFill>
            <a:srgbClr val="2F323B"/>
          </a:solidFill>
          <a:ln w="9525">
            <a:solidFill>
              <a:srgbClr val="2F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2587752"/>
            <a:ext cx="64008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20" b="1">
                <a:solidFill>
                  <a:srgbClr val="FFFFFF"/>
                </a:solidFill>
                <a:latin typeface="Yu Gothic"/>
              </a:defRPr>
            </a:pPr>
            <a:r>
              <a:t>物件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" y="2953512"/>
            <a:ext cx="786384" cy="274320"/>
          </a:xfrm>
          <a:prstGeom prst="roundRect">
            <a:avLst/>
          </a:prstGeom>
          <a:solidFill>
            <a:srgbClr val="2F323B"/>
          </a:solidFill>
          <a:ln w="9525">
            <a:solidFill>
              <a:srgbClr val="2F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3026664"/>
            <a:ext cx="64008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20" b="1">
                <a:solidFill>
                  <a:srgbClr val="FFFFFF"/>
                </a:solidFill>
                <a:latin typeface="Yu Gothic"/>
              </a:defRPr>
            </a:pPr>
            <a:r>
              <a:t>契約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" y="3392424"/>
            <a:ext cx="786384" cy="274320"/>
          </a:xfrm>
          <a:prstGeom prst="roundRect">
            <a:avLst/>
          </a:prstGeom>
          <a:solidFill>
            <a:srgbClr val="2F323B"/>
          </a:solidFill>
          <a:ln w="9525">
            <a:solidFill>
              <a:srgbClr val="2F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3465576"/>
            <a:ext cx="64008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20" b="1">
                <a:solidFill>
                  <a:srgbClr val="FFFFFF"/>
                </a:solidFill>
                <a:latin typeface="Yu Gothic"/>
              </a:defRPr>
            </a:pPr>
            <a:r>
              <a:t>修繕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" y="3831335"/>
            <a:ext cx="786384" cy="274320"/>
          </a:xfrm>
          <a:prstGeom prst="roundRect">
            <a:avLst/>
          </a:prstGeom>
          <a:solidFill>
            <a:srgbClr val="2F323B"/>
          </a:solidFill>
          <a:ln w="9525">
            <a:solidFill>
              <a:srgbClr val="2F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3904487"/>
            <a:ext cx="64008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20" b="1">
                <a:solidFill>
                  <a:srgbClr val="FFFFFF"/>
                </a:solidFill>
                <a:latin typeface="Yu Gothic"/>
              </a:defRPr>
            </a:pPr>
            <a:r>
              <a:t>書類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" y="4270248"/>
            <a:ext cx="786384" cy="274320"/>
          </a:xfrm>
          <a:prstGeom prst="roundRect">
            <a:avLst/>
          </a:prstGeom>
          <a:solidFill>
            <a:srgbClr val="2F323B"/>
          </a:solidFill>
          <a:ln w="9525">
            <a:solidFill>
              <a:srgbClr val="2F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4343400"/>
            <a:ext cx="64008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20" b="1">
                <a:solidFill>
                  <a:srgbClr val="FFFFFF"/>
                </a:solidFill>
                <a:latin typeface="Yu Gothic"/>
              </a:defRPr>
            </a:pPr>
            <a:r>
              <a:t>検索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1832" y="4800600"/>
            <a:ext cx="694944" cy="9144"/>
          </a:xfrm>
          <a:prstGeom prst="rect">
            <a:avLst/>
          </a:prstGeom>
          <a:solidFill>
            <a:srgbClr val="51545B"/>
          </a:solidFill>
          <a:ln w="9525">
            <a:solidFill>
              <a:srgbClr val="515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956048"/>
            <a:ext cx="45720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D4D4D4"/>
                </a:solidFill>
                <a:latin typeface="Yu Gothic"/>
              </a:defRPr>
            </a:pPr>
            <a:r>
              <a:t>設定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075687" y="2075688"/>
            <a:ext cx="601675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57983" y="2176272"/>
            <a:ext cx="437083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50" b="1">
                <a:solidFill>
                  <a:srgbClr val="646464"/>
                </a:solidFill>
                <a:latin typeface="Yu Gothic"/>
              </a:defRPr>
            </a:pPr>
            <a:r>
              <a:t>本日期限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76271" y="2350008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21212"/>
                </a:solidFill>
                <a:latin typeface="Yu Gothic"/>
              </a:defRPr>
            </a:pPr>
            <a:r>
              <a:t>12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50515" y="2075688"/>
            <a:ext cx="601675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32811" y="2176272"/>
            <a:ext cx="437083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50" b="1">
                <a:solidFill>
                  <a:srgbClr val="646464"/>
                </a:solidFill>
                <a:latin typeface="Yu Gothic"/>
              </a:defRPr>
            </a:pPr>
            <a:r>
              <a:t>要確認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51099" y="2350008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21212"/>
                </a:solidFill>
                <a:latin typeface="Yu Gothic"/>
              </a:defRPr>
            </a:pPr>
            <a:r>
              <a:t>7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25342" y="2075688"/>
            <a:ext cx="601675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07638" y="2176272"/>
            <a:ext cx="437083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50" b="1">
                <a:solidFill>
                  <a:srgbClr val="646464"/>
                </a:solidFill>
                <a:latin typeface="Yu Gothic"/>
              </a:defRPr>
            </a:pPr>
            <a:r>
              <a:t>遅延リスク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5926" y="2350008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1818"/>
                </a:solidFill>
                <a:latin typeface="Yu Gothic"/>
              </a:defRPr>
            </a:pPr>
            <a:r>
              <a:t>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00169" y="2075688"/>
            <a:ext cx="601675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82465" y="2176272"/>
            <a:ext cx="437083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50" b="1">
                <a:solidFill>
                  <a:srgbClr val="646464"/>
                </a:solidFill>
                <a:latin typeface="Yu Gothic"/>
              </a:defRPr>
            </a:pPr>
            <a:r>
              <a:t>完了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0753" y="2350008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21212"/>
                </a:solidFill>
                <a:latin typeface="Yu Gothic"/>
              </a:defRPr>
            </a:pPr>
            <a:r>
              <a:t>28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74996" y="2075688"/>
            <a:ext cx="601675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57292" y="2176272"/>
            <a:ext cx="437083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50" b="1">
                <a:solidFill>
                  <a:srgbClr val="646464"/>
                </a:solidFill>
                <a:latin typeface="Yu Gothic"/>
              </a:defRPr>
            </a:pPr>
            <a:r>
              <a:t>未割当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75580" y="2350008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21212"/>
                </a:solidFill>
                <a:latin typeface="Yu Gothic"/>
              </a:defRPr>
            </a:pPr>
            <a:r>
              <a:t>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075687" y="2825496"/>
            <a:ext cx="594360" cy="1965960"/>
          </a:xfrm>
          <a:prstGeom prst="roundRect">
            <a:avLst/>
          </a:prstGeom>
          <a:solidFill>
            <a:srgbClr val="F8F8F8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167127" y="2971800"/>
            <a:ext cx="365760" cy="11887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121212"/>
                </a:solidFill>
                <a:latin typeface="Yu Gothic"/>
              </a:defRPr>
            </a:pPr>
            <a:r>
              <a:t>退去精算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148839" y="3246120"/>
            <a:ext cx="448056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148839" y="3246120"/>
            <a:ext cx="27432" cy="365760"/>
          </a:xfrm>
          <a:prstGeom prst="rect">
            <a:avLst/>
          </a:prstGeom>
          <a:solidFill>
            <a:srgbClr val="FF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231135" y="3319272"/>
            <a:ext cx="27432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80" b="1">
                <a:solidFill>
                  <a:srgbClr val="121212"/>
                </a:solidFill>
                <a:latin typeface="Yu Gothic"/>
              </a:defRPr>
            </a:pPr>
            <a:r>
              <a:t>案件 1-1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31135" y="3456432"/>
            <a:ext cx="27432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" b="0">
                <a:solidFill>
                  <a:srgbClr val="646464"/>
                </a:solidFill>
                <a:latin typeface="Yu Gothic"/>
              </a:defRPr>
            </a:pPr>
            <a:r>
              <a:t>期限 / 担当 / 状態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148839" y="3749039"/>
            <a:ext cx="448056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148839" y="3749039"/>
            <a:ext cx="27432" cy="36576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231135" y="3822191"/>
            <a:ext cx="27432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80" b="1">
                <a:solidFill>
                  <a:srgbClr val="121212"/>
                </a:solidFill>
                <a:latin typeface="Yu Gothic"/>
              </a:defRPr>
            </a:pPr>
            <a:r>
              <a:t>案件 1-2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31135" y="3959352"/>
            <a:ext cx="27432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" b="0">
                <a:solidFill>
                  <a:srgbClr val="646464"/>
                </a:solidFill>
                <a:latin typeface="Yu Gothic"/>
              </a:defRPr>
            </a:pPr>
            <a:r>
              <a:t>期限 / 担当 / 状態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148839" y="4251960"/>
            <a:ext cx="448056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148839" y="4251960"/>
            <a:ext cx="27432" cy="36576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231135" y="4325112"/>
            <a:ext cx="27432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80" b="1">
                <a:solidFill>
                  <a:srgbClr val="121212"/>
                </a:solidFill>
                <a:latin typeface="Yu Gothic"/>
              </a:defRPr>
            </a:pPr>
            <a:r>
              <a:t>案件 1-3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31135" y="4462272"/>
            <a:ext cx="27432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" b="0">
                <a:solidFill>
                  <a:srgbClr val="646464"/>
                </a:solidFill>
                <a:latin typeface="Yu Gothic"/>
              </a:defRPr>
            </a:pPr>
            <a:r>
              <a:t>期限 / 担当 / 状態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752344" y="2825496"/>
            <a:ext cx="594360" cy="1965960"/>
          </a:xfrm>
          <a:prstGeom prst="roundRect">
            <a:avLst/>
          </a:prstGeom>
          <a:solidFill>
            <a:srgbClr val="F8F8F8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843784" y="2971800"/>
            <a:ext cx="365760" cy="11887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121212"/>
                </a:solidFill>
                <a:latin typeface="Yu Gothic"/>
              </a:defRPr>
            </a:pPr>
            <a:r>
              <a:t>修繕対応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825496" y="3246120"/>
            <a:ext cx="448056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825496" y="3246120"/>
            <a:ext cx="27432" cy="365760"/>
          </a:xfrm>
          <a:prstGeom prst="rect">
            <a:avLst/>
          </a:prstGeom>
          <a:solidFill>
            <a:srgbClr val="FF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907791" y="3319272"/>
            <a:ext cx="27432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80" b="1">
                <a:solidFill>
                  <a:srgbClr val="121212"/>
                </a:solidFill>
                <a:latin typeface="Yu Gothic"/>
              </a:defRPr>
            </a:pPr>
            <a:r>
              <a:t>案件 2-1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907791" y="3456432"/>
            <a:ext cx="27432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" b="0">
                <a:solidFill>
                  <a:srgbClr val="646464"/>
                </a:solidFill>
                <a:latin typeface="Yu Gothic"/>
              </a:defRPr>
            </a:pPr>
            <a:r>
              <a:t>期限 / 担当 / 状態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825496" y="3749039"/>
            <a:ext cx="448056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825496" y="3749039"/>
            <a:ext cx="27432" cy="36576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907791" y="3822191"/>
            <a:ext cx="27432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80" b="1">
                <a:solidFill>
                  <a:srgbClr val="121212"/>
                </a:solidFill>
                <a:latin typeface="Yu Gothic"/>
              </a:defRPr>
            </a:pPr>
            <a:r>
              <a:t>案件 2-2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07791" y="3959352"/>
            <a:ext cx="27432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" b="0">
                <a:solidFill>
                  <a:srgbClr val="646464"/>
                </a:solidFill>
                <a:latin typeface="Yu Gothic"/>
              </a:defRPr>
            </a:pPr>
            <a:r>
              <a:t>期限 / 担当 / 状態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825496" y="4251960"/>
            <a:ext cx="448056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825496" y="4251960"/>
            <a:ext cx="27432" cy="36576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907791" y="4325112"/>
            <a:ext cx="27432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80" b="1">
                <a:solidFill>
                  <a:srgbClr val="121212"/>
                </a:solidFill>
                <a:latin typeface="Yu Gothic"/>
              </a:defRPr>
            </a:pPr>
            <a:r>
              <a:t>案件 2-3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907791" y="4462272"/>
            <a:ext cx="27432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" b="0">
                <a:solidFill>
                  <a:srgbClr val="646464"/>
                </a:solidFill>
                <a:latin typeface="Yu Gothic"/>
              </a:defRPr>
            </a:pPr>
            <a:r>
              <a:t>期限 / 担当 / 状態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429000" y="2825496"/>
            <a:ext cx="594360" cy="1965960"/>
          </a:xfrm>
          <a:prstGeom prst="roundRect">
            <a:avLst/>
          </a:prstGeom>
          <a:solidFill>
            <a:srgbClr val="F8F8F8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520440" y="2971800"/>
            <a:ext cx="365760" cy="11887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121212"/>
                </a:solidFill>
                <a:latin typeface="Yu Gothic"/>
              </a:defRPr>
            </a:pPr>
            <a:r>
              <a:t>契約更新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502152" y="3246120"/>
            <a:ext cx="448056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502152" y="3246120"/>
            <a:ext cx="27432" cy="365760"/>
          </a:xfrm>
          <a:prstGeom prst="rect">
            <a:avLst/>
          </a:prstGeom>
          <a:solidFill>
            <a:srgbClr val="FF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584448" y="3319272"/>
            <a:ext cx="27432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80" b="1">
                <a:solidFill>
                  <a:srgbClr val="121212"/>
                </a:solidFill>
                <a:latin typeface="Yu Gothic"/>
              </a:defRPr>
            </a:pPr>
            <a:r>
              <a:t>案件 3-1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584448" y="3456432"/>
            <a:ext cx="27432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" b="0">
                <a:solidFill>
                  <a:srgbClr val="646464"/>
                </a:solidFill>
                <a:latin typeface="Yu Gothic"/>
              </a:defRPr>
            </a:pPr>
            <a:r>
              <a:t>期限 / 担当 / 状態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502152" y="3749039"/>
            <a:ext cx="448056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502152" y="3749039"/>
            <a:ext cx="27432" cy="36576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584448" y="3822191"/>
            <a:ext cx="27432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80" b="1">
                <a:solidFill>
                  <a:srgbClr val="121212"/>
                </a:solidFill>
                <a:latin typeface="Yu Gothic"/>
              </a:defRPr>
            </a:pPr>
            <a:r>
              <a:t>案件 3-2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584448" y="3959352"/>
            <a:ext cx="27432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" b="0">
                <a:solidFill>
                  <a:srgbClr val="646464"/>
                </a:solidFill>
                <a:latin typeface="Yu Gothic"/>
              </a:defRPr>
            </a:pPr>
            <a:r>
              <a:t>期限 / 担当 / 状態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502152" y="4251960"/>
            <a:ext cx="448056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502152" y="4251960"/>
            <a:ext cx="27432" cy="36576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584448" y="4325112"/>
            <a:ext cx="27432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80" b="1">
                <a:solidFill>
                  <a:srgbClr val="121212"/>
                </a:solidFill>
                <a:latin typeface="Yu Gothic"/>
              </a:defRPr>
            </a:pPr>
            <a:r>
              <a:t>案件 3-3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584448" y="4462272"/>
            <a:ext cx="27432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" b="0">
                <a:solidFill>
                  <a:srgbClr val="646464"/>
                </a:solidFill>
                <a:latin typeface="Yu Gothic"/>
              </a:defRPr>
            </a:pPr>
            <a:r>
              <a:t>期限 / 担当 / 状態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105656" y="2825496"/>
            <a:ext cx="594360" cy="1965960"/>
          </a:xfrm>
          <a:prstGeom prst="roundRect">
            <a:avLst/>
          </a:prstGeom>
          <a:solidFill>
            <a:srgbClr val="F8F8F8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197096" y="2971800"/>
            <a:ext cx="365760" cy="11887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121212"/>
                </a:solidFill>
                <a:latin typeface="Yu Gothic"/>
              </a:defRPr>
            </a:pPr>
            <a:r>
              <a:t>請求確認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178808" y="3246120"/>
            <a:ext cx="448056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178808" y="3246120"/>
            <a:ext cx="27432" cy="365760"/>
          </a:xfrm>
          <a:prstGeom prst="rect">
            <a:avLst/>
          </a:prstGeom>
          <a:solidFill>
            <a:srgbClr val="FF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261104" y="3319272"/>
            <a:ext cx="27432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80" b="1">
                <a:solidFill>
                  <a:srgbClr val="121212"/>
                </a:solidFill>
                <a:latin typeface="Yu Gothic"/>
              </a:defRPr>
            </a:pPr>
            <a:r>
              <a:t>案件 4-1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261104" y="3456432"/>
            <a:ext cx="27432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" b="0">
                <a:solidFill>
                  <a:srgbClr val="646464"/>
                </a:solidFill>
                <a:latin typeface="Yu Gothic"/>
              </a:defRPr>
            </a:pPr>
            <a:r>
              <a:t>期限 / 担当 / 状態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178808" y="3749039"/>
            <a:ext cx="448056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178808" y="3749039"/>
            <a:ext cx="27432" cy="36576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261104" y="3822191"/>
            <a:ext cx="27432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80" b="1">
                <a:solidFill>
                  <a:srgbClr val="121212"/>
                </a:solidFill>
                <a:latin typeface="Yu Gothic"/>
              </a:defRPr>
            </a:pPr>
            <a:r>
              <a:t>案件 4-2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261104" y="3959352"/>
            <a:ext cx="27432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" b="0">
                <a:solidFill>
                  <a:srgbClr val="646464"/>
                </a:solidFill>
                <a:latin typeface="Yu Gothic"/>
              </a:defRPr>
            </a:pPr>
            <a:r>
              <a:t>期限 / 担当 / 状態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178808" y="4251960"/>
            <a:ext cx="448056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178808" y="4251960"/>
            <a:ext cx="27432" cy="36576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261104" y="4325112"/>
            <a:ext cx="27432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80" b="1">
                <a:solidFill>
                  <a:srgbClr val="121212"/>
                </a:solidFill>
                <a:latin typeface="Yu Gothic"/>
              </a:defRPr>
            </a:pPr>
            <a:r>
              <a:t>案件 4-3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261104" y="4462272"/>
            <a:ext cx="27432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" b="0">
                <a:solidFill>
                  <a:srgbClr val="646464"/>
                </a:solidFill>
                <a:latin typeface="Yu Gothic"/>
              </a:defRPr>
            </a:pPr>
            <a:r>
              <a:t>期限 / 担当 / 状態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4782312" y="2825496"/>
            <a:ext cx="594360" cy="1965960"/>
          </a:xfrm>
          <a:prstGeom prst="roundRect">
            <a:avLst/>
          </a:prstGeom>
          <a:solidFill>
            <a:srgbClr val="F8F8F8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873752" y="2971800"/>
            <a:ext cx="365760" cy="11887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121212"/>
                </a:solidFill>
                <a:latin typeface="Yu Gothic"/>
              </a:defRPr>
            </a:pPr>
            <a:r>
              <a:t>入居対応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4855464" y="3246120"/>
            <a:ext cx="448056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4855464" y="3246120"/>
            <a:ext cx="27432" cy="365760"/>
          </a:xfrm>
          <a:prstGeom prst="rect">
            <a:avLst/>
          </a:prstGeom>
          <a:solidFill>
            <a:srgbClr val="FF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937760" y="3319272"/>
            <a:ext cx="27432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80" b="1">
                <a:solidFill>
                  <a:srgbClr val="121212"/>
                </a:solidFill>
                <a:latin typeface="Yu Gothic"/>
              </a:defRPr>
            </a:pPr>
            <a:r>
              <a:t>案件 5-1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937760" y="3456432"/>
            <a:ext cx="27432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" b="0">
                <a:solidFill>
                  <a:srgbClr val="646464"/>
                </a:solidFill>
                <a:latin typeface="Yu Gothic"/>
              </a:defRPr>
            </a:pPr>
            <a:r>
              <a:t>期限 / 担当 / 状態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4855464" y="3749039"/>
            <a:ext cx="448056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4855464" y="3749039"/>
            <a:ext cx="27432" cy="36576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937760" y="3822191"/>
            <a:ext cx="27432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80" b="1">
                <a:solidFill>
                  <a:srgbClr val="121212"/>
                </a:solidFill>
                <a:latin typeface="Yu Gothic"/>
              </a:defRPr>
            </a:pPr>
            <a:r>
              <a:t>案件 5-2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937760" y="3959352"/>
            <a:ext cx="27432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" b="0">
                <a:solidFill>
                  <a:srgbClr val="646464"/>
                </a:solidFill>
                <a:latin typeface="Yu Gothic"/>
              </a:defRPr>
            </a:pPr>
            <a:r>
              <a:t>期限 / 担当 / 状態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4855464" y="4251960"/>
            <a:ext cx="448056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4855464" y="4251960"/>
            <a:ext cx="27432" cy="36576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937760" y="4325112"/>
            <a:ext cx="27432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80" b="1">
                <a:solidFill>
                  <a:srgbClr val="121212"/>
                </a:solidFill>
                <a:latin typeface="Yu Gothic"/>
              </a:defRPr>
            </a:pPr>
            <a:r>
              <a:t>案件 5-3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937760" y="4462272"/>
            <a:ext cx="27432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" b="0">
                <a:solidFill>
                  <a:srgbClr val="646464"/>
                </a:solidFill>
                <a:latin typeface="Yu Gothic"/>
              </a:defRPr>
            </a:pPr>
            <a:r>
              <a:t>期限 / 担当 / 状態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2075687" y="4983480"/>
            <a:ext cx="1848551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203703" y="5120640"/>
            <a:ext cx="109728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21212"/>
                </a:solidFill>
                <a:latin typeface="Yu Gothic"/>
              </a:defRPr>
            </a:pPr>
            <a:r>
              <a:t>直近対応履歴</a:t>
            </a:r>
          </a:p>
        </p:txBody>
      </p:sp>
      <p:sp>
        <p:nvSpPr>
          <p:cNvPr id="113" name="Oval 112"/>
          <p:cNvSpPr/>
          <p:nvPr/>
        </p:nvSpPr>
        <p:spPr>
          <a:xfrm>
            <a:off x="2212847" y="5349240"/>
            <a:ext cx="64008" cy="64008"/>
          </a:xfrm>
          <a:prstGeom prst="ellipse">
            <a:avLst/>
          </a:prstGeom>
          <a:solidFill>
            <a:srgbClr val="FF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350007" y="5330952"/>
            <a:ext cx="914400" cy="7315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59" b="0">
                <a:solidFill>
                  <a:srgbClr val="646464"/>
                </a:solidFill>
                <a:latin typeface="Yu Gothic"/>
              </a:defRPr>
            </a:pPr>
            <a:r>
              <a:t>退去立会い</a:t>
            </a:r>
          </a:p>
        </p:txBody>
      </p:sp>
      <p:sp>
        <p:nvSpPr>
          <p:cNvPr id="115" name="Oval 114"/>
          <p:cNvSpPr/>
          <p:nvPr/>
        </p:nvSpPr>
        <p:spPr>
          <a:xfrm>
            <a:off x="2212847" y="5495544"/>
            <a:ext cx="64008" cy="64008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350007" y="5477256"/>
            <a:ext cx="914400" cy="7315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59" b="0">
                <a:solidFill>
                  <a:srgbClr val="646464"/>
                </a:solidFill>
                <a:latin typeface="Yu Gothic"/>
              </a:defRPr>
            </a:pPr>
            <a:r>
              <a:t>見積確認</a:t>
            </a:r>
          </a:p>
        </p:txBody>
      </p:sp>
      <p:sp>
        <p:nvSpPr>
          <p:cNvPr id="117" name="Oval 116"/>
          <p:cNvSpPr/>
          <p:nvPr/>
        </p:nvSpPr>
        <p:spPr>
          <a:xfrm>
            <a:off x="2212847" y="5641848"/>
            <a:ext cx="64008" cy="64008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350007" y="5623560"/>
            <a:ext cx="914400" cy="7315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59" b="0">
                <a:solidFill>
                  <a:srgbClr val="646464"/>
                </a:solidFill>
                <a:latin typeface="Yu Gothic"/>
              </a:defRPr>
            </a:pPr>
            <a:r>
              <a:t>契約更新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4056278" y="4983480"/>
            <a:ext cx="1320393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4221327" y="5157216"/>
            <a:ext cx="310896" cy="310896"/>
          </a:xfrm>
          <a:prstGeom prst="ellipse">
            <a:avLst/>
          </a:prstGeom>
          <a:solidFill>
            <a:srgbClr val="FF1818"/>
          </a:solidFill>
          <a:ln w="9525">
            <a:solidFill>
              <a:srgbClr val="FF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4353366" y="5212080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584435" y="5157216"/>
            <a:ext cx="109728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30" b="1">
                <a:solidFill>
                  <a:srgbClr val="121212"/>
                </a:solidFill>
                <a:latin typeface="Yu Gothic"/>
              </a:defRPr>
            </a:pPr>
            <a:r>
              <a:t>対応種別の内訳</a:t>
            </a:r>
          </a:p>
        </p:txBody>
      </p:sp>
      <p:sp>
        <p:nvSpPr>
          <p:cNvPr id="123" name="Oval 122"/>
          <p:cNvSpPr/>
          <p:nvPr/>
        </p:nvSpPr>
        <p:spPr>
          <a:xfrm>
            <a:off x="6355080" y="2880360"/>
            <a:ext cx="1417320" cy="777240"/>
          </a:xfrm>
          <a:prstGeom prst="ellipse">
            <a:avLst/>
          </a:prstGeom>
          <a:solidFill>
            <a:srgbClr val="FF1818"/>
          </a:solidFill>
          <a:ln w="9525">
            <a:solidFill>
              <a:srgbClr val="FF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519672" y="3054096"/>
            <a:ext cx="1078992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FFFFFF"/>
                </a:solidFill>
                <a:latin typeface="Yu Gothic"/>
              </a:defRPr>
            </a:pPr>
            <a:r>
              <a:t>基幹データ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FFFFFF"/>
                </a:solidFill>
                <a:latin typeface="Yu Gothic"/>
              </a:defRPr>
            </a:pPr>
            <a:r>
              <a:t>社内AI基盤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6126480" y="1508760"/>
            <a:ext cx="2176272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291072" y="1673351"/>
            <a:ext cx="146304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1818"/>
                </a:solidFill>
                <a:latin typeface="Yu Gothic"/>
              </a:defRPr>
            </a:pPr>
            <a:r>
              <a:t>AI音声対応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291072" y="1947672"/>
            <a:ext cx="164592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52B36"/>
                </a:solidFill>
                <a:latin typeface="Yu Gothic"/>
              </a:defRPr>
            </a:pPr>
            <a:r>
              <a:t>入居者様問い合わせ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8732520" y="1508760"/>
            <a:ext cx="2176272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8897112" y="1673351"/>
            <a:ext cx="146304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1818"/>
                </a:solidFill>
                <a:latin typeface="Yu Gothic"/>
              </a:defRPr>
            </a:pPr>
            <a:r>
              <a:t>営業支援AI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897112" y="1947672"/>
            <a:ext cx="164592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52B36"/>
                </a:solidFill>
                <a:latin typeface="Yu Gothic"/>
              </a:defRPr>
            </a:pPr>
            <a:r>
              <a:t>訪問前ブリーフィング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6126480" y="4663440"/>
            <a:ext cx="2176272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291072" y="4828031"/>
            <a:ext cx="146304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1818"/>
                </a:solidFill>
                <a:latin typeface="Yu Gothic"/>
              </a:defRPr>
            </a:pPr>
            <a:r>
              <a:t>契約書自動作成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291072" y="5102352"/>
            <a:ext cx="164592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52B36"/>
                </a:solidFill>
                <a:latin typeface="Yu Gothic"/>
              </a:defRPr>
            </a:pPr>
            <a:r>
              <a:t>文書作成を省力化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8732520" y="4663440"/>
            <a:ext cx="2176272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8897112" y="4828031"/>
            <a:ext cx="146304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1818"/>
                </a:solidFill>
                <a:latin typeface="Yu Gothic"/>
              </a:defRPr>
            </a:pPr>
            <a:r>
              <a:t>社内FAQ検索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897112" y="5102352"/>
            <a:ext cx="164592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52B36"/>
                </a:solidFill>
                <a:latin typeface="Yu Gothic"/>
              </a:defRPr>
            </a:pPr>
            <a:r>
              <a:t>横断検索・ナレッジ化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9710928" y="2788920"/>
            <a:ext cx="169164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948672" y="299923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1818"/>
                </a:solidFill>
                <a:latin typeface="Yu Gothic"/>
              </a:defRPr>
            </a:pPr>
            <a:r>
              <a:t>展開イメージ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930384" y="3383280"/>
            <a:ext cx="123444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252B36"/>
                </a:solidFill>
                <a:latin typeface="Yu Gothic"/>
              </a:defRPr>
            </a:pPr>
            <a:r>
              <a:t>・問い合わせ一次対応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252B36"/>
                </a:solidFill>
                <a:latin typeface="Yu Gothic"/>
              </a:defRPr>
            </a:pPr>
            <a:r>
              <a:t>・訪問前の情報整理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252B36"/>
                </a:solidFill>
                <a:latin typeface="Yu Gothic"/>
              </a:defRPr>
            </a:pPr>
            <a:r>
              <a:t>・社内情報をFAQ化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